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66" r:id="rId13"/>
  </p:sldIdLst>
  <p:sldSz cx="12192000" cy="6858000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82" d="100"/>
          <a:sy n="82" d="100"/>
        </p:scale>
        <p:origin x="4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64002" y="1438813"/>
            <a:ext cx="10027213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4002" y="3176700"/>
            <a:ext cx="10027213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65671D92-7CEF-47A0-BCBA-17945E08BD7F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31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65671D92-7CEF-47A0-BCBA-17945E08BD7F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319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607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64000" y="2020711"/>
            <a:ext cx="5130400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020711"/>
            <a:ext cx="4900309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51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9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26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699910"/>
            <a:ext cx="4011084" cy="73518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4" y="699911"/>
            <a:ext cx="6499578" cy="54262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580444"/>
            <a:ext cx="4011084" cy="4545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70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0" y="648000"/>
            <a:ext cx="11376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64000" y="745650"/>
            <a:ext cx="1023390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64000" y="2021181"/>
            <a:ext cx="10233909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de-DE" sz="700" b="0" i="0" smtClean="0">
                <a:latin typeface="Source Sans Pro"/>
                <a:cs typeface="Source Sans Pro"/>
              </a:defRPr>
            </a:lvl1pPr>
          </a:lstStyle>
          <a:p>
            <a:fld id="{65671D92-7CEF-47A0-BCBA-17945E08BD7F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  <p:pic>
        <p:nvPicPr>
          <p:cNvPr id="9" name="Bild 6" descr="HSHL_Logo_horizontal_RGB_Sequenz_Animation.gi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000" y="247172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3ADC95-57CC-4145-70B5-B2D797DCF539}"/>
              </a:ext>
            </a:extLst>
          </p:cNvPr>
          <p:cNvSpPr txBox="1"/>
          <p:nvPr/>
        </p:nvSpPr>
        <p:spPr>
          <a:xfrm>
            <a:off x="620485" y="771202"/>
            <a:ext cx="103632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 Server (incl. </a:t>
            </a:r>
            <a:r>
              <a:rPr lang="de-DE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de-DE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de-DE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de-DE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servers</a:t>
            </a:r>
            <a:r>
              <a:rPr lang="de-DE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05AE1-8AA5-2749-AB69-48DCC6569E94}"/>
              </a:ext>
            </a:extLst>
          </p:cNvPr>
          <p:cNvSpPr txBox="1"/>
          <p:nvPr/>
        </p:nvSpPr>
        <p:spPr>
          <a:xfrm>
            <a:off x="3102429" y="4890964"/>
            <a:ext cx="5715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</a:t>
            </a:r>
            <a:r>
              <a:rPr lang="de-DE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Azadul</a:t>
            </a:r>
            <a: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Islam</a:t>
            </a:r>
            <a:br>
              <a:rPr lang="de-D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0D9EB-57F4-B681-A923-34534E34A0D4}"/>
              </a:ext>
            </a:extLst>
          </p:cNvPr>
          <p:cNvSpPr txBox="1"/>
          <p:nvPr/>
        </p:nvSpPr>
        <p:spPr>
          <a:xfrm>
            <a:off x="3793669" y="3067785"/>
            <a:ext cx="4604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System</a:t>
            </a:r>
            <a:br>
              <a:rPr lang="de-D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Stefan Henkler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5825CC-79D3-EAFA-FBDE-F36897EDCBEA}"/>
              </a:ext>
            </a:extLst>
          </p:cNvPr>
          <p:cNvSpPr txBox="1"/>
          <p:nvPr/>
        </p:nvSpPr>
        <p:spPr>
          <a:xfrm>
            <a:off x="4743450" y="4268114"/>
            <a:ext cx="2432957" cy="659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Group: 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5C538-0B94-9C8A-F289-0B6C76C3B8B6}"/>
              </a:ext>
            </a:extLst>
          </p:cNvPr>
          <p:cNvSpPr txBox="1"/>
          <p:nvPr/>
        </p:nvSpPr>
        <p:spPr>
          <a:xfrm>
            <a:off x="914396" y="2322615"/>
            <a:ext cx="103632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Hochschule </a:t>
            </a:r>
            <a:r>
              <a:rPr lang="de-DE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hamm</a:t>
            </a:r>
            <a:r>
              <a:rPr lang="de-D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-lippstadt University </a:t>
            </a:r>
            <a:r>
              <a:rPr lang="de-DE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Science </a:t>
            </a:r>
          </a:p>
        </p:txBody>
      </p:sp>
    </p:spTree>
    <p:extLst>
      <p:ext uri="{BB962C8B-B14F-4D97-AF65-F5344CB8AC3E}">
        <p14:creationId xmlns:p14="http://schemas.microsoft.com/office/powerpoint/2010/main" val="3998010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E0CC06-E25E-1707-C09D-F1CB47D74A61}"/>
              </a:ext>
            </a:extLst>
          </p:cNvPr>
          <p:cNvSpPr txBox="1"/>
          <p:nvPr/>
        </p:nvSpPr>
        <p:spPr>
          <a:xfrm>
            <a:off x="435428" y="0"/>
            <a:ext cx="76729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Why Polling Server ?</a:t>
            </a:r>
            <a:endParaRPr lang="de-DE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0C563-9BC6-BA49-5EEA-C69C5873FE28}"/>
              </a:ext>
            </a:extLst>
          </p:cNvPr>
          <p:cNvSpPr txBox="1"/>
          <p:nvPr/>
        </p:nvSpPr>
        <p:spPr>
          <a:xfrm>
            <a:off x="206828" y="1404255"/>
            <a:ext cx="60306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pollinng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controlled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requiest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reserves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CPU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(Cs)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sudden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deadlines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9CB78-D7E1-B1A5-6699-352C14FC95AD}"/>
              </a:ext>
            </a:extLst>
          </p:cNvPr>
          <p:cNvSpPr txBox="1"/>
          <p:nvPr/>
        </p:nvSpPr>
        <p:spPr>
          <a:xfrm>
            <a:off x="6433457" y="1240970"/>
            <a:ext cx="4582885" cy="4212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FBBFA3-BA46-2FC1-7F31-C84265D58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854" y="1030876"/>
            <a:ext cx="5036089" cy="44228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DCC040-FC32-80A7-9F94-C5675264F2FE}"/>
              </a:ext>
            </a:extLst>
          </p:cNvPr>
          <p:cNvSpPr txBox="1"/>
          <p:nvPr/>
        </p:nvSpPr>
        <p:spPr>
          <a:xfrm>
            <a:off x="6237515" y="5433242"/>
            <a:ext cx="3912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Generated</a:t>
            </a:r>
            <a:r>
              <a:rPr lang="de-DE" sz="1200" dirty="0"/>
              <a:t> </a:t>
            </a:r>
            <a:r>
              <a:rPr lang="de-DE" sz="1200" dirty="0" err="1"/>
              <a:t>by</a:t>
            </a:r>
            <a:r>
              <a:rPr lang="de-DE" sz="1200" dirty="0"/>
              <a:t> </a:t>
            </a:r>
            <a:r>
              <a:rPr lang="de-DE" sz="1200" dirty="0" err="1"/>
              <a:t>Chatgpt</a:t>
            </a:r>
            <a:endParaRPr lang="de-DE" sz="1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4951407-4885-DB47-3B10-37C29C1360A6}"/>
              </a:ext>
            </a:extLst>
          </p:cNvPr>
          <p:cNvSpPr/>
          <p:nvPr/>
        </p:nvSpPr>
        <p:spPr>
          <a:xfrm>
            <a:off x="151075" y="874643"/>
            <a:ext cx="5829178" cy="524787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deadline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679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D0FBEB-DC72-1BEF-C46F-AC472C41C30E}"/>
              </a:ext>
            </a:extLst>
          </p:cNvPr>
          <p:cNvSpPr txBox="1"/>
          <p:nvPr/>
        </p:nvSpPr>
        <p:spPr>
          <a:xfrm>
            <a:off x="435429" y="0"/>
            <a:ext cx="8131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Fixed Priority Server</a:t>
            </a:r>
            <a:endParaRPr lang="de-DE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02D4F2-FF68-73AB-0920-D5256EB83F42}"/>
              </a:ext>
            </a:extLst>
          </p:cNvPr>
          <p:cNvSpPr/>
          <p:nvPr/>
        </p:nvSpPr>
        <p:spPr>
          <a:xfrm>
            <a:off x="535577" y="1084498"/>
            <a:ext cx="10633166" cy="92718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Fixed-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servers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non-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disturbing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de-DE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de-DE" sz="25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157748-6861-7F7D-A5CF-0E8973F31A69}"/>
              </a:ext>
            </a:extLst>
          </p:cNvPr>
          <p:cNvSpPr/>
          <p:nvPr/>
        </p:nvSpPr>
        <p:spPr>
          <a:xfrm>
            <a:off x="903516" y="3614629"/>
            <a:ext cx="4245428" cy="1253193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de-DE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Sporodic</a:t>
            </a:r>
            <a:r>
              <a:rPr lang="de-DE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Task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Arrive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irregularely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inter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arrival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time.  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BB27201-4BD9-0B90-5CEB-22434C75CE75}"/>
              </a:ext>
            </a:extLst>
          </p:cNvPr>
          <p:cNvSpPr/>
          <p:nvPr/>
        </p:nvSpPr>
        <p:spPr>
          <a:xfrm>
            <a:off x="168729" y="2269640"/>
            <a:ext cx="4245428" cy="125319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Soft </a:t>
            </a:r>
            <a:r>
              <a:rPr lang="de-DE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Task: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strick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deadline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but fast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preferred</a:t>
            </a:r>
            <a:endParaRPr lang="de-D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6333AC-3F57-2FD3-04E7-44D0F27578ED}"/>
              </a:ext>
            </a:extLst>
          </p:cNvPr>
          <p:cNvSpPr/>
          <p:nvPr/>
        </p:nvSpPr>
        <p:spPr>
          <a:xfrm>
            <a:off x="2291443" y="4959618"/>
            <a:ext cx="4245428" cy="1253193"/>
          </a:xfrm>
          <a:prstGeom prst="ellipse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de-DE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Firm </a:t>
            </a:r>
            <a:r>
              <a:rPr lang="de-DE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Task: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deadline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late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discarded</a:t>
            </a:r>
            <a:r>
              <a:rPr lang="de-D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AE6D0F87-43DA-B87C-A33F-BCC8335514A8}"/>
                  </a:ext>
                </a:extLst>
              </p:cNvPr>
              <p:cNvSpPr/>
              <p:nvPr/>
            </p:nvSpPr>
            <p:spPr>
              <a:xfrm>
                <a:off x="6966858" y="2393521"/>
                <a:ext cx="4049485" cy="373513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de-DE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Server Idea:  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serves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aperiodic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sporadic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requests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reserved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budget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de-DE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budget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capacity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de-DE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</a:t>
                </a:r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de-D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de-DE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AE6D0F87-43DA-B87C-A33F-BCC833551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858" y="2393521"/>
                <a:ext cx="4049485" cy="373513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86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EDC1AE-EFD5-2FD9-BCE9-08D982D77F6A}"/>
              </a:ext>
            </a:extLst>
          </p:cNvPr>
          <p:cNvSpPr txBox="1"/>
          <p:nvPr/>
        </p:nvSpPr>
        <p:spPr>
          <a:xfrm>
            <a:off x="258073" y="0"/>
            <a:ext cx="5988491" cy="617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Polling Server Concept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A108D0-0467-31A8-7639-3901F52D0911}"/>
                  </a:ext>
                </a:extLst>
              </p:cNvPr>
              <p:cNvSpPr txBox="1"/>
              <p:nvPr/>
            </p:nvSpPr>
            <p:spPr>
              <a:xfrm>
                <a:off x="6400668" y="847512"/>
                <a:ext cx="4708126" cy="44956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Idea:</a:t>
                </a:r>
                <a:b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Polling Server is treated like an extra periodic task in a fixed-priority system.</a:t>
                </a:r>
              </a:p>
              <a:p>
                <a:pPr marL="342900" indent="-342900">
                  <a:lnSpc>
                    <a:spcPct val="90000"/>
                  </a:lnSpc>
                  <a:spcBef>
                    <a:spcPct val="200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𝑃𝑆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de-DE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Figure </a:t>
                </a:r>
                <a:r>
                  <a:rPr lang="de-DE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explanation</a:t>
                </a:r>
                <a:r>
                  <a:rPr lang="de-DE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de-DE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Polling Server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becomes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active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serves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waiting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aperiodic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requests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budget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request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waiting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server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suspends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request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arriving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just after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server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suspends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must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wait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until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polling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Higher-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priority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periodic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tasks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preempt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server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90000"/>
                  </a:lnSpc>
                  <a:spcBef>
                    <a:spcPct val="20000"/>
                  </a:spcBef>
                  <a:buFont typeface="Arial"/>
                  <a:buChar char="•"/>
                </a:pP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 message:</a:t>
                </a:r>
                <a:b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Polling Server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improves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aperiodic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response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time, but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unused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budget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discarded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aperiodic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request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waiting</a:t>
                </a:r>
                <a:r>
                  <a:rPr lang="de-D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A108D0-0467-31A8-7639-3901F52D0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668" y="847512"/>
                <a:ext cx="4708126" cy="4495669"/>
              </a:xfrm>
              <a:prstGeom prst="rect">
                <a:avLst/>
              </a:prstGeom>
              <a:blipFill>
                <a:blip r:embed="rId2"/>
                <a:stretch>
                  <a:fillRect l="-777" t="-949" r="-1554" b="-2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45653B0-2EFD-5621-0BB3-43990E3DE695}"/>
              </a:ext>
            </a:extLst>
          </p:cNvPr>
          <p:cNvSpPr txBox="1"/>
          <p:nvPr/>
        </p:nvSpPr>
        <p:spPr>
          <a:xfrm>
            <a:off x="534360" y="5343181"/>
            <a:ext cx="6041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i="1" dirty="0"/>
              <a:t>Source: </a:t>
            </a:r>
            <a:r>
              <a:rPr lang="de-DE" sz="1600" i="1" dirty="0" err="1"/>
              <a:t>Buttazzo</a:t>
            </a:r>
            <a:r>
              <a:rPr lang="de-DE" sz="1600" i="1" dirty="0"/>
              <a:t>, Hard Real-Time Computing Systems</a:t>
            </a:r>
          </a:p>
          <a:p>
            <a:endParaRPr lang="de-DE" sz="1600" i="1" dirty="0"/>
          </a:p>
          <a:p>
            <a:endParaRPr lang="de-DE" sz="16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FC6A7-5BD5-9EF9-6311-A99EF6BE1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93" y="1418651"/>
            <a:ext cx="5414250" cy="39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6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7A89C1-5378-A44F-145E-17DEFF5C3115}"/>
              </a:ext>
            </a:extLst>
          </p:cNvPr>
          <p:cNvSpPr txBox="1"/>
          <p:nvPr/>
        </p:nvSpPr>
        <p:spPr>
          <a:xfrm>
            <a:off x="147904" y="-109084"/>
            <a:ext cx="10233909" cy="763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Schedulability</a:t>
            </a:r>
            <a:r>
              <a:rPr 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8DEBF-87BD-9039-9DFD-48975D6FE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r="13935" b="-2"/>
          <a:stretch>
            <a:fillRect/>
          </a:stretch>
        </p:blipFill>
        <p:spPr>
          <a:xfrm>
            <a:off x="225023" y="1164900"/>
            <a:ext cx="5130400" cy="410545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FCDB77-D626-85DC-F620-60E9B32170DF}"/>
                  </a:ext>
                </a:extLst>
              </p:cNvPr>
              <p:cNvSpPr txBox="1"/>
              <p:nvPr/>
            </p:nvSpPr>
            <p:spPr>
              <a:xfrm>
                <a:off x="5402951" y="826265"/>
                <a:ext cx="6219844" cy="53321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endParaRPr lang="de-DE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de-DE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de-DE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de-D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</a:t>
                </a:r>
                <a:r>
                  <a:rPr lang="de-DE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points</a:t>
                </a:r>
                <a:r>
                  <a:rPr lang="de-D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endParaRPr lang="de-DE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de-DE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CPU </a:t>
                </a:r>
                <a:r>
                  <a:rPr lang="de-DE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usage</a:t>
                </a:r>
                <a:r>
                  <a:rPr lang="de-D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Polling Server.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de-DE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means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server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gets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more</a:t>
                </a:r>
                <a:r>
                  <a:rPr lang="de-D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CPU time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aperiodic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tasks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more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server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usage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also </a:t>
                </a:r>
                <a:r>
                  <a:rPr lang="de-DE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affects</a:t>
                </a:r>
                <a:r>
                  <a:rPr lang="de-D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schedulability</a:t>
                </a:r>
                <a:r>
                  <a:rPr lang="de-D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periodic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tasks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curve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shows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 </a:t>
                </a:r>
                <a:r>
                  <a:rPr lang="de-DE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upper</a:t>
                </a:r>
                <a:r>
                  <a:rPr lang="de-D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schedulability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RM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traditional Rate Monotonic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utilization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</a:t>
                </a:r>
                <a:r>
                  <a:rPr lang="de-D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de-DE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FCDB77-D626-85DC-F620-60E9B3217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951" y="826265"/>
                <a:ext cx="6219844" cy="5332163"/>
              </a:xfrm>
              <a:prstGeom prst="rect">
                <a:avLst/>
              </a:prstGeom>
              <a:blipFill>
                <a:blip r:embed="rId3"/>
                <a:stretch>
                  <a:fillRect l="-8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9E37357-1CC4-0377-A7A9-38080A44FEE9}"/>
              </a:ext>
            </a:extLst>
          </p:cNvPr>
          <p:cNvSpPr txBox="1"/>
          <p:nvPr/>
        </p:nvSpPr>
        <p:spPr>
          <a:xfrm>
            <a:off x="225023" y="5261388"/>
            <a:ext cx="5177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1" dirty="0"/>
              <a:t>Source: </a:t>
            </a:r>
            <a:r>
              <a:rPr lang="de-DE" sz="1400" i="1" dirty="0" err="1"/>
              <a:t>Buttazzo</a:t>
            </a:r>
            <a:r>
              <a:rPr lang="de-DE" sz="1400" i="1" dirty="0"/>
              <a:t>, Hard Real-Time Computing Systems</a:t>
            </a:r>
          </a:p>
          <a:p>
            <a:endParaRPr lang="de-DE" sz="1400" i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12A873-4455-2CCD-5098-62327CF893F6}"/>
              </a:ext>
            </a:extLst>
          </p:cNvPr>
          <p:cNvSpPr/>
          <p:nvPr/>
        </p:nvSpPr>
        <p:spPr>
          <a:xfrm>
            <a:off x="5769762" y="878191"/>
            <a:ext cx="5507838" cy="75338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wether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still safe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Schedulability</a:t>
            </a:r>
            <a:r>
              <a:rPr lang="de-DE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 ​​</a:t>
            </a:r>
          </a:p>
        </p:txBody>
      </p:sp>
    </p:spTree>
    <p:extLst>
      <p:ext uri="{BB962C8B-B14F-4D97-AF65-F5344CB8AC3E}">
        <p14:creationId xmlns:p14="http://schemas.microsoft.com/office/powerpoint/2010/main" val="181336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14F1FC-C77A-A823-9A72-78FD9D0DF242}"/>
              </a:ext>
            </a:extLst>
          </p:cNvPr>
          <p:cNvSpPr txBox="1"/>
          <p:nvPr/>
        </p:nvSpPr>
        <p:spPr>
          <a:xfrm>
            <a:off x="435429" y="0"/>
            <a:ext cx="743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Dimentioning</a:t>
            </a:r>
            <a:r>
              <a:rPr lang="de-D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Polling Server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DB3115-A861-9042-FF72-F104BF42560E}"/>
              </a:ext>
            </a:extLst>
          </p:cNvPr>
          <p:cNvSpPr/>
          <p:nvPr/>
        </p:nvSpPr>
        <p:spPr>
          <a:xfrm>
            <a:off x="260733" y="936434"/>
            <a:ext cx="5688375" cy="4737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Dimentioning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choosing Cs and Ts carefully </a:t>
            </a:r>
            <a:endParaRPr lang="de-D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478E7-AA49-9CDD-D6BC-A4BD30E32BE8}"/>
              </a:ext>
            </a:extLst>
          </p:cNvPr>
          <p:cNvSpPr txBox="1"/>
          <p:nvPr/>
        </p:nvSpPr>
        <p:spPr>
          <a:xfrm>
            <a:off x="269912" y="1613305"/>
            <a:ext cx="6008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Main Idea: </a:t>
            </a:r>
          </a:p>
          <a:p>
            <a:r>
              <a:rPr lang="de-DE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de-DE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915C5D-C234-37DA-BA0D-795C91B53360}"/>
              </a:ext>
            </a:extLst>
          </p:cNvPr>
          <p:cNvSpPr/>
          <p:nvPr/>
        </p:nvSpPr>
        <p:spPr>
          <a:xfrm>
            <a:off x="716096" y="2776251"/>
            <a:ext cx="5867584" cy="490306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Smaller </a:t>
            </a:r>
            <a:r>
              <a:rPr lang="de-DE" sz="2400" b="1" dirty="0" err="1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r>
              <a:rPr lang="de-DE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 Server </a:t>
            </a:r>
            <a:r>
              <a:rPr lang="de-DE" sz="2400" b="1" dirty="0" err="1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activated</a:t>
            </a:r>
            <a:r>
              <a:rPr lang="de-DE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de-DE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endParaRPr lang="de-DE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A13780-A739-DF4A-7AAF-C0D66FF86C6E}"/>
              </a:ext>
            </a:extLst>
          </p:cNvPr>
          <p:cNvSpPr/>
          <p:nvPr/>
        </p:nvSpPr>
        <p:spPr>
          <a:xfrm>
            <a:off x="696161" y="3411243"/>
            <a:ext cx="6125379" cy="46901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lang="de-DE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de-D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lang="de-D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de-D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900CEE0-261A-FE96-2FEC-5510C675B6DC}"/>
              </a:ext>
            </a:extLst>
          </p:cNvPr>
          <p:cNvSpPr/>
          <p:nvPr/>
        </p:nvSpPr>
        <p:spPr>
          <a:xfrm>
            <a:off x="716096" y="2141259"/>
            <a:ext cx="7434942" cy="447729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Larger Cs- </a:t>
            </a:r>
            <a:r>
              <a:rPr lang="de-DE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de-D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de-D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</a:t>
            </a:r>
            <a:r>
              <a:rPr lang="de-DE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de-DE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15DA1D0-8D2D-944A-5252-CAA3FB97E1CA}"/>
              </a:ext>
            </a:extLst>
          </p:cNvPr>
          <p:cNvSpPr/>
          <p:nvPr/>
        </p:nvSpPr>
        <p:spPr>
          <a:xfrm>
            <a:off x="269912" y="4752614"/>
            <a:ext cx="11055427" cy="83794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de-DE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</a:t>
            </a:r>
            <a:r>
              <a:rPr lang="de-DE" sz="3600" b="1" dirty="0">
                <a:solidFill>
                  <a:schemeClr val="tx1"/>
                </a:solidFill>
              </a:rPr>
              <a:t>   Hence      </a:t>
            </a:r>
            <a:endParaRPr lang="de-DE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E54E70B-18C7-D1C9-864C-847B3BF667B3}"/>
              </a:ext>
            </a:extLst>
          </p:cNvPr>
          <p:cNvSpPr/>
          <p:nvPr/>
        </p:nvSpPr>
        <p:spPr>
          <a:xfrm>
            <a:off x="3011161" y="5060768"/>
            <a:ext cx="497726" cy="23568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09B659-0B74-BD27-F680-0DFCD1794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461" y="4784245"/>
            <a:ext cx="2099129" cy="7728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ADEE0C-B734-E488-AB77-A8E4B43AB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608" y="4742731"/>
            <a:ext cx="1954500" cy="814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4BE515-8900-1E7B-C013-7D031B021A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14" y="4773131"/>
            <a:ext cx="1992645" cy="8109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57CD29-5564-386B-F3DF-F7858597FBD8}"/>
              </a:ext>
            </a:extLst>
          </p:cNvPr>
          <p:cNvSpPr txBox="1"/>
          <p:nvPr/>
        </p:nvSpPr>
        <p:spPr>
          <a:xfrm>
            <a:off x="5512886" y="3993272"/>
            <a:ext cx="6621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schedulability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utilization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242397-480B-A8FF-510C-33C2B6CF7433}"/>
              </a:ext>
            </a:extLst>
          </p:cNvPr>
          <p:cNvSpPr/>
          <p:nvPr/>
        </p:nvSpPr>
        <p:spPr>
          <a:xfrm>
            <a:off x="7244284" y="3461341"/>
            <a:ext cx="1248354" cy="34787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 err="1"/>
              <a:t>Us</a:t>
            </a:r>
            <a:r>
              <a:rPr lang="de-DE" b="1" dirty="0"/>
              <a:t> = Cs/</a:t>
            </a:r>
            <a:r>
              <a:rPr lang="de-DE" b="1" dirty="0" err="1"/>
              <a:t>Ts</a:t>
            </a:r>
            <a:r>
              <a:rPr lang="de-DE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957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CD5DA1-D40B-0299-7F64-B4E6A8924F40}"/>
              </a:ext>
            </a:extLst>
          </p:cNvPr>
          <p:cNvSpPr txBox="1"/>
          <p:nvPr/>
        </p:nvSpPr>
        <p:spPr>
          <a:xfrm>
            <a:off x="435429" y="0"/>
            <a:ext cx="743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Uppaal</a:t>
            </a:r>
            <a:r>
              <a:rPr lang="de-D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de-DE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r>
              <a:rPr lang="de-D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EA3B21-83B2-EE43-BFE9-73190AF2B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17" y="706241"/>
            <a:ext cx="4244761" cy="16080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EB0140-D36D-16BC-4C57-34C2E588B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990" y="776644"/>
            <a:ext cx="3995452" cy="14577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2F62D0-5F1F-93DB-B82B-D1E9F8B00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3" y="2887501"/>
            <a:ext cx="5447201" cy="23543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42D69980-EDF6-04E3-C9F1-FDB6E7FDE5D4}"/>
                  </a:ext>
                </a:extLst>
              </p:cNvPr>
              <p:cNvSpPr/>
              <p:nvPr/>
            </p:nvSpPr>
            <p:spPr>
              <a:xfrm>
                <a:off x="5871990" y="2314299"/>
                <a:ext cx="4721948" cy="169817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de-D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de-D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 </a:t>
                </a:r>
                <a:r>
                  <a:rPr lang="de-DE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components</a:t>
                </a:r>
                <a:r>
                  <a:rPr lang="de-D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Job1: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arrives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de-DE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Job2: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arrives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de-DE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PollingServer</a:t>
                </a:r>
                <a:r>
                  <a:rPr lang="de-D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checks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queue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:r>
                  <a:rPr lang="de-D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polling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times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Budget:</a:t>
                </a:r>
                <a:r>
                  <a:rPr lang="de-D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de-D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42D69980-EDF6-04E3-C9F1-FDB6E7FDE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990" y="2314299"/>
                <a:ext cx="4721948" cy="1698179"/>
              </a:xfrm>
              <a:prstGeom prst="roundRect">
                <a:avLst/>
              </a:prstGeom>
              <a:blipFill>
                <a:blip r:embed="rId5"/>
                <a:stretch>
                  <a:fillRect b="-151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758406-D18C-00AA-30AB-E9ED6A313CCD}"/>
              </a:ext>
            </a:extLst>
          </p:cNvPr>
          <p:cNvSpPr/>
          <p:nvPr/>
        </p:nvSpPr>
        <p:spPr>
          <a:xfrm>
            <a:off x="5768550" y="4092370"/>
            <a:ext cx="4825388" cy="2120747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Job1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Job2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066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84A007-22CF-66ED-7C0B-F01AB021F925}"/>
              </a:ext>
            </a:extLst>
          </p:cNvPr>
          <p:cNvSpPr txBox="1"/>
          <p:nvPr/>
        </p:nvSpPr>
        <p:spPr>
          <a:xfrm>
            <a:off x="435429" y="0"/>
            <a:ext cx="743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Uppaal</a:t>
            </a:r>
            <a:r>
              <a:rPr lang="de-D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de-D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de-DE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541A8-B990-EA9C-C38E-06FFA75F39FC}"/>
              </a:ext>
            </a:extLst>
          </p:cNvPr>
          <p:cNvSpPr txBox="1"/>
          <p:nvPr/>
        </p:nvSpPr>
        <p:spPr>
          <a:xfrm>
            <a:off x="121920" y="1350226"/>
            <a:ext cx="47810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Verified Properties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A[] not </a:t>
            </a:r>
            <a:r>
              <a:rPr lang="de-DE" b="1" dirty="0" err="1"/>
              <a:t>deadlock</a:t>
            </a:r>
            <a:r>
              <a:rPr lang="de-DE" b="1" dirty="0"/>
              <a:t>-The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runs</a:t>
            </a:r>
            <a:r>
              <a:rPr lang="de-DE" dirty="0"/>
              <a:t> </a:t>
            </a:r>
            <a:r>
              <a:rPr lang="de-DE" dirty="0" err="1"/>
              <a:t>continuously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deadlock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E&lt;&gt; served1- </a:t>
            </a:r>
            <a:r>
              <a:rPr lang="de-DE" dirty="0"/>
              <a:t>Job1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served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E&lt;&gt; </a:t>
            </a:r>
            <a:r>
              <a:rPr lang="de-DE" b="1" dirty="0" err="1"/>
              <a:t>budget_destroyed</a:t>
            </a:r>
            <a:r>
              <a:rPr lang="de-DE" b="1" dirty="0"/>
              <a:t>- </a:t>
            </a:r>
            <a:r>
              <a:rPr lang="de-DE" dirty="0" err="1"/>
              <a:t>Unused</a:t>
            </a:r>
            <a:r>
              <a:rPr lang="de-DE" dirty="0"/>
              <a:t> </a:t>
            </a:r>
            <a:r>
              <a:rPr lang="de-DE" dirty="0" err="1"/>
              <a:t>server</a:t>
            </a:r>
            <a:r>
              <a:rPr lang="de-DE" dirty="0"/>
              <a:t> </a:t>
            </a:r>
            <a:r>
              <a:rPr lang="de-DE" dirty="0" err="1"/>
              <a:t>budget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lost.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E&lt;&gt; </a:t>
            </a:r>
            <a:r>
              <a:rPr lang="de-DE" b="1" dirty="0" err="1"/>
              <a:t>PollingServer.WaitThirdPoll</a:t>
            </a:r>
            <a:r>
              <a:rPr lang="de-DE" b="1" dirty="0"/>
              <a:t> &amp;&amp; job2_wait- </a:t>
            </a:r>
            <a:r>
              <a:rPr lang="de-DE" dirty="0"/>
              <a:t>Job2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wait</a:t>
            </a:r>
            <a:r>
              <a:rPr lang="de-DE" dirty="0"/>
              <a:t> </a:t>
            </a:r>
            <a:r>
              <a:rPr lang="de-DE" dirty="0" err="1"/>
              <a:t>until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polling</a:t>
            </a:r>
            <a:r>
              <a:rPr lang="de-DE" dirty="0"/>
              <a:t> </a:t>
            </a:r>
            <a:r>
              <a:rPr lang="de-DE" dirty="0" err="1"/>
              <a:t>cycle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E&lt;&gt; served2- </a:t>
            </a:r>
            <a:r>
              <a:rPr lang="de-DE" dirty="0"/>
              <a:t>Job2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served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.</a:t>
            </a: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7C93F2-FA79-EB7D-050C-A672A466B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257" y="914110"/>
            <a:ext cx="6458134" cy="348428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208D0A-4F16-2EB6-2AB7-D31D98A7597A}"/>
              </a:ext>
            </a:extLst>
          </p:cNvPr>
          <p:cNvSpPr/>
          <p:nvPr/>
        </p:nvSpPr>
        <p:spPr>
          <a:xfrm>
            <a:off x="1058975" y="5224818"/>
            <a:ext cx="9022672" cy="71987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b="1" dirty="0" err="1"/>
              <a:t>Result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All </a:t>
            </a:r>
            <a:r>
              <a:rPr lang="de-DE" dirty="0" err="1"/>
              <a:t>queries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satisfied</a:t>
            </a:r>
            <a:r>
              <a:rPr lang="de-DE" dirty="0"/>
              <a:t>. This </a:t>
            </a:r>
            <a:r>
              <a:rPr lang="de-DE" dirty="0" err="1"/>
              <a:t>confirms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correctly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Polling Server </a:t>
            </a:r>
            <a:r>
              <a:rPr lang="de-DE" dirty="0" err="1"/>
              <a:t>behavior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084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F88C-0D46-394C-3C08-E581C1E3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522823" cy="639013"/>
          </a:xfrm>
        </p:spPr>
        <p:txBody>
          <a:bodyPr>
            <a:normAutofit fontScale="90000"/>
          </a:bodyPr>
          <a:lstStyle/>
          <a:p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Polling Server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7C02-283C-40F0-D7C9-3050653F0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577" y="1169126"/>
            <a:ext cx="10685417" cy="4519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arrivals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Unused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lost.</a:t>
            </a:r>
          </a:p>
        </p:txBody>
      </p:sp>
    </p:spTree>
    <p:extLst>
      <p:ext uri="{BB962C8B-B14F-4D97-AF65-F5344CB8AC3E}">
        <p14:creationId xmlns:p14="http://schemas.microsoft.com/office/powerpoint/2010/main" val="2758778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5226-C3FC-9746-2839-234602C6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91" y="0"/>
            <a:ext cx="9756103" cy="665139"/>
          </a:xfrm>
        </p:spPr>
        <p:txBody>
          <a:bodyPr>
            <a:normAutofit fontScale="90000"/>
          </a:bodyPr>
          <a:lstStyle/>
          <a:p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E32AA-2EF6-F1C6-4479-07FFE71B3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926" y="989215"/>
            <a:ext cx="10566000" cy="4967448"/>
          </a:xfrm>
        </p:spPr>
        <p:txBody>
          <a:bodyPr>
            <a:norm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 Server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remain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UPPAAL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 Server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keeping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schedulable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981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C8024-D474-E7ED-6379-82E6334C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20" y="-143691"/>
            <a:ext cx="9987566" cy="757645"/>
          </a:xfrm>
        </p:spPr>
        <p:txBody>
          <a:bodyPr/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&amp; AI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43122-4BFF-248F-C65F-65FC76669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114" y="910838"/>
            <a:ext cx="10735817" cy="5320145"/>
          </a:xfrm>
        </p:spPr>
        <p:txBody>
          <a:bodyPr>
            <a:normAutofit fontScale="85000" lnSpcReduction="20000"/>
          </a:bodyPr>
          <a:lstStyle/>
          <a:p>
            <a:r>
              <a:rPr lang="de-D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 </a:t>
            </a:r>
            <a:endParaRPr lang="de-DE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Buttazzo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C. (2011). Hard Real-Time Computing Systems: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Predictable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ed.). Springer.</a:t>
            </a:r>
          </a:p>
          <a:p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UPPAAL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Polling Server RTS fixed.xml,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verified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UPPAAL.</a:t>
            </a:r>
          </a:p>
          <a:p>
            <a:r>
              <a:rPr lang="de-D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de-DE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  <a:endParaRPr lang="de-DE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ChatGPT was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wording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UPPAAL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final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reviewed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adapted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de-D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de-DE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de-D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citation</a:t>
            </a:r>
            <a:endParaRPr lang="de-DE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OpenAI. (2026). ChatGPT [Large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 </a:t>
            </a:r>
            <a:r>
              <a:rPr lang="de-D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21 June 2026.</a:t>
            </a:r>
          </a:p>
          <a:p>
            <a:endParaRPr lang="de-DE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673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64BFA5-1C6C-2C72-648D-1FD5ABB54733}"/>
              </a:ext>
            </a:extLst>
          </p:cNvPr>
          <p:cNvSpPr txBox="1"/>
          <p:nvPr/>
        </p:nvSpPr>
        <p:spPr>
          <a:xfrm>
            <a:off x="3314700" y="2767280"/>
            <a:ext cx="47352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de-DE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550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ki-ProjektMeeting.potx" id="{E3380594-1F68-41BF-B00D-D278C55573EE}" vid="{1F2C3E56-6124-438B-95EF-9390E48F94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0</TotalTime>
  <Words>801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 Math</vt:lpstr>
      <vt:lpstr>Source Sans Pro</vt:lpstr>
      <vt:lpstr>Times New Roman</vt:lpstr>
      <vt:lpstr>Wingdings</vt:lpstr>
      <vt:lpstr>Office-Design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Limitations of Polling Server </vt:lpstr>
      <vt:lpstr>Conclusion</vt:lpstr>
      <vt:lpstr>References &amp; AI Usage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Scalora, Giuseppe</dc:creator>
  <cp:lastModifiedBy>MD. Azad Ahmed</cp:lastModifiedBy>
  <cp:revision>11</cp:revision>
  <dcterms:created xsi:type="dcterms:W3CDTF">2025-03-17T09:02:15Z</dcterms:created>
  <dcterms:modified xsi:type="dcterms:W3CDTF">2026-06-22T01:47:08Z</dcterms:modified>
</cp:coreProperties>
</file>