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9" r:id="rId2"/>
    <p:sldId id="271" r:id="rId3"/>
    <p:sldId id="270" r:id="rId4"/>
    <p:sldId id="272" r:id="rId5"/>
    <p:sldId id="273" r:id="rId6"/>
    <p:sldId id="274" r:id="rId7"/>
    <p:sldId id="275" r:id="rId8"/>
    <p:sldId id="276" r:id="rId9"/>
    <p:sldId id="277" r:id="rId10"/>
    <p:sldId id="278" r:id="rId11"/>
    <p:sldId id="279" r:id="rId12"/>
    <p:sldId id="280" r:id="rId13"/>
    <p:sldId id="281" r:id="rId14"/>
    <p:sldId id="282" r:id="rId15"/>
  </p:sldIdLst>
  <p:sldSz cx="12192000" cy="6858000"/>
  <p:notesSz cx="6858000" cy="9144000"/>
  <p:defaultTextStyle>
    <a:defPPr>
      <a:defRPr lang="de-DE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>
        <p:scale>
          <a:sx n="88" d="100"/>
          <a:sy n="88" d="100"/>
        </p:scale>
        <p:origin x="168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864002" y="1438813"/>
            <a:ext cx="10027213" cy="1470025"/>
          </a:xfrm>
        </p:spPr>
        <p:txBody>
          <a:bodyPr>
            <a:normAutofit/>
          </a:bodyPr>
          <a:lstStyle>
            <a:lvl1pPr algn="l">
              <a:defRPr sz="4000" b="1" i="0">
                <a:latin typeface="Source Sans Pro"/>
                <a:cs typeface="Source Sans Pro"/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864002" y="3176700"/>
            <a:ext cx="10027213" cy="2254848"/>
          </a:xfrm>
        </p:spPr>
        <p:txBody>
          <a:bodyPr/>
          <a:lstStyle>
            <a:lvl1pPr marL="0" indent="0" algn="l">
              <a:buNone/>
              <a:defRPr b="0" i="0">
                <a:solidFill>
                  <a:schemeClr val="tx1"/>
                </a:solidFill>
                <a:latin typeface="Source Sans Pro"/>
                <a:cs typeface="Source Sans Pro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de-DE" dirty="0"/>
          </a:p>
        </p:txBody>
      </p:sp>
      <p:sp>
        <p:nvSpPr>
          <p:cNvPr id="7" name="Datumsplatzhalter 3"/>
          <p:cNvSpPr>
            <a:spLocks noGrp="1"/>
          </p:cNvSpPr>
          <p:nvPr>
            <p:ph type="dt" sz="half" idx="2"/>
          </p:nvPr>
        </p:nvSpPr>
        <p:spPr>
          <a:xfrm>
            <a:off x="864000" y="6492816"/>
            <a:ext cx="2844800" cy="11195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00" b="0" i="0">
                <a:solidFill>
                  <a:schemeClr val="tx1"/>
                </a:solidFill>
                <a:latin typeface="Source Sans Pro"/>
                <a:cs typeface="Source Sans Pro"/>
              </a:defRPr>
            </a:lvl1pPr>
          </a:lstStyle>
          <a:p>
            <a:fld id="{65671D92-7CEF-47A0-BCBA-17945E08BD7F}" type="datetimeFigureOut">
              <a:rPr lang="de-DE" smtClean="0"/>
              <a:t>11.06.2026</a:t>
            </a:fld>
            <a:endParaRPr lang="de-DE"/>
          </a:p>
        </p:txBody>
      </p:sp>
      <p:sp>
        <p:nvSpPr>
          <p:cNvPr id="8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531200" y="6493481"/>
            <a:ext cx="2844800" cy="11129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 b="1" i="0">
                <a:solidFill>
                  <a:schemeClr val="tx1"/>
                </a:solidFill>
                <a:latin typeface="Source Sans Pro"/>
                <a:cs typeface="Source Sans Pro"/>
              </a:defRPr>
            </a:lvl1pPr>
          </a:lstStyle>
          <a:p>
            <a:fld id="{427882D2-76ED-40F5-9AA8-D6B4E564DC54}" type="slidenum">
              <a:rPr lang="de-DE" smtClean="0"/>
              <a:t>‹#›</a:t>
            </a:fld>
            <a:endParaRPr lang="de-DE"/>
          </a:p>
        </p:txBody>
      </p:sp>
      <p:sp>
        <p:nvSpPr>
          <p:cNvPr id="6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493481"/>
            <a:ext cx="4114800" cy="11129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lang="de-DE" sz="700" b="0" i="0">
                <a:latin typeface="Source Sans Pro"/>
                <a:cs typeface="Source Sans Pro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03319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umsplatzhalter 3"/>
          <p:cNvSpPr>
            <a:spLocks noGrp="1"/>
          </p:cNvSpPr>
          <p:nvPr>
            <p:ph type="dt" sz="half" idx="2"/>
          </p:nvPr>
        </p:nvSpPr>
        <p:spPr>
          <a:xfrm>
            <a:off x="864000" y="6492816"/>
            <a:ext cx="2844800" cy="11195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00" b="0" i="0">
                <a:solidFill>
                  <a:schemeClr val="tx1"/>
                </a:solidFill>
                <a:latin typeface="Source Sans Pro"/>
                <a:cs typeface="Source Sans Pro"/>
              </a:defRPr>
            </a:lvl1pPr>
          </a:lstStyle>
          <a:p>
            <a:fld id="{65671D92-7CEF-47A0-BCBA-17945E08BD7F}" type="datetimeFigureOut">
              <a:rPr lang="de-DE" smtClean="0"/>
              <a:t>11.06.2026</a:t>
            </a:fld>
            <a:endParaRPr lang="de-DE"/>
          </a:p>
        </p:txBody>
      </p:sp>
      <p:sp>
        <p:nvSpPr>
          <p:cNvPr id="8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531200" y="6493481"/>
            <a:ext cx="2844800" cy="11129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 b="1" i="0">
                <a:solidFill>
                  <a:schemeClr val="tx1"/>
                </a:solidFill>
                <a:latin typeface="Source Sans Pro"/>
                <a:cs typeface="Source Sans Pro"/>
              </a:defRPr>
            </a:lvl1pPr>
          </a:lstStyle>
          <a:p>
            <a:fld id="{427882D2-76ED-40F5-9AA8-D6B4E564DC54}" type="slidenum">
              <a:rPr lang="de-DE" smtClean="0"/>
              <a:t>‹#›</a:t>
            </a:fld>
            <a:endParaRPr lang="de-DE"/>
          </a:p>
        </p:txBody>
      </p:sp>
      <p:sp>
        <p:nvSpPr>
          <p:cNvPr id="6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493481"/>
            <a:ext cx="4114800" cy="11129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lang="de-DE" sz="700" b="0" i="0">
                <a:latin typeface="Source Sans Pro"/>
                <a:cs typeface="Source Sans Pro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83199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71D92-7CEF-47A0-BCBA-17945E08BD7F}" type="datetimeFigureOut">
              <a:rPr lang="de-DE" smtClean="0"/>
              <a:t>11.06.2026</a:t>
            </a:fld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882D2-76ED-40F5-9AA8-D6B4E564DC54}" type="slidenum">
              <a:rPr lang="de-DE" smtClean="0"/>
              <a:t>‹#›</a:t>
            </a:fld>
            <a:endParaRPr lang="de-DE"/>
          </a:p>
        </p:txBody>
      </p:sp>
      <p:sp>
        <p:nvSpPr>
          <p:cNvPr id="7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493481"/>
            <a:ext cx="4114800" cy="11129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lang="de-DE" sz="700" b="0" i="0">
                <a:latin typeface="Source Sans Pro"/>
                <a:cs typeface="Source Sans Pro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760708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64000" y="2020711"/>
            <a:ext cx="5130400" cy="410545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97600" y="2020711"/>
            <a:ext cx="4900309" cy="410545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71D92-7CEF-47A0-BCBA-17945E08BD7F}" type="datetimeFigureOut">
              <a:rPr lang="de-DE" smtClean="0"/>
              <a:t>11.06.2026</a:t>
            </a:fld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882D2-76ED-40F5-9AA8-D6B4E564DC54}" type="slidenum">
              <a:rPr lang="de-DE" smtClean="0"/>
              <a:t>‹#›</a:t>
            </a:fld>
            <a:endParaRPr lang="de-DE"/>
          </a:p>
        </p:txBody>
      </p:sp>
      <p:sp>
        <p:nvSpPr>
          <p:cNvPr id="8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493481"/>
            <a:ext cx="4114800" cy="11129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lang="de-DE" sz="700" b="0" i="0">
                <a:latin typeface="Source Sans Pro"/>
                <a:cs typeface="Source Sans Pro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625174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71D92-7CEF-47A0-BCBA-17945E08BD7F}" type="datetimeFigureOut">
              <a:rPr lang="de-DE" smtClean="0"/>
              <a:t>11.06.2026</a:t>
            </a:fld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882D2-76ED-40F5-9AA8-D6B4E564DC54}" type="slidenum">
              <a:rPr lang="de-DE" smtClean="0"/>
              <a:t>‹#›</a:t>
            </a:fld>
            <a:endParaRPr lang="de-DE"/>
          </a:p>
        </p:txBody>
      </p:sp>
      <p:sp>
        <p:nvSpPr>
          <p:cNvPr id="6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493481"/>
            <a:ext cx="4114800" cy="11129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lang="de-DE" sz="700" b="0" i="0">
                <a:latin typeface="Source Sans Pro"/>
                <a:cs typeface="Source Sans Pro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99939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71D92-7CEF-47A0-BCBA-17945E08BD7F}" type="datetimeFigureOut">
              <a:rPr lang="de-DE" smtClean="0"/>
              <a:t>11.06.2026</a:t>
            </a:fld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882D2-76ED-40F5-9AA8-D6B4E564DC54}" type="slidenum">
              <a:rPr lang="de-DE" smtClean="0"/>
              <a:t>‹#›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493481"/>
            <a:ext cx="4114800" cy="11129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lang="de-DE" sz="700" b="0" i="0">
                <a:latin typeface="Source Sans Pro"/>
                <a:cs typeface="Source Sans Pro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762660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09601" y="699910"/>
            <a:ext cx="4011084" cy="73518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766734" y="699911"/>
            <a:ext cx="6499578" cy="542625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609601" y="1580444"/>
            <a:ext cx="4011084" cy="454572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71D92-7CEF-47A0-BCBA-17945E08BD7F}" type="datetimeFigureOut">
              <a:rPr lang="de-DE" smtClean="0"/>
              <a:t>11.06.2026</a:t>
            </a:fld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882D2-76ED-40F5-9AA8-D6B4E564DC54}" type="slidenum">
              <a:rPr lang="de-DE" smtClean="0"/>
              <a:t>‹#›</a:t>
            </a:fld>
            <a:endParaRPr lang="de-DE"/>
          </a:p>
        </p:txBody>
      </p:sp>
      <p:sp>
        <p:nvSpPr>
          <p:cNvPr id="8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493481"/>
            <a:ext cx="4114800" cy="11129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lang="de-DE" sz="700" b="0" i="0">
                <a:latin typeface="Source Sans Pro"/>
                <a:cs typeface="Source Sans Pro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367019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gi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/>
          <p:cNvSpPr/>
          <p:nvPr/>
        </p:nvSpPr>
        <p:spPr>
          <a:xfrm>
            <a:off x="0" y="648000"/>
            <a:ext cx="11376000" cy="567000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/>
          </a:p>
        </p:txBody>
      </p:sp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64000" y="745650"/>
            <a:ext cx="10233909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64000" y="2021181"/>
            <a:ext cx="10233909" cy="4104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64000" y="6492816"/>
            <a:ext cx="2844800" cy="11195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>
              <a:defRPr lang="de-DE" sz="700" b="0" i="0" smtClean="0">
                <a:latin typeface="Source Sans Pro"/>
                <a:cs typeface="Source Sans Pro"/>
              </a:defRPr>
            </a:lvl1pPr>
          </a:lstStyle>
          <a:p>
            <a:fld id="{65671D92-7CEF-47A0-BCBA-17945E08BD7F}" type="datetimeFigureOut">
              <a:rPr lang="de-DE" smtClean="0"/>
              <a:t>11.06.2026</a:t>
            </a:fld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531200" y="6493481"/>
            <a:ext cx="2844800" cy="11129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 b="1" i="0">
                <a:solidFill>
                  <a:schemeClr val="tx1"/>
                </a:solidFill>
                <a:latin typeface="Source Sans Pro"/>
                <a:cs typeface="Source Sans Pro"/>
              </a:defRPr>
            </a:lvl1pPr>
          </a:lstStyle>
          <a:p>
            <a:fld id="{427882D2-76ED-40F5-9AA8-D6B4E564DC54}" type="slidenum">
              <a:rPr lang="de-DE" smtClean="0"/>
              <a:t>‹#›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493481"/>
            <a:ext cx="4114800" cy="11129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lang="de-DE" sz="700" b="0" i="0">
                <a:latin typeface="Source Sans Pro"/>
                <a:cs typeface="Source Sans Pro"/>
              </a:defRPr>
            </a:lvl1pPr>
          </a:lstStyle>
          <a:p>
            <a:endParaRPr lang="de-DE"/>
          </a:p>
        </p:txBody>
      </p:sp>
      <p:pic>
        <p:nvPicPr>
          <p:cNvPr id="9" name="Bild 6" descr="HSHL_Logo_horizontal_RGB_Sequenz_Animation.gif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2000" y="247172"/>
            <a:ext cx="1404000" cy="208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47779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txStyles>
    <p:titleStyle>
      <a:lvl1pPr algn="l" defTabSz="457200" rtl="0" eaLnBrk="1" latinLnBrk="0" hangingPunct="1">
        <a:spcBef>
          <a:spcPct val="0"/>
        </a:spcBef>
        <a:buNone/>
        <a:defRPr sz="4000" b="1" i="0" kern="1200">
          <a:solidFill>
            <a:schemeClr val="tx1"/>
          </a:solidFill>
          <a:latin typeface="Source Sans Pro"/>
          <a:ea typeface="+mj-ea"/>
          <a:cs typeface="Source Sans Pro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b="0" i="0" kern="1200">
          <a:solidFill>
            <a:schemeClr val="tx1"/>
          </a:solidFill>
          <a:latin typeface="Source Sans Pro"/>
          <a:ea typeface="+mn-ea"/>
          <a:cs typeface="Source Sans Pro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b="0" i="0" kern="1200">
          <a:solidFill>
            <a:schemeClr val="tx1"/>
          </a:solidFill>
          <a:latin typeface="Source Sans Pro"/>
          <a:ea typeface="+mn-ea"/>
          <a:cs typeface="Source Sans Pro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b="0" i="0" kern="1200">
          <a:solidFill>
            <a:schemeClr val="tx1"/>
          </a:solidFill>
          <a:latin typeface="Source Sans Pro"/>
          <a:ea typeface="+mn-ea"/>
          <a:cs typeface="Source Sans Pro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b="0" i="0" kern="1200">
          <a:solidFill>
            <a:schemeClr val="tx1"/>
          </a:solidFill>
          <a:latin typeface="Source Sans Pro"/>
          <a:ea typeface="+mn-ea"/>
          <a:cs typeface="Source Sans Pro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b="0" i="0" kern="1200">
          <a:solidFill>
            <a:schemeClr val="tx1"/>
          </a:solidFill>
          <a:latin typeface="Source Sans Pro"/>
          <a:ea typeface="+mn-ea"/>
          <a:cs typeface="Source Sans Pro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>
            <a:extLst>
              <a:ext uri="{FF2B5EF4-FFF2-40B4-BE49-F238E27FC236}">
                <a16:creationId xmlns:a16="http://schemas.microsoft.com/office/drawing/2014/main" id="{F5103BC8-01FF-80E5-1EE1-E86C628E89D9}"/>
              </a:ext>
            </a:extLst>
          </p:cNvPr>
          <p:cNvSpPr/>
          <p:nvPr/>
        </p:nvSpPr>
        <p:spPr>
          <a:xfrm>
            <a:off x="82296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15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SYSTEMS SEMINAR  </a:t>
            </a:r>
            <a:endParaRPr lang="en-US" sz="14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4BD1D3F-72DC-094F-EDD8-7994974C7D1C}"/>
              </a:ext>
            </a:extLst>
          </p:cNvPr>
          <p:cNvSpPr/>
          <p:nvPr/>
        </p:nvSpPr>
        <p:spPr>
          <a:xfrm>
            <a:off x="777240" y="182880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Priority Exchange</a:t>
            </a:r>
            <a:endParaRPr lang="en-US" sz="60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1CAE0B0-10C8-4006-77F2-77B2DB6DB699}"/>
              </a:ext>
            </a:extLst>
          </p:cNvPr>
          <p:cNvSpPr/>
          <p:nvPr/>
        </p:nvSpPr>
        <p:spPr>
          <a:xfrm>
            <a:off x="822960" y="297180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Bandwidth-preserving aperiodic service in fixed- and dynamic-priority real-time systems</a:t>
            </a:r>
            <a:endParaRPr lang="en-US" sz="19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8CD688C7-2973-29F1-BB12-B2EE35B40C46}"/>
              </a:ext>
            </a:extLst>
          </p:cNvPr>
          <p:cNvSpPr/>
          <p:nvPr/>
        </p:nvSpPr>
        <p:spPr>
          <a:xfrm>
            <a:off x="841248" y="4297680"/>
            <a:ext cx="2834640" cy="0"/>
          </a:xfrm>
          <a:prstGeom prst="line">
            <a:avLst/>
          </a:prstGeom>
          <a:noFill/>
          <a:ln w="19050">
            <a:solidFill>
              <a:srgbClr val="42678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444F9511-517C-3515-7C88-65782CF9BB28}"/>
              </a:ext>
            </a:extLst>
          </p:cNvPr>
          <p:cNvSpPr/>
          <p:nvPr/>
        </p:nvSpPr>
        <p:spPr>
          <a:xfrm>
            <a:off x="822960" y="44805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Md Jubair Salehin Razin</a:t>
            </a:r>
            <a:endParaRPr lang="en-US" sz="1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Hochschule Hamm-Lippstadt  ·  Dept. of Electronic Engineering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2037017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4">
            <a:extLst>
              <a:ext uri="{FF2B5EF4-FFF2-40B4-BE49-F238E27FC236}">
                <a16:creationId xmlns:a16="http://schemas.microsoft.com/office/drawing/2014/main" id="{22C48636-E1BD-C1D8-21F1-5A250739B063}"/>
              </a:ext>
            </a:extLst>
          </p:cNvPr>
          <p:cNvSpPr/>
          <p:nvPr/>
        </p:nvSpPr>
        <p:spPr>
          <a:xfrm>
            <a:off x="381871" y="22860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250" dirty="0">
                <a:solidFill>
                  <a:srgbClr val="15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240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FF9B9530-C696-1DE2-9E57-4AF566BD69DC}"/>
              </a:ext>
            </a:extLst>
          </p:cNvPr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workloads share one processor</a:t>
            </a:r>
            <a:endParaRPr lang="en-US" sz="3000" dirty="0"/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8CD50855-5E11-3CF6-2014-C19A5DC60378}"/>
              </a:ext>
            </a:extLst>
          </p:cNvPr>
          <p:cNvSpPr/>
          <p:nvPr/>
        </p:nvSpPr>
        <p:spPr>
          <a:xfrm>
            <a:off x="162197" y="1783080"/>
            <a:ext cx="5257800" cy="3063240"/>
          </a:xfrm>
          <a:prstGeom prst="roundRect">
            <a:avLst>
              <a:gd name="adj" fmla="val 2687"/>
            </a:avLst>
          </a:prstGeom>
          <a:solidFill>
            <a:srgbClr val="E7F3F1"/>
          </a:solidFill>
          <a:ln w="12700">
            <a:solidFill>
              <a:srgbClr val="D8E0E8"/>
            </a:solidFill>
            <a:prstDash val="solid"/>
          </a:ln>
          <a:effectLst>
            <a:outerShdw blurRad="114300" dist="38100" dir="5400000" algn="bl" rotWithShape="0">
              <a:srgbClr val="8499AE">
                <a:alpha val="2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052187B7-7512-31B0-17F4-DB88F7CF2F41}"/>
              </a:ext>
            </a:extLst>
          </p:cNvPr>
          <p:cNvSpPr/>
          <p:nvPr/>
        </p:nvSpPr>
        <p:spPr>
          <a:xfrm>
            <a:off x="482237" y="2103120"/>
            <a:ext cx="777240" cy="777240"/>
          </a:xfrm>
          <a:prstGeom prst="ellipse">
            <a:avLst/>
          </a:prstGeom>
          <a:solidFill>
            <a:srgbClr val="159A8C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2" name="Image 0" descr="preencoded.png">
            <a:extLst>
              <a:ext uri="{FF2B5EF4-FFF2-40B4-BE49-F238E27FC236}">
                <a16:creationId xmlns:a16="http://schemas.microsoft.com/office/drawing/2014/main" id="{25D53622-465D-430F-C0CA-0A7835C7D3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409" y="2336292"/>
            <a:ext cx="310896" cy="310896"/>
          </a:xfrm>
          <a:prstGeom prst="rect">
            <a:avLst/>
          </a:prstGeom>
        </p:spPr>
      </p:pic>
      <p:sp>
        <p:nvSpPr>
          <p:cNvPr id="13" name="Text 8">
            <a:extLst>
              <a:ext uri="{FF2B5EF4-FFF2-40B4-BE49-F238E27FC236}">
                <a16:creationId xmlns:a16="http://schemas.microsoft.com/office/drawing/2014/main" id="{3AFFB5E9-E0DC-C498-92E0-BC2086EC4937}"/>
              </a:ext>
            </a:extLst>
          </p:cNvPr>
          <p:cNvSpPr/>
          <p:nvPr/>
        </p:nvSpPr>
        <p:spPr>
          <a:xfrm>
            <a:off x="1442357" y="219456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B3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Periodic tasks</a:t>
            </a:r>
            <a:endParaRPr lang="en-US" sz="2100" dirty="0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A200B83F-F552-55F7-5712-3ECC11E2DCD0}"/>
              </a:ext>
            </a:extLst>
          </p:cNvPr>
          <p:cNvSpPr/>
          <p:nvPr/>
        </p:nvSpPr>
        <p:spPr>
          <a:xfrm>
            <a:off x="1442357" y="265176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deadlines.</a:t>
            </a:r>
            <a:endParaRPr lang="en-US" sz="1300" dirty="0"/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CDC86C3B-57ED-580F-3EEC-3A7CDDBCFFA7}"/>
              </a:ext>
            </a:extLst>
          </p:cNvPr>
          <p:cNvSpPr/>
          <p:nvPr/>
        </p:nvSpPr>
        <p:spPr>
          <a:xfrm>
            <a:off x="482237" y="3200400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loops, signal-processing pipelines, actuation.</a:t>
            </a:r>
            <a:endParaRPr lang="en-US" dirty="0"/>
          </a:p>
          <a:p>
            <a:pPr marL="0" indent="0">
              <a:lnSpc>
                <a:spcPct val="112000"/>
              </a:lnSpc>
              <a:buNone/>
            </a:pPr>
            <a:r>
              <a:rPr lang="en-US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Arrival pattern known in advance; temporal correctness is verified </a:t>
            </a:r>
            <a:r>
              <a:rPr lang="en-US" i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</a:t>
            </a:r>
            <a:r>
              <a:rPr lang="en-US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by worst-case schedulability analysis.</a:t>
            </a:r>
            <a:endParaRPr lang="en-US" dirty="0"/>
          </a:p>
        </p:txBody>
      </p:sp>
      <p:sp>
        <p:nvSpPr>
          <p:cNvPr id="16" name="Shape 11">
            <a:extLst>
              <a:ext uri="{FF2B5EF4-FFF2-40B4-BE49-F238E27FC236}">
                <a16:creationId xmlns:a16="http://schemas.microsoft.com/office/drawing/2014/main" id="{F9BD6564-EA56-F2BB-25F7-F41764E01B70}"/>
              </a:ext>
            </a:extLst>
          </p:cNvPr>
          <p:cNvSpPr/>
          <p:nvPr/>
        </p:nvSpPr>
        <p:spPr>
          <a:xfrm>
            <a:off x="5968637" y="1783080"/>
            <a:ext cx="5257800" cy="3063240"/>
          </a:xfrm>
          <a:prstGeom prst="roundRect">
            <a:avLst>
              <a:gd name="adj" fmla="val 2687"/>
            </a:avLst>
          </a:prstGeom>
          <a:solidFill>
            <a:srgbClr val="FBEDE9"/>
          </a:solidFill>
          <a:ln w="12700">
            <a:solidFill>
              <a:srgbClr val="D8E0E8"/>
            </a:solidFill>
            <a:prstDash val="solid"/>
          </a:ln>
          <a:effectLst>
            <a:outerShdw blurRad="114300" dist="38100" dir="5400000" algn="bl" rotWithShape="0">
              <a:srgbClr val="8499AE">
                <a:alpha val="2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7" name="Shape 12">
            <a:extLst>
              <a:ext uri="{FF2B5EF4-FFF2-40B4-BE49-F238E27FC236}">
                <a16:creationId xmlns:a16="http://schemas.microsoft.com/office/drawing/2014/main" id="{B8D738C4-5853-5BF2-1607-44D146197C99}"/>
              </a:ext>
            </a:extLst>
          </p:cNvPr>
          <p:cNvSpPr/>
          <p:nvPr/>
        </p:nvSpPr>
        <p:spPr>
          <a:xfrm>
            <a:off x="6288677" y="2103120"/>
            <a:ext cx="777240" cy="777240"/>
          </a:xfrm>
          <a:prstGeom prst="ellipse">
            <a:avLst/>
          </a:prstGeom>
          <a:solidFill>
            <a:srgbClr val="E2674E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8" name="Image 1" descr="preencoded.png">
            <a:extLst>
              <a:ext uri="{FF2B5EF4-FFF2-40B4-BE49-F238E27FC236}">
                <a16:creationId xmlns:a16="http://schemas.microsoft.com/office/drawing/2014/main" id="{881040A4-4AF7-6796-2DB4-65B894E9BF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1849" y="2336292"/>
            <a:ext cx="310896" cy="310896"/>
          </a:xfrm>
          <a:prstGeom prst="rect">
            <a:avLst/>
          </a:prstGeom>
        </p:spPr>
      </p:pic>
      <p:sp>
        <p:nvSpPr>
          <p:cNvPr id="19" name="Text 13">
            <a:extLst>
              <a:ext uri="{FF2B5EF4-FFF2-40B4-BE49-F238E27FC236}">
                <a16:creationId xmlns:a16="http://schemas.microsoft.com/office/drawing/2014/main" id="{05DC2B49-FAC9-DB48-CA42-F3A8E25D69DC}"/>
              </a:ext>
            </a:extLst>
          </p:cNvPr>
          <p:cNvSpPr/>
          <p:nvPr/>
        </p:nvSpPr>
        <p:spPr>
          <a:xfrm>
            <a:off x="7248797" y="219456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B3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Aperiodic events</a:t>
            </a:r>
            <a:endParaRPr lang="en-US" sz="2100" dirty="0"/>
          </a:p>
        </p:txBody>
      </p:sp>
      <p:sp>
        <p:nvSpPr>
          <p:cNvPr id="20" name="Text 14">
            <a:extLst>
              <a:ext uri="{FF2B5EF4-FFF2-40B4-BE49-F238E27FC236}">
                <a16:creationId xmlns:a16="http://schemas.microsoft.com/office/drawing/2014/main" id="{9717BD5E-3D98-477D-C22E-6D6E6003D3B3}"/>
              </a:ext>
            </a:extLst>
          </p:cNvPr>
          <p:cNvSpPr/>
          <p:nvPr/>
        </p:nvSpPr>
        <p:spPr>
          <a:xfrm>
            <a:off x="7248797" y="265176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26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deadlines.</a:t>
            </a:r>
            <a:endParaRPr lang="en-US" sz="1300" dirty="0"/>
          </a:p>
        </p:txBody>
      </p:sp>
      <p:sp>
        <p:nvSpPr>
          <p:cNvPr id="21" name="Text 15">
            <a:extLst>
              <a:ext uri="{FF2B5EF4-FFF2-40B4-BE49-F238E27FC236}">
                <a16:creationId xmlns:a16="http://schemas.microsoft.com/office/drawing/2014/main" id="{1BA6BA24-5DE8-B19A-609A-4B6B77624024}"/>
              </a:ext>
            </a:extLst>
          </p:cNvPr>
          <p:cNvSpPr/>
          <p:nvPr/>
        </p:nvSpPr>
        <p:spPr>
          <a:xfrm>
            <a:off x="6288677" y="3200400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commands, alarms, sporadic sensor interrupts.</a:t>
            </a:r>
            <a:endParaRPr lang="en-US" dirty="0"/>
          </a:p>
          <a:p>
            <a:pPr marL="0" indent="0">
              <a:lnSpc>
                <a:spcPct val="112000"/>
              </a:lnSpc>
              <a:buNone/>
            </a:pPr>
            <a:r>
              <a:rPr lang="en-US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Arrival times unknown; a late response is not catastrophic, but average and worst-case latency should be as small as possible.</a:t>
            </a:r>
            <a:endParaRPr lang="en-US" dirty="0"/>
          </a:p>
        </p:txBody>
      </p:sp>
      <p:sp>
        <p:nvSpPr>
          <p:cNvPr id="22" name="Shape 16">
            <a:extLst>
              <a:ext uri="{FF2B5EF4-FFF2-40B4-BE49-F238E27FC236}">
                <a16:creationId xmlns:a16="http://schemas.microsoft.com/office/drawing/2014/main" id="{3D975F6B-2B21-B6A8-2D40-3E86A2442BEB}"/>
              </a:ext>
            </a:extLst>
          </p:cNvPr>
          <p:cNvSpPr/>
          <p:nvPr/>
        </p:nvSpPr>
        <p:spPr>
          <a:xfrm>
            <a:off x="162197" y="5138928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1B3A5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3" name="Text 17">
            <a:extLst>
              <a:ext uri="{FF2B5EF4-FFF2-40B4-BE49-F238E27FC236}">
                <a16:creationId xmlns:a16="http://schemas.microsoft.com/office/drawing/2014/main" id="{92204EA5-E2F6-EFA0-6621-9F4E8FD423EF}"/>
              </a:ext>
            </a:extLst>
          </p:cNvPr>
          <p:cNvSpPr/>
          <p:nvPr/>
        </p:nvSpPr>
        <p:spPr>
          <a:xfrm>
            <a:off x="527956" y="5138928"/>
            <a:ext cx="10698481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5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goal:  </a:t>
            </a: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aperiodic load as responsively as possible — </a:t>
            </a: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ever jeopardising the periodic guarantee.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40768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4">
            <a:extLst>
              <a:ext uri="{FF2B5EF4-FFF2-40B4-BE49-F238E27FC236}">
                <a16:creationId xmlns:a16="http://schemas.microsoft.com/office/drawing/2014/main" id="{79E6A38A-AF04-BB98-135D-DF121DC63DB1}"/>
              </a:ext>
            </a:extLst>
          </p:cNvPr>
          <p:cNvSpPr/>
          <p:nvPr/>
        </p:nvSpPr>
        <p:spPr>
          <a:xfrm>
            <a:off x="502920" y="192024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250" dirty="0">
                <a:solidFill>
                  <a:srgbClr val="15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THE SIMPLE OPTIONS</a:t>
            </a:r>
            <a:endParaRPr lang="en-US" sz="240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70C8AB76-2F6F-656E-15A1-C7651B12378A}"/>
              </a:ext>
            </a:extLst>
          </p:cNvPr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two baselines disappoint</a:t>
            </a:r>
            <a:endParaRPr lang="en-US" sz="3000" dirty="0"/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84376E16-C8AF-92B0-1A22-E299DB81878B}"/>
              </a:ext>
            </a:extLst>
          </p:cNvPr>
          <p:cNvSpPr/>
          <p:nvPr/>
        </p:nvSpPr>
        <p:spPr>
          <a:xfrm>
            <a:off x="200292" y="1783080"/>
            <a:ext cx="5257800" cy="3063240"/>
          </a:xfrm>
          <a:prstGeom prst="roundRect">
            <a:avLst>
              <a:gd name="adj" fmla="val 2687"/>
            </a:avLst>
          </a:prstGeom>
          <a:solidFill>
            <a:srgbClr val="F2F5F8"/>
          </a:solidFill>
          <a:ln w="12700">
            <a:solidFill>
              <a:srgbClr val="D8E0E8"/>
            </a:solidFill>
            <a:prstDash val="solid"/>
          </a:ln>
          <a:effectLst>
            <a:outerShdw blurRad="114300" dist="38100" dir="5400000" algn="bl" rotWithShape="0">
              <a:srgbClr val="8499AE">
                <a:alpha val="2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850F911B-2623-BECC-351E-4BF4265634AA}"/>
              </a:ext>
            </a:extLst>
          </p:cNvPr>
          <p:cNvSpPr/>
          <p:nvPr/>
        </p:nvSpPr>
        <p:spPr>
          <a:xfrm>
            <a:off x="520332" y="2103120"/>
            <a:ext cx="731520" cy="731520"/>
          </a:xfrm>
          <a:prstGeom prst="ellipse">
            <a:avLst/>
          </a:prstGeom>
          <a:solidFill>
            <a:srgbClr val="42678E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2" name="Image 0" descr="preencoded.png">
            <a:extLst>
              <a:ext uri="{FF2B5EF4-FFF2-40B4-BE49-F238E27FC236}">
                <a16:creationId xmlns:a16="http://schemas.microsoft.com/office/drawing/2014/main" id="{921C8E48-8377-C5D6-210F-6CBA83A375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788" y="2322576"/>
            <a:ext cx="292608" cy="292608"/>
          </a:xfrm>
          <a:prstGeom prst="rect">
            <a:avLst/>
          </a:prstGeom>
        </p:spPr>
      </p:pic>
      <p:sp>
        <p:nvSpPr>
          <p:cNvPr id="13" name="Text 8">
            <a:extLst>
              <a:ext uri="{FF2B5EF4-FFF2-40B4-BE49-F238E27FC236}">
                <a16:creationId xmlns:a16="http://schemas.microsoft.com/office/drawing/2014/main" id="{81C038EC-E255-99FC-A284-9E625DDBEFC3}"/>
              </a:ext>
            </a:extLst>
          </p:cNvPr>
          <p:cNvSpPr/>
          <p:nvPr/>
        </p:nvSpPr>
        <p:spPr>
          <a:xfrm>
            <a:off x="1434732" y="2167128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Background scheduling</a:t>
            </a:r>
            <a:endParaRPr lang="en-US" sz="2000" dirty="0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80C397B0-2C79-871B-E314-D735EF92E5CB}"/>
              </a:ext>
            </a:extLst>
          </p:cNvPr>
          <p:cNvSpPr/>
          <p:nvPr/>
        </p:nvSpPr>
        <p:spPr>
          <a:xfrm>
            <a:off x="520332" y="283464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Aperiodic requests run only when no periodic task is ready.</a:t>
            </a:r>
            <a:endParaRPr lang="en-US" dirty="0"/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FC4EA125-91C6-504E-0317-BC72DD540391}"/>
              </a:ext>
            </a:extLst>
          </p:cNvPr>
          <p:cNvSpPr/>
          <p:nvPr/>
        </p:nvSpPr>
        <p:spPr>
          <a:xfrm>
            <a:off x="520332" y="3749040"/>
            <a:ext cx="4663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b="1" dirty="0">
                <a:solidFill>
                  <a:srgbClr val="15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affects the periodic guarantee.</a:t>
            </a:r>
            <a:endParaRPr lang="en-US" dirty="0"/>
          </a:p>
          <a:p>
            <a:pPr marL="0" indent="0">
              <a:lnSpc>
                <a:spcPct val="125000"/>
              </a:lnSpc>
              <a:buNone/>
            </a:pPr>
            <a:r>
              <a:rPr lang="en-US" b="1" dirty="0">
                <a:solidFill>
                  <a:srgbClr val="E26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is slow and, under load, effectively unbounded.</a:t>
            </a:r>
            <a:endParaRPr lang="en-US" dirty="0"/>
          </a:p>
        </p:txBody>
      </p:sp>
      <p:sp>
        <p:nvSpPr>
          <p:cNvPr id="16" name="Shape 11">
            <a:extLst>
              <a:ext uri="{FF2B5EF4-FFF2-40B4-BE49-F238E27FC236}">
                <a16:creationId xmlns:a16="http://schemas.microsoft.com/office/drawing/2014/main" id="{9341B1C6-D707-A9E5-9654-AF9A77CAFA4A}"/>
              </a:ext>
            </a:extLst>
          </p:cNvPr>
          <p:cNvSpPr/>
          <p:nvPr/>
        </p:nvSpPr>
        <p:spPr>
          <a:xfrm>
            <a:off x="6006732" y="1783080"/>
            <a:ext cx="5257800" cy="3063240"/>
          </a:xfrm>
          <a:prstGeom prst="roundRect">
            <a:avLst>
              <a:gd name="adj" fmla="val 2687"/>
            </a:avLst>
          </a:prstGeom>
          <a:solidFill>
            <a:srgbClr val="F2F5F8"/>
          </a:solidFill>
          <a:ln w="12700">
            <a:solidFill>
              <a:srgbClr val="D8E0E8"/>
            </a:solidFill>
            <a:prstDash val="solid"/>
          </a:ln>
          <a:effectLst>
            <a:outerShdw blurRad="114300" dist="38100" dir="5400000" algn="bl" rotWithShape="0">
              <a:srgbClr val="8499AE">
                <a:alpha val="2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7" name="Shape 12">
            <a:extLst>
              <a:ext uri="{FF2B5EF4-FFF2-40B4-BE49-F238E27FC236}">
                <a16:creationId xmlns:a16="http://schemas.microsoft.com/office/drawing/2014/main" id="{B2469E7A-4439-2562-E3DF-13E29A0621FA}"/>
              </a:ext>
            </a:extLst>
          </p:cNvPr>
          <p:cNvSpPr/>
          <p:nvPr/>
        </p:nvSpPr>
        <p:spPr>
          <a:xfrm>
            <a:off x="6326772" y="2103120"/>
            <a:ext cx="731520" cy="731520"/>
          </a:xfrm>
          <a:prstGeom prst="ellipse">
            <a:avLst/>
          </a:prstGeom>
          <a:solidFill>
            <a:srgbClr val="42678E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8" name="Image 1" descr="preencoded.png">
            <a:extLst>
              <a:ext uri="{FF2B5EF4-FFF2-40B4-BE49-F238E27FC236}">
                <a16:creationId xmlns:a16="http://schemas.microsoft.com/office/drawing/2014/main" id="{1ED789D9-A1CD-B800-A8FF-B6F13AED1A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6228" y="2322576"/>
            <a:ext cx="292608" cy="292608"/>
          </a:xfrm>
          <a:prstGeom prst="rect">
            <a:avLst/>
          </a:prstGeom>
        </p:spPr>
      </p:pic>
      <p:sp>
        <p:nvSpPr>
          <p:cNvPr id="19" name="Text 13">
            <a:extLst>
              <a:ext uri="{FF2B5EF4-FFF2-40B4-BE49-F238E27FC236}">
                <a16:creationId xmlns:a16="http://schemas.microsoft.com/office/drawing/2014/main" id="{29B6E98A-3E11-2BE0-34AF-53D6E3B00546}"/>
              </a:ext>
            </a:extLst>
          </p:cNvPr>
          <p:cNvSpPr/>
          <p:nvPr/>
        </p:nvSpPr>
        <p:spPr>
          <a:xfrm>
            <a:off x="7241172" y="2167128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Polling server</a:t>
            </a:r>
            <a:endParaRPr lang="en-US" sz="2000" dirty="0"/>
          </a:p>
        </p:txBody>
      </p:sp>
      <p:sp>
        <p:nvSpPr>
          <p:cNvPr id="20" name="Text 14">
            <a:extLst>
              <a:ext uri="{FF2B5EF4-FFF2-40B4-BE49-F238E27FC236}">
                <a16:creationId xmlns:a16="http://schemas.microsoft.com/office/drawing/2014/main" id="{FFEC966F-C5EF-88AD-8966-BA07A7D02334}"/>
              </a:ext>
            </a:extLst>
          </p:cNvPr>
          <p:cNvSpPr/>
          <p:nvPr/>
        </p:nvSpPr>
        <p:spPr>
          <a:xfrm>
            <a:off x="6326772" y="283464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periodic task with a reserved capacity serves whatever requests are pending at its period.</a:t>
            </a:r>
            <a:endParaRPr lang="en-US" dirty="0"/>
          </a:p>
        </p:txBody>
      </p:sp>
      <p:sp>
        <p:nvSpPr>
          <p:cNvPr id="21" name="Text 15">
            <a:extLst>
              <a:ext uri="{FF2B5EF4-FFF2-40B4-BE49-F238E27FC236}">
                <a16:creationId xmlns:a16="http://schemas.microsoft.com/office/drawing/2014/main" id="{82DD453F-0458-9C12-F07C-ACC397A772E9}"/>
              </a:ext>
            </a:extLst>
          </p:cNvPr>
          <p:cNvSpPr/>
          <p:nvPr/>
        </p:nvSpPr>
        <p:spPr>
          <a:xfrm>
            <a:off x="6326771" y="3749040"/>
            <a:ext cx="5043351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b="1" dirty="0">
                <a:solidFill>
                  <a:srgbClr val="15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Bounded, predictable response.</a:t>
            </a:r>
            <a:endParaRPr lang="en-US" dirty="0"/>
          </a:p>
          <a:p>
            <a:pPr marL="0" indent="0">
              <a:lnSpc>
                <a:spcPct val="120000"/>
              </a:lnSpc>
              <a:buNone/>
            </a:pPr>
            <a:r>
              <a:rPr lang="en-US" b="1" dirty="0">
                <a:solidFill>
                  <a:srgbClr val="E26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nothing is pending at the polling instant, the budget is discarded — wasted exactly when it may soon be needed.</a:t>
            </a:r>
            <a:endParaRPr lang="en-US" dirty="0"/>
          </a:p>
        </p:txBody>
      </p:sp>
      <p:sp>
        <p:nvSpPr>
          <p:cNvPr id="22" name="Text 16">
            <a:extLst>
              <a:ext uri="{FF2B5EF4-FFF2-40B4-BE49-F238E27FC236}">
                <a16:creationId xmlns:a16="http://schemas.microsoft.com/office/drawing/2014/main" id="{4B746D49-BE82-01AC-445B-0112536644B6}"/>
              </a:ext>
            </a:extLst>
          </p:cNvPr>
          <p:cNvSpPr/>
          <p:nvPr/>
        </p:nvSpPr>
        <p:spPr>
          <a:xfrm>
            <a:off x="200292" y="5212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Bandwidth-preserving servers </a:t>
            </a:r>
            <a:r>
              <a:rPr lang="en-US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second flaw — they keep the reserved budget available until the load actually arrives.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65141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4">
            <a:extLst>
              <a:ext uri="{FF2B5EF4-FFF2-40B4-BE49-F238E27FC236}">
                <a16:creationId xmlns:a16="http://schemas.microsoft.com/office/drawing/2014/main" id="{0EDFD2FD-1BB1-8558-A685-E02CEF70B4B6}"/>
              </a:ext>
            </a:extLst>
          </p:cNvPr>
          <p:cNvSpPr/>
          <p:nvPr/>
        </p:nvSpPr>
        <p:spPr>
          <a:xfrm>
            <a:off x="560832" y="21031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250" dirty="0">
                <a:solidFill>
                  <a:srgbClr val="15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IDEA</a:t>
            </a:r>
            <a:endParaRPr lang="en-US" sz="240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1605BABE-B285-35EF-FFEB-E075A510F3A4}"/>
              </a:ext>
            </a:extLst>
          </p:cNvPr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Preserve the budget — by trading it, not holding it</a:t>
            </a:r>
            <a:endParaRPr lang="en-US" sz="300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CAFDB119-6A61-442A-8B9E-F519071A53AA}"/>
              </a:ext>
            </a:extLst>
          </p:cNvPr>
          <p:cNvSpPr/>
          <p:nvPr/>
        </p:nvSpPr>
        <p:spPr>
          <a:xfrm>
            <a:off x="162197" y="14813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 and the Deferrable Server (DS) solve the same problem in opposite ways.</a:t>
            </a:r>
            <a:endParaRPr lang="en-US" sz="1450" dirty="0"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6A719CD3-053C-0574-3DE8-0F0F67083B6D}"/>
              </a:ext>
            </a:extLst>
          </p:cNvPr>
          <p:cNvSpPr/>
          <p:nvPr/>
        </p:nvSpPr>
        <p:spPr>
          <a:xfrm>
            <a:off x="162197" y="2011680"/>
            <a:ext cx="5257800" cy="2514600"/>
          </a:xfrm>
          <a:prstGeom prst="roundRect">
            <a:avLst>
              <a:gd name="adj" fmla="val 3273"/>
            </a:avLst>
          </a:prstGeom>
          <a:solidFill>
            <a:srgbClr val="EAEFF5"/>
          </a:solidFill>
          <a:ln w="12700">
            <a:solidFill>
              <a:srgbClr val="D8E0E8"/>
            </a:solidFill>
            <a:prstDash val="solid"/>
          </a:ln>
          <a:effectLst>
            <a:outerShdw blurRad="114300" dist="38100" dir="5400000" algn="bl" rotWithShape="0">
              <a:srgbClr val="8499AE">
                <a:alpha val="2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52B76C3C-D123-359F-941F-EF089A104700}"/>
              </a:ext>
            </a:extLst>
          </p:cNvPr>
          <p:cNvSpPr/>
          <p:nvPr/>
        </p:nvSpPr>
        <p:spPr>
          <a:xfrm>
            <a:off x="482237" y="2189986"/>
            <a:ext cx="713232" cy="713232"/>
          </a:xfrm>
          <a:prstGeom prst="ellipse">
            <a:avLst/>
          </a:prstGeom>
          <a:solidFill>
            <a:srgbClr val="42678E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3" name="Image 0" descr="preencoded.png">
            <a:extLst>
              <a:ext uri="{FF2B5EF4-FFF2-40B4-BE49-F238E27FC236}">
                <a16:creationId xmlns:a16="http://schemas.microsoft.com/office/drawing/2014/main" id="{DD0E9663-4FD9-713F-7D4B-1B1E682F78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207" y="2398512"/>
            <a:ext cx="285293" cy="285293"/>
          </a:xfrm>
          <a:prstGeom prst="rect">
            <a:avLst/>
          </a:prstGeom>
        </p:spPr>
      </p:pic>
      <p:sp>
        <p:nvSpPr>
          <p:cNvPr id="14" name="Text 9">
            <a:extLst>
              <a:ext uri="{FF2B5EF4-FFF2-40B4-BE49-F238E27FC236}">
                <a16:creationId xmlns:a16="http://schemas.microsoft.com/office/drawing/2014/main" id="{2A61EEF4-2E0E-3602-AFAA-2D14389CD23C}"/>
              </a:ext>
            </a:extLst>
          </p:cNvPr>
          <p:cNvSpPr/>
          <p:nvPr/>
        </p:nvSpPr>
        <p:spPr>
          <a:xfrm>
            <a:off x="1364633" y="2308642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3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Deferrable Server</a:t>
            </a:r>
            <a:endParaRPr lang="en-US" sz="1900" dirty="0"/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D8501B05-1C0A-4542-160B-E9FFCF1E9C2A}"/>
              </a:ext>
            </a:extLst>
          </p:cNvPr>
          <p:cNvSpPr/>
          <p:nvPr/>
        </p:nvSpPr>
        <p:spPr>
          <a:xfrm>
            <a:off x="482237" y="2971800"/>
            <a:ext cx="4709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b="1" dirty="0">
                <a:solidFill>
                  <a:srgbClr val="4267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</a:t>
            </a:r>
            <a:r>
              <a:rPr lang="en-US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capacity at its high priority until a request uses it.</a:t>
            </a:r>
            <a:endParaRPr lang="en-US" dirty="0"/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Simple; overhead is independent of the task count — but parking capacity at high priority </a:t>
            </a:r>
            <a:r>
              <a:rPr lang="en-US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weakens the utilization bound.</a:t>
            </a:r>
            <a:endParaRPr lang="en-US" dirty="0"/>
          </a:p>
        </p:txBody>
      </p:sp>
      <p:sp>
        <p:nvSpPr>
          <p:cNvPr id="16" name="Shape 11">
            <a:extLst>
              <a:ext uri="{FF2B5EF4-FFF2-40B4-BE49-F238E27FC236}">
                <a16:creationId xmlns:a16="http://schemas.microsoft.com/office/drawing/2014/main" id="{8F4B0671-6164-375D-C4D9-8A6232F72391}"/>
              </a:ext>
            </a:extLst>
          </p:cNvPr>
          <p:cNvSpPr/>
          <p:nvPr/>
        </p:nvSpPr>
        <p:spPr>
          <a:xfrm>
            <a:off x="5968637" y="2011680"/>
            <a:ext cx="5257800" cy="2514600"/>
          </a:xfrm>
          <a:prstGeom prst="roundRect">
            <a:avLst>
              <a:gd name="adj" fmla="val 3273"/>
            </a:avLst>
          </a:prstGeom>
          <a:solidFill>
            <a:srgbClr val="E7F3F1"/>
          </a:solidFill>
          <a:ln w="12700">
            <a:solidFill>
              <a:srgbClr val="D8E0E8"/>
            </a:solidFill>
            <a:prstDash val="solid"/>
          </a:ln>
          <a:effectLst>
            <a:outerShdw blurRad="114300" dist="38100" dir="5400000" algn="bl" rotWithShape="0">
              <a:srgbClr val="8499AE">
                <a:alpha val="2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7" name="Shape 12">
            <a:extLst>
              <a:ext uri="{FF2B5EF4-FFF2-40B4-BE49-F238E27FC236}">
                <a16:creationId xmlns:a16="http://schemas.microsoft.com/office/drawing/2014/main" id="{17BD918A-DA43-26F4-FF8F-DDCEBAA9354A}"/>
              </a:ext>
            </a:extLst>
          </p:cNvPr>
          <p:cNvSpPr/>
          <p:nvPr/>
        </p:nvSpPr>
        <p:spPr>
          <a:xfrm>
            <a:off x="6221665" y="2184542"/>
            <a:ext cx="713232" cy="713232"/>
          </a:xfrm>
          <a:prstGeom prst="ellipse">
            <a:avLst/>
          </a:prstGeom>
          <a:solidFill>
            <a:srgbClr val="159A8C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8" name="Image 1" descr="preencoded.png">
            <a:extLst>
              <a:ext uri="{FF2B5EF4-FFF2-40B4-BE49-F238E27FC236}">
                <a16:creationId xmlns:a16="http://schemas.microsoft.com/office/drawing/2014/main" id="{956E9BE3-526D-29D0-44F9-668C1621BC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5634" y="2403955"/>
            <a:ext cx="285293" cy="285293"/>
          </a:xfrm>
          <a:prstGeom prst="rect">
            <a:avLst/>
          </a:prstGeom>
        </p:spPr>
      </p:pic>
      <p:sp>
        <p:nvSpPr>
          <p:cNvPr id="19" name="Text 13">
            <a:extLst>
              <a:ext uri="{FF2B5EF4-FFF2-40B4-BE49-F238E27FC236}">
                <a16:creationId xmlns:a16="http://schemas.microsoft.com/office/drawing/2014/main" id="{BB5A202F-A046-7832-A628-FDA1EEEDE5C0}"/>
              </a:ext>
            </a:extLst>
          </p:cNvPr>
          <p:cNvSpPr/>
          <p:nvPr/>
        </p:nvSpPr>
        <p:spPr>
          <a:xfrm>
            <a:off x="7111637" y="2308642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3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Priority Exchange</a:t>
            </a:r>
            <a:endParaRPr lang="en-US" sz="1900" dirty="0"/>
          </a:p>
        </p:txBody>
      </p:sp>
      <p:sp>
        <p:nvSpPr>
          <p:cNvPr id="20" name="Text 14">
            <a:extLst>
              <a:ext uri="{FF2B5EF4-FFF2-40B4-BE49-F238E27FC236}">
                <a16:creationId xmlns:a16="http://schemas.microsoft.com/office/drawing/2014/main" id="{1131E198-DE72-B7F6-0E27-D072715D36DB}"/>
              </a:ext>
            </a:extLst>
          </p:cNvPr>
          <p:cNvSpPr/>
          <p:nvPr/>
        </p:nvSpPr>
        <p:spPr>
          <a:xfrm>
            <a:off x="6288677" y="2971800"/>
            <a:ext cx="4709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b="1" dirty="0">
                <a:solidFill>
                  <a:srgbClr val="15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Exchanges </a:t>
            </a:r>
            <a:r>
              <a:rPr lang="en-US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budget for the execution time of the highest-priority pending periodic task.</a:t>
            </a:r>
            <a:endParaRPr lang="en-US" dirty="0"/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task advances; an equal amount of budget is parked at its lower level, degrading step by step and staying </a:t>
            </a:r>
            <a:r>
              <a:rPr lang="en-US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reclaimable.</a:t>
            </a:r>
            <a:endParaRPr lang="en-US" dirty="0"/>
          </a:p>
        </p:txBody>
      </p:sp>
      <p:sp>
        <p:nvSpPr>
          <p:cNvPr id="21" name="Shape 15">
            <a:extLst>
              <a:ext uri="{FF2B5EF4-FFF2-40B4-BE49-F238E27FC236}">
                <a16:creationId xmlns:a16="http://schemas.microsoft.com/office/drawing/2014/main" id="{952D71B1-BC12-6E49-CD1A-A376DD6E8EC2}"/>
              </a:ext>
            </a:extLst>
          </p:cNvPr>
          <p:cNvSpPr/>
          <p:nvPr/>
        </p:nvSpPr>
        <p:spPr>
          <a:xfrm>
            <a:off x="162197" y="489204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1B3A5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2" name="Shape 16">
            <a:extLst>
              <a:ext uri="{FF2B5EF4-FFF2-40B4-BE49-F238E27FC236}">
                <a16:creationId xmlns:a16="http://schemas.microsoft.com/office/drawing/2014/main" id="{094822F3-F054-1204-AF36-1B314F90CDC4}"/>
              </a:ext>
            </a:extLst>
          </p:cNvPr>
          <p:cNvSpPr/>
          <p:nvPr/>
        </p:nvSpPr>
        <p:spPr>
          <a:xfrm>
            <a:off x="454805" y="5138928"/>
            <a:ext cx="548640" cy="548640"/>
          </a:xfrm>
          <a:prstGeom prst="ellipse">
            <a:avLst/>
          </a:prstGeom>
          <a:solidFill>
            <a:srgbClr val="159A8C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23" name="Image 2" descr="preencoded.png">
            <a:extLst>
              <a:ext uri="{FF2B5EF4-FFF2-40B4-BE49-F238E27FC236}">
                <a16:creationId xmlns:a16="http://schemas.microsoft.com/office/drawing/2014/main" id="{83196C7C-3395-D78C-3CC7-C2ABE85883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397" y="5303520"/>
            <a:ext cx="219456" cy="219456"/>
          </a:xfrm>
          <a:prstGeom prst="rect">
            <a:avLst/>
          </a:prstGeom>
        </p:spPr>
      </p:pic>
      <p:sp>
        <p:nvSpPr>
          <p:cNvPr id="24" name="Text 17">
            <a:extLst>
              <a:ext uri="{FF2B5EF4-FFF2-40B4-BE49-F238E27FC236}">
                <a16:creationId xmlns:a16="http://schemas.microsoft.com/office/drawing/2014/main" id="{2848157D-AB30-82F0-D0B7-2799103CBD79}"/>
              </a:ext>
            </a:extLst>
          </p:cNvPr>
          <p:cNvSpPr/>
          <p:nvPr/>
        </p:nvSpPr>
        <p:spPr>
          <a:xfrm>
            <a:off x="1168037" y="4892040"/>
            <a:ext cx="9875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PE never executes above its budget, it behaves like a periodic task</a:t>
            </a:r>
            <a:endParaRPr lang="en-US" dirty="0"/>
          </a:p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it inherits the full rate-monotonic schedulability bound — strictly better than the Deferrable Server.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5414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4">
            <a:extLst>
              <a:ext uri="{FF2B5EF4-FFF2-40B4-BE49-F238E27FC236}">
                <a16:creationId xmlns:a16="http://schemas.microsoft.com/office/drawing/2014/main" id="{E567F8BE-86AC-9943-002B-68BDA4617984}"/>
              </a:ext>
            </a:extLst>
          </p:cNvPr>
          <p:cNvSpPr/>
          <p:nvPr/>
        </p:nvSpPr>
        <p:spPr>
          <a:xfrm>
            <a:off x="474399" y="208353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250" dirty="0">
                <a:solidFill>
                  <a:srgbClr val="15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</a:t>
            </a:r>
            <a:endParaRPr lang="en-US" sz="240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F7475866-DB09-B157-89BC-A22C6A4C8AEF}"/>
              </a:ext>
            </a:extLst>
          </p:cNvPr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rules govern the server</a:t>
            </a:r>
            <a:endParaRPr lang="en-US" sz="3000" dirty="0"/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DCB6C8E9-0C48-8408-B027-680720AB2B1B}"/>
              </a:ext>
            </a:extLst>
          </p:cNvPr>
          <p:cNvSpPr/>
          <p:nvPr/>
        </p:nvSpPr>
        <p:spPr>
          <a:xfrm>
            <a:off x="151311" y="1828800"/>
            <a:ext cx="11064240" cy="1051560"/>
          </a:xfrm>
          <a:prstGeom prst="roundRect">
            <a:avLst>
              <a:gd name="adj" fmla="val 7826"/>
            </a:avLst>
          </a:prstGeom>
          <a:solidFill>
            <a:srgbClr val="F2F5F8"/>
          </a:solidFill>
          <a:ln w="12700">
            <a:solidFill>
              <a:srgbClr val="D8E0E8"/>
            </a:solidFill>
            <a:prstDash val="solid"/>
          </a:ln>
          <a:effectLst>
            <a:outerShdw blurRad="114300" dist="38100" dir="5400000" algn="bl" rotWithShape="0">
              <a:srgbClr val="8499AE">
                <a:alpha val="2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778E4409-522A-B556-A926-4BD0726073A2}"/>
              </a:ext>
            </a:extLst>
          </p:cNvPr>
          <p:cNvSpPr/>
          <p:nvPr/>
        </p:nvSpPr>
        <p:spPr>
          <a:xfrm>
            <a:off x="471351" y="2034540"/>
            <a:ext cx="640080" cy="640080"/>
          </a:xfrm>
          <a:prstGeom prst="ellipse">
            <a:avLst/>
          </a:prstGeom>
          <a:solidFill>
            <a:srgbClr val="1B3A5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C018041F-A2FD-FCD6-5437-140689BE2F29}"/>
              </a:ext>
            </a:extLst>
          </p:cNvPr>
          <p:cNvSpPr/>
          <p:nvPr/>
        </p:nvSpPr>
        <p:spPr>
          <a:xfrm>
            <a:off x="471351" y="20345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0E610528-898C-DEA9-7711-7B74A9A63D50}"/>
              </a:ext>
            </a:extLst>
          </p:cNvPr>
          <p:cNvSpPr/>
          <p:nvPr/>
        </p:nvSpPr>
        <p:spPr>
          <a:xfrm>
            <a:off x="1385751" y="1975104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Replenish</a:t>
            </a:r>
            <a:endParaRPr lang="en-US" sz="2000" dirty="0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920CB1EA-A970-16FC-BC90-F577B57845FE}"/>
              </a:ext>
            </a:extLst>
          </p:cNvPr>
          <p:cNvSpPr/>
          <p:nvPr/>
        </p:nvSpPr>
        <p:spPr>
          <a:xfrm>
            <a:off x="1385751" y="2395728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start of each server period, the capacity is reset to its full value Cs.</a:t>
            </a:r>
            <a:endParaRPr lang="en-US" dirty="0"/>
          </a:p>
        </p:txBody>
      </p:sp>
      <p:sp>
        <p:nvSpPr>
          <p:cNvPr id="15" name="Shape 11">
            <a:extLst>
              <a:ext uri="{FF2B5EF4-FFF2-40B4-BE49-F238E27FC236}">
                <a16:creationId xmlns:a16="http://schemas.microsoft.com/office/drawing/2014/main" id="{924CC6D6-C8E1-0F9D-EF2C-B18406538C07}"/>
              </a:ext>
            </a:extLst>
          </p:cNvPr>
          <p:cNvSpPr/>
          <p:nvPr/>
        </p:nvSpPr>
        <p:spPr>
          <a:xfrm>
            <a:off x="151311" y="3081528"/>
            <a:ext cx="11064240" cy="1600200"/>
          </a:xfrm>
          <a:prstGeom prst="roundRect">
            <a:avLst>
              <a:gd name="adj" fmla="val 5143"/>
            </a:avLst>
          </a:prstGeom>
          <a:solidFill>
            <a:srgbClr val="E7F3F1"/>
          </a:solidFill>
          <a:ln w="12700">
            <a:solidFill>
              <a:srgbClr val="D8E0E8"/>
            </a:solidFill>
            <a:prstDash val="solid"/>
          </a:ln>
          <a:effectLst>
            <a:outerShdw blurRad="114300" dist="38100" dir="5400000" algn="bl" rotWithShape="0">
              <a:srgbClr val="8499AE">
                <a:alpha val="2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A7E200B7-D499-8433-61C3-ECB58C0E798D}"/>
              </a:ext>
            </a:extLst>
          </p:cNvPr>
          <p:cNvSpPr/>
          <p:nvPr/>
        </p:nvSpPr>
        <p:spPr>
          <a:xfrm>
            <a:off x="471351" y="3561588"/>
            <a:ext cx="640080" cy="640080"/>
          </a:xfrm>
          <a:prstGeom prst="ellipse">
            <a:avLst/>
          </a:prstGeom>
          <a:solidFill>
            <a:srgbClr val="159A8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D2D61BFC-1DCF-604B-05CD-CF9FDDC09BAC}"/>
              </a:ext>
            </a:extLst>
          </p:cNvPr>
          <p:cNvSpPr/>
          <p:nvPr/>
        </p:nvSpPr>
        <p:spPr>
          <a:xfrm>
            <a:off x="471351" y="35615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22087DD1-616D-A46F-6759-60C47211CBCA}"/>
              </a:ext>
            </a:extLst>
          </p:cNvPr>
          <p:cNvSpPr/>
          <p:nvPr/>
        </p:nvSpPr>
        <p:spPr>
          <a:xfrm>
            <a:off x="1385751" y="3227832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Serve, or exchange</a:t>
            </a:r>
            <a:endParaRPr lang="en-US" sz="2000" dirty="0"/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4D70776B-C9C0-F0FE-F7A1-151A54EAC9AC}"/>
              </a:ext>
            </a:extLst>
          </p:cNvPr>
          <p:cNvSpPr/>
          <p:nvPr/>
        </p:nvSpPr>
        <p:spPr>
          <a:xfrm>
            <a:off x="1385751" y="3648456"/>
            <a:ext cx="9601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every scheduling instant the highest-priority entity runs. If an aperiodic request is pending and the budget sits on top, serve it. Otherwise, exchange the budget with the highest-priority active periodic task — the task runs, and an equal budget is parked at its level.</a:t>
            </a:r>
            <a:endParaRPr lang="en-US" dirty="0"/>
          </a:p>
        </p:txBody>
      </p:sp>
      <p:sp>
        <p:nvSpPr>
          <p:cNvPr id="20" name="Shape 16">
            <a:extLst>
              <a:ext uri="{FF2B5EF4-FFF2-40B4-BE49-F238E27FC236}">
                <a16:creationId xmlns:a16="http://schemas.microsoft.com/office/drawing/2014/main" id="{1CED54F6-46ED-6292-E29D-628189925521}"/>
              </a:ext>
            </a:extLst>
          </p:cNvPr>
          <p:cNvSpPr/>
          <p:nvPr/>
        </p:nvSpPr>
        <p:spPr>
          <a:xfrm>
            <a:off x="151311" y="4882896"/>
            <a:ext cx="11064240" cy="1097280"/>
          </a:xfrm>
          <a:prstGeom prst="roundRect">
            <a:avLst>
              <a:gd name="adj" fmla="val 7500"/>
            </a:avLst>
          </a:prstGeom>
          <a:solidFill>
            <a:srgbClr val="F2F5F8"/>
          </a:solidFill>
          <a:ln w="12700">
            <a:solidFill>
              <a:srgbClr val="D8E0E8"/>
            </a:solidFill>
            <a:prstDash val="solid"/>
          </a:ln>
          <a:effectLst>
            <a:outerShdw blurRad="114300" dist="38100" dir="5400000" algn="bl" rotWithShape="0">
              <a:srgbClr val="8499AE">
                <a:alpha val="2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1" name="Shape 17">
            <a:extLst>
              <a:ext uri="{FF2B5EF4-FFF2-40B4-BE49-F238E27FC236}">
                <a16:creationId xmlns:a16="http://schemas.microsoft.com/office/drawing/2014/main" id="{FE468E4B-680E-878F-A09A-856899EBFF30}"/>
              </a:ext>
            </a:extLst>
          </p:cNvPr>
          <p:cNvSpPr/>
          <p:nvPr/>
        </p:nvSpPr>
        <p:spPr>
          <a:xfrm>
            <a:off x="471351" y="5111496"/>
            <a:ext cx="640080" cy="640080"/>
          </a:xfrm>
          <a:prstGeom prst="ellipse">
            <a:avLst/>
          </a:prstGeom>
          <a:solidFill>
            <a:srgbClr val="1B3A5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2" name="Text 18">
            <a:extLst>
              <a:ext uri="{FF2B5EF4-FFF2-40B4-BE49-F238E27FC236}">
                <a16:creationId xmlns:a16="http://schemas.microsoft.com/office/drawing/2014/main" id="{04363901-A503-0272-8F6C-039D37537290}"/>
              </a:ext>
            </a:extLst>
          </p:cNvPr>
          <p:cNvSpPr/>
          <p:nvPr/>
        </p:nvSpPr>
        <p:spPr>
          <a:xfrm>
            <a:off x="471351" y="511149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B5AC8CDE-0034-E09A-97CD-138410E0CD58}"/>
              </a:ext>
            </a:extLst>
          </p:cNvPr>
          <p:cNvSpPr/>
          <p:nvPr/>
        </p:nvSpPr>
        <p:spPr>
          <a:xfrm>
            <a:off x="1385751" y="502920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Degrade only at idle</a:t>
            </a:r>
            <a:endParaRPr lang="en-US" sz="2000" dirty="0"/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6691D7C7-30BF-2992-80F1-80341997166F}"/>
              </a:ext>
            </a:extLst>
          </p:cNvPr>
          <p:cNvSpPr/>
          <p:nvPr/>
        </p:nvSpPr>
        <p:spPr>
          <a:xfrm>
            <a:off x="1385751" y="5449824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 aperiodic request and no periodic job can use the budget, it is gradually discarded — but solely when the processor would otherwise sit idle.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16022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4">
            <a:extLst>
              <a:ext uri="{FF2B5EF4-FFF2-40B4-BE49-F238E27FC236}">
                <a16:creationId xmlns:a16="http://schemas.microsoft.com/office/drawing/2014/main" id="{5E6C0874-C8A6-27A4-60D9-C6A16B309B70}"/>
              </a:ext>
            </a:extLst>
          </p:cNvPr>
          <p:cNvSpPr/>
          <p:nvPr/>
        </p:nvSpPr>
        <p:spPr>
          <a:xfrm>
            <a:off x="151312" y="219456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250" dirty="0">
                <a:solidFill>
                  <a:srgbClr val="15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240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75569D72-7E0A-AF1F-EE7F-F353C8F4D4FC}"/>
              </a:ext>
            </a:extLst>
          </p:cNvPr>
          <p:cNvSpPr/>
          <p:nvPr/>
        </p:nvSpPr>
        <p:spPr>
          <a:xfrm>
            <a:off x="151312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Following the budget through one hyperperiod</a:t>
            </a:r>
            <a:endParaRPr lang="en-US" sz="300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3F1673C5-42FC-E9AD-FD50-ADCDAEC9E880}"/>
              </a:ext>
            </a:extLst>
          </p:cNvPr>
          <p:cNvSpPr/>
          <p:nvPr/>
        </p:nvSpPr>
        <p:spPr>
          <a:xfrm>
            <a:off x="151312" y="1463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= 1,  Ts = 5</a:t>
            </a:r>
            <a:r>
              <a:rPr lang="en-US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τ1 = (2, 10),  τ2 = (6, 20)   ·   generated and checked by a unit-time simulator</a:t>
            </a:r>
            <a:endParaRPr lang="en-US" dirty="0"/>
          </a:p>
        </p:txBody>
      </p:sp>
      <p:pic>
        <p:nvPicPr>
          <p:cNvPr id="11" name="Image 0" descr="/home/claude/pe_deck/img/gantt.png">
            <a:extLst>
              <a:ext uri="{FF2B5EF4-FFF2-40B4-BE49-F238E27FC236}">
                <a16:creationId xmlns:a16="http://schemas.microsoft.com/office/drawing/2014/main" id="{5A5B8D35-F3BE-EB66-A6D4-BC390D9F0D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8592" y="1755648"/>
            <a:ext cx="8869680" cy="3207340"/>
          </a:xfrm>
          <a:prstGeom prst="rect">
            <a:avLst/>
          </a:prstGeom>
        </p:spPr>
      </p:pic>
      <p:sp>
        <p:nvSpPr>
          <p:cNvPr id="12" name="Shape 7">
            <a:extLst>
              <a:ext uri="{FF2B5EF4-FFF2-40B4-BE49-F238E27FC236}">
                <a16:creationId xmlns:a16="http://schemas.microsoft.com/office/drawing/2014/main" id="{FF758AC5-293F-0E63-5B07-3D03D6F691E2}"/>
              </a:ext>
            </a:extLst>
          </p:cNvPr>
          <p:cNvSpPr/>
          <p:nvPr/>
        </p:nvSpPr>
        <p:spPr>
          <a:xfrm>
            <a:off x="151312" y="5074920"/>
            <a:ext cx="2670048" cy="713232"/>
          </a:xfrm>
          <a:prstGeom prst="roundRect">
            <a:avLst>
              <a:gd name="adj" fmla="val 8974"/>
            </a:avLst>
          </a:prstGeom>
          <a:solidFill>
            <a:srgbClr val="F2F5F8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914D4C56-90F3-A894-CB99-CE84B53476B3}"/>
              </a:ext>
            </a:extLst>
          </p:cNvPr>
          <p:cNvSpPr/>
          <p:nvPr/>
        </p:nvSpPr>
        <p:spPr>
          <a:xfrm>
            <a:off x="315904" y="5074920"/>
            <a:ext cx="23957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5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0   </a:t>
            </a: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exchanged with τ1</a:t>
            </a:r>
            <a:endParaRPr lang="en-US" sz="2000" dirty="0"/>
          </a:p>
        </p:txBody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9FBFD859-728A-5D19-F7C4-AACF22B843E9}"/>
              </a:ext>
            </a:extLst>
          </p:cNvPr>
          <p:cNvSpPr/>
          <p:nvPr/>
        </p:nvSpPr>
        <p:spPr>
          <a:xfrm>
            <a:off x="2885368" y="5074920"/>
            <a:ext cx="2670048" cy="713232"/>
          </a:xfrm>
          <a:prstGeom prst="roundRect">
            <a:avLst>
              <a:gd name="adj" fmla="val 8974"/>
            </a:avLst>
          </a:prstGeom>
          <a:solidFill>
            <a:srgbClr val="F2F5F8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F933012D-7BDF-55D3-8C46-AB5934D84A9C}"/>
              </a:ext>
            </a:extLst>
          </p:cNvPr>
          <p:cNvSpPr/>
          <p:nvPr/>
        </p:nvSpPr>
        <p:spPr>
          <a:xfrm>
            <a:off x="3049960" y="5074920"/>
            <a:ext cx="23957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5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5   </a:t>
            </a: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J1 served at once, top priority</a:t>
            </a:r>
            <a:endParaRPr lang="en-US" sz="2000" dirty="0"/>
          </a:p>
        </p:txBody>
      </p:sp>
      <p:sp>
        <p:nvSpPr>
          <p:cNvPr id="16" name="Shape 11">
            <a:extLst>
              <a:ext uri="{FF2B5EF4-FFF2-40B4-BE49-F238E27FC236}">
                <a16:creationId xmlns:a16="http://schemas.microsoft.com/office/drawing/2014/main" id="{D726CCB9-214E-B07E-351B-7BBCED710731}"/>
              </a:ext>
            </a:extLst>
          </p:cNvPr>
          <p:cNvSpPr/>
          <p:nvPr/>
        </p:nvSpPr>
        <p:spPr>
          <a:xfrm>
            <a:off x="5619424" y="5074920"/>
            <a:ext cx="2670048" cy="713232"/>
          </a:xfrm>
          <a:prstGeom prst="roundRect">
            <a:avLst>
              <a:gd name="adj" fmla="val 8974"/>
            </a:avLst>
          </a:prstGeom>
          <a:solidFill>
            <a:srgbClr val="F2F5F8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AD11A60D-0D4C-1F29-6938-B4E81E196BED}"/>
              </a:ext>
            </a:extLst>
          </p:cNvPr>
          <p:cNvSpPr/>
          <p:nvPr/>
        </p:nvSpPr>
        <p:spPr>
          <a:xfrm>
            <a:off x="5784016" y="5074920"/>
            <a:ext cx="23957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E26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9   </a:t>
            </a: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discarded — at idle</a:t>
            </a:r>
            <a:endParaRPr lang="en-US" sz="2000" dirty="0"/>
          </a:p>
        </p:txBody>
      </p:sp>
      <p:sp>
        <p:nvSpPr>
          <p:cNvPr id="18" name="Shape 13">
            <a:extLst>
              <a:ext uri="{FF2B5EF4-FFF2-40B4-BE49-F238E27FC236}">
                <a16:creationId xmlns:a16="http://schemas.microsoft.com/office/drawing/2014/main" id="{FF508699-028E-A3CF-4AF3-5014E731BB0E}"/>
              </a:ext>
            </a:extLst>
          </p:cNvPr>
          <p:cNvSpPr/>
          <p:nvPr/>
        </p:nvSpPr>
        <p:spPr>
          <a:xfrm>
            <a:off x="8353480" y="5074920"/>
            <a:ext cx="2670048" cy="713232"/>
          </a:xfrm>
          <a:prstGeom prst="roundRect">
            <a:avLst>
              <a:gd name="adj" fmla="val 8974"/>
            </a:avLst>
          </a:prstGeom>
          <a:solidFill>
            <a:srgbClr val="F2F5F8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Text 14">
            <a:extLst>
              <a:ext uri="{FF2B5EF4-FFF2-40B4-BE49-F238E27FC236}">
                <a16:creationId xmlns:a16="http://schemas.microsoft.com/office/drawing/2014/main" id="{87AEFB90-22E5-21BF-5024-743A6B5A670A}"/>
              </a:ext>
            </a:extLst>
          </p:cNvPr>
          <p:cNvSpPr/>
          <p:nvPr/>
        </p:nvSpPr>
        <p:spPr>
          <a:xfrm>
            <a:off x="8518072" y="5074920"/>
            <a:ext cx="23957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5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12   </a:t>
            </a: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J2 served from reclaimed budget</a:t>
            </a:r>
            <a:endParaRPr lang="en-US" sz="2000" dirty="0"/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9B99A84C-67F8-638F-FCC2-FB2F0C7A76CD}"/>
              </a:ext>
            </a:extLst>
          </p:cNvPr>
          <p:cNvSpPr/>
          <p:nvPr/>
        </p:nvSpPr>
        <p:spPr>
          <a:xfrm>
            <a:off x="151312" y="5943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26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property:  </a:t>
            </a: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reserved time is lost only at a genuine idle instant (t = 9) — never merely because a request happened to be absent.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8419407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4">
            <a:extLst>
              <a:ext uri="{FF2B5EF4-FFF2-40B4-BE49-F238E27FC236}">
                <a16:creationId xmlns:a16="http://schemas.microsoft.com/office/drawing/2014/main" id="{C48227AB-75F6-BEE6-2BB3-0C624A15F53D}"/>
              </a:ext>
            </a:extLst>
          </p:cNvPr>
          <p:cNvSpPr/>
          <p:nvPr/>
        </p:nvSpPr>
        <p:spPr>
          <a:xfrm>
            <a:off x="381871" y="21031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50" dirty="0">
                <a:solidFill>
                  <a:srgbClr val="15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SCHEDULABILITY · FIXED PRIORITY</a:t>
            </a:r>
            <a:endParaRPr lang="en-US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FCE7786B-C819-662C-CF32-78C415A1EB71}"/>
              </a:ext>
            </a:extLst>
          </p:cNvPr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 earns the full periodic bound</a:t>
            </a:r>
            <a:endParaRPr lang="en-US" sz="300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380491AD-90FA-DE56-AF0A-CCD8F4645196}"/>
              </a:ext>
            </a:extLst>
          </p:cNvPr>
          <p:cNvSpPr/>
          <p:nvPr/>
        </p:nvSpPr>
        <p:spPr>
          <a:xfrm>
            <a:off x="222064" y="1691640"/>
            <a:ext cx="5074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worst case a PE server behaves exactly like a periodic task: </a:t>
            </a:r>
            <a:r>
              <a:rPr lang="en-US" b="1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unit it spends at high priority is either aperiodic work paid from its budget, or periodic work merely advanced.</a:t>
            </a:r>
            <a:endParaRPr lang="en-US" dirty="0"/>
          </a:p>
          <a:p>
            <a:pPr marL="0" indent="0">
              <a:lnSpc>
                <a:spcPct val="125000"/>
              </a:lnSpc>
              <a:buNone/>
            </a:pPr>
            <a:endParaRPr lang="en-US" dirty="0"/>
          </a:p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it inherits the rate-monotonic utilization bound — the same as the Polling Server, and </a:t>
            </a:r>
            <a:endParaRPr lang="en-US" dirty="0"/>
          </a:p>
          <a:p>
            <a:pPr marL="0" indent="0">
              <a:lnSpc>
                <a:spcPct val="125000"/>
              </a:lnSpc>
              <a:buNone/>
            </a:pPr>
            <a:r>
              <a:rPr lang="en-US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strictly better than the Deferrable Server.</a:t>
            </a:r>
            <a:endParaRPr lang="en-US" dirty="0"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10D3BB2A-73DF-7BA5-317F-265B67A1B28D}"/>
              </a:ext>
            </a:extLst>
          </p:cNvPr>
          <p:cNvSpPr/>
          <p:nvPr/>
        </p:nvSpPr>
        <p:spPr>
          <a:xfrm>
            <a:off x="5617024" y="1691640"/>
            <a:ext cx="5669280" cy="3246120"/>
          </a:xfrm>
          <a:prstGeom prst="roundRect">
            <a:avLst>
              <a:gd name="adj" fmla="val 2817"/>
            </a:avLst>
          </a:prstGeom>
          <a:solidFill>
            <a:srgbClr val="0E223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36713867-D2A0-0034-7157-332E4E707612}"/>
              </a:ext>
            </a:extLst>
          </p:cNvPr>
          <p:cNvSpPr/>
          <p:nvPr/>
        </p:nvSpPr>
        <p:spPr>
          <a:xfrm>
            <a:off x="6028504" y="19202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15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UPPER BOUND</a:t>
            </a:r>
            <a:endParaRPr lang="en-US" dirty="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A00DAA69-4990-3EF0-2FD3-AC363E20D7D4}"/>
              </a:ext>
            </a:extLst>
          </p:cNvPr>
          <p:cNvSpPr/>
          <p:nvPr/>
        </p:nvSpPr>
        <p:spPr>
          <a:xfrm>
            <a:off x="6028504" y="219456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</a:t>
            </a:r>
            <a:r>
              <a:rPr lang="en-US" sz="2300" baseline="-40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lub</a:t>
            </a:r>
            <a:r>
              <a:rPr lang="en-US" sz="23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U</a:t>
            </a:r>
            <a:r>
              <a:rPr lang="en-US" sz="2300" baseline="-40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r>
              <a:rPr lang="en-US" sz="23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n ( K</a:t>
            </a:r>
            <a:r>
              <a:rPr lang="en-US" sz="2300" baseline="30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1/n</a:t>
            </a:r>
            <a:r>
              <a:rPr lang="en-US" sz="23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− 1 )</a:t>
            </a:r>
            <a:endParaRPr lang="en-US" sz="2300" dirty="0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D4325C2C-1C21-5984-FB31-BE4B38B0F2DF}"/>
              </a:ext>
            </a:extLst>
          </p:cNvPr>
          <p:cNvSpPr/>
          <p:nvPr/>
        </p:nvSpPr>
        <p:spPr>
          <a:xfrm>
            <a:off x="6028504" y="27432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7D6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  K = 2 / ( U</a:t>
            </a:r>
            <a:r>
              <a:rPr lang="en-US" sz="1600" baseline="-40000" dirty="0">
                <a:solidFill>
                  <a:srgbClr val="C7D6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r>
              <a:rPr lang="en-US" sz="1600" dirty="0">
                <a:solidFill>
                  <a:srgbClr val="C7D6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+ 1 )</a:t>
            </a:r>
            <a:endParaRPr lang="en-US" sz="1600" dirty="0"/>
          </a:p>
        </p:txBody>
      </p:sp>
      <p:sp>
        <p:nvSpPr>
          <p:cNvPr id="15" name="Shape 11">
            <a:extLst>
              <a:ext uri="{FF2B5EF4-FFF2-40B4-BE49-F238E27FC236}">
                <a16:creationId xmlns:a16="http://schemas.microsoft.com/office/drawing/2014/main" id="{01F9C636-31A8-CAC1-7608-BA3B151835CA}"/>
              </a:ext>
            </a:extLst>
          </p:cNvPr>
          <p:cNvSpPr/>
          <p:nvPr/>
        </p:nvSpPr>
        <p:spPr>
          <a:xfrm>
            <a:off x="6028504" y="3310128"/>
            <a:ext cx="4846320" cy="0"/>
          </a:xfrm>
          <a:prstGeom prst="line">
            <a:avLst/>
          </a:prstGeom>
          <a:noFill/>
          <a:ln w="12700">
            <a:solidFill>
              <a:srgbClr val="42678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311F5D86-9995-17F3-A2AA-67D08B987DD2}"/>
              </a:ext>
            </a:extLst>
          </p:cNvPr>
          <p:cNvSpPr/>
          <p:nvPr/>
        </p:nvSpPr>
        <p:spPr>
          <a:xfrm>
            <a:off x="6028504" y="345643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15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  (schedulable under RM)</a:t>
            </a:r>
            <a:endParaRPr lang="en-US" dirty="0"/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534F8BD2-3C80-ED28-21E5-56E80657D3B1}"/>
              </a:ext>
            </a:extLst>
          </p:cNvPr>
          <p:cNvSpPr/>
          <p:nvPr/>
        </p:nvSpPr>
        <p:spPr>
          <a:xfrm>
            <a:off x="6028504" y="3730752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</a:t>
            </a:r>
            <a:r>
              <a:rPr lang="en-US" sz="2200" baseline="-40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≤ n [ ( 2 / (U</a:t>
            </a:r>
            <a:r>
              <a:rPr lang="en-US" sz="2200" baseline="-40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+1) )</a:t>
            </a:r>
            <a:r>
              <a:rPr lang="en-US" sz="2200" baseline="30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1/n</a:t>
            </a: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− 1 ]</a:t>
            </a:r>
            <a:endParaRPr lang="en-US" sz="2200" dirty="0"/>
          </a:p>
        </p:txBody>
      </p:sp>
      <p:sp>
        <p:nvSpPr>
          <p:cNvPr id="18" name="Shape 14">
            <a:extLst>
              <a:ext uri="{FF2B5EF4-FFF2-40B4-BE49-F238E27FC236}">
                <a16:creationId xmlns:a16="http://schemas.microsoft.com/office/drawing/2014/main" id="{2D3E3C94-9E2F-13EA-6C0A-33BE5C2E2892}"/>
              </a:ext>
            </a:extLst>
          </p:cNvPr>
          <p:cNvSpPr/>
          <p:nvPr/>
        </p:nvSpPr>
        <p:spPr>
          <a:xfrm>
            <a:off x="222064" y="5120640"/>
            <a:ext cx="5440680" cy="914400"/>
          </a:xfrm>
          <a:prstGeom prst="roundRect">
            <a:avLst>
              <a:gd name="adj" fmla="val 8000"/>
            </a:avLst>
          </a:prstGeom>
          <a:solidFill>
            <a:srgbClr val="E7F3F1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476143D8-35BA-A0EF-3D1C-08876918003F}"/>
              </a:ext>
            </a:extLst>
          </p:cNvPr>
          <p:cNvSpPr/>
          <p:nvPr/>
        </p:nvSpPr>
        <p:spPr>
          <a:xfrm>
            <a:off x="450664" y="512064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5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Us → 0   </a:t>
            </a:r>
            <a:r>
              <a:rPr lang="en-US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bound reduces to Liu &amp; Layland's  n(2</a:t>
            </a:r>
            <a:r>
              <a:rPr lang="en-US" baseline="300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1/n</a:t>
            </a:r>
            <a:r>
              <a:rPr lang="en-US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−1).</a:t>
            </a:r>
            <a:endParaRPr lang="en-US" dirty="0"/>
          </a:p>
        </p:txBody>
      </p:sp>
      <p:sp>
        <p:nvSpPr>
          <p:cNvPr id="20" name="Shape 16">
            <a:extLst>
              <a:ext uri="{FF2B5EF4-FFF2-40B4-BE49-F238E27FC236}">
                <a16:creationId xmlns:a16="http://schemas.microsoft.com/office/drawing/2014/main" id="{2476E14F-993E-C87B-3A20-C702D1EFCD8C}"/>
              </a:ext>
            </a:extLst>
          </p:cNvPr>
          <p:cNvSpPr/>
          <p:nvPr/>
        </p:nvSpPr>
        <p:spPr>
          <a:xfrm>
            <a:off x="5845624" y="5120640"/>
            <a:ext cx="5440680" cy="914400"/>
          </a:xfrm>
          <a:prstGeom prst="roundRect">
            <a:avLst>
              <a:gd name="adj" fmla="val 8000"/>
            </a:avLst>
          </a:prstGeom>
          <a:solidFill>
            <a:srgbClr val="F2F5F8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F4DD969A-FB70-57AE-6ECB-FBFD7C2A0570}"/>
              </a:ext>
            </a:extLst>
          </p:cNvPr>
          <p:cNvSpPr/>
          <p:nvPr/>
        </p:nvSpPr>
        <p:spPr>
          <a:xfrm>
            <a:off x="6074224" y="512064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n:   </a:t>
            </a:r>
            <a:r>
              <a:rPr lang="en-US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non-trivial fraction of the processor can still be reserved for aperiodic service.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96453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4">
            <a:extLst>
              <a:ext uri="{FF2B5EF4-FFF2-40B4-BE49-F238E27FC236}">
                <a16:creationId xmlns:a16="http://schemas.microsoft.com/office/drawing/2014/main" id="{ED4B575F-01E1-8B66-714E-C9208C4EDEED}"/>
              </a:ext>
            </a:extLst>
          </p:cNvPr>
          <p:cNvSpPr/>
          <p:nvPr/>
        </p:nvSpPr>
        <p:spPr>
          <a:xfrm>
            <a:off x="140427" y="194767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50" dirty="0">
                <a:solidFill>
                  <a:srgbClr val="15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PRIORITY · EDF</a:t>
            </a:r>
            <a:endParaRPr lang="en-US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940B9E3B-CF52-7198-3903-71CDB419792D}"/>
              </a:ext>
            </a:extLst>
          </p:cNvPr>
          <p:cNvSpPr/>
          <p:nvPr/>
        </p:nvSpPr>
        <p:spPr>
          <a:xfrm>
            <a:off x="140427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idea, carried into EDF</a:t>
            </a:r>
            <a:endParaRPr lang="en-US" sz="300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A12750CB-F014-3A48-B959-FBF05EEC7E3C}"/>
              </a:ext>
            </a:extLst>
          </p:cNvPr>
          <p:cNvSpPr/>
          <p:nvPr/>
        </p:nvSpPr>
        <p:spPr>
          <a:xfrm>
            <a:off x="140427" y="14813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earliest-deadline-first the budget is tagged with a deadline and exchanged the same way.</a:t>
            </a:r>
            <a:endParaRPr lang="en-US" dirty="0"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7B35761E-6A49-B102-CAF6-A617EF0349F0}"/>
              </a:ext>
            </a:extLst>
          </p:cNvPr>
          <p:cNvSpPr/>
          <p:nvPr/>
        </p:nvSpPr>
        <p:spPr>
          <a:xfrm>
            <a:off x="140427" y="2011680"/>
            <a:ext cx="5257800" cy="2697480"/>
          </a:xfrm>
          <a:prstGeom prst="roundRect">
            <a:avLst>
              <a:gd name="adj" fmla="val 3051"/>
            </a:avLst>
          </a:prstGeom>
          <a:solidFill>
            <a:srgbClr val="E7F3F1"/>
          </a:solidFill>
          <a:ln w="12700">
            <a:solidFill>
              <a:srgbClr val="D8E0E8"/>
            </a:solidFill>
            <a:prstDash val="solid"/>
          </a:ln>
          <a:effectLst>
            <a:outerShdw blurRad="114300" dist="38100" dir="5400000" algn="bl" rotWithShape="0">
              <a:srgbClr val="8499AE">
                <a:alpha val="2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14AB8EC5-62A0-7C0C-7336-51B72D5E517B}"/>
              </a:ext>
            </a:extLst>
          </p:cNvPr>
          <p:cNvSpPr/>
          <p:nvPr/>
        </p:nvSpPr>
        <p:spPr>
          <a:xfrm>
            <a:off x="460467" y="2304288"/>
            <a:ext cx="713232" cy="713232"/>
          </a:xfrm>
          <a:prstGeom prst="ellipse">
            <a:avLst/>
          </a:prstGeom>
          <a:solidFill>
            <a:srgbClr val="159A8C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3" name="Image 0" descr="preencoded.png">
            <a:extLst>
              <a:ext uri="{FF2B5EF4-FFF2-40B4-BE49-F238E27FC236}">
                <a16:creationId xmlns:a16="http://schemas.microsoft.com/office/drawing/2014/main" id="{5147AE11-4529-AA49-7786-AFD334DC30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437" y="2518258"/>
            <a:ext cx="285293" cy="285293"/>
          </a:xfrm>
          <a:prstGeom prst="rect">
            <a:avLst/>
          </a:prstGeom>
        </p:spPr>
      </p:pic>
      <p:sp>
        <p:nvSpPr>
          <p:cNvPr id="14" name="Text 9">
            <a:extLst>
              <a:ext uri="{FF2B5EF4-FFF2-40B4-BE49-F238E27FC236}">
                <a16:creationId xmlns:a16="http://schemas.microsoft.com/office/drawing/2014/main" id="{6FDA9E11-2E24-1B8F-F3CF-9D9C60B62292}"/>
              </a:ext>
            </a:extLst>
          </p:cNvPr>
          <p:cNvSpPr/>
          <p:nvPr/>
        </p:nvSpPr>
        <p:spPr>
          <a:xfrm>
            <a:off x="1347435" y="2359152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3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 Priority Exchange</a:t>
            </a:r>
            <a:endParaRPr lang="en-US" sz="1800" dirty="0"/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2E0B012C-9F55-8A77-5748-F3B0C2C0B8F2}"/>
              </a:ext>
            </a:extLst>
          </p:cNvPr>
          <p:cNvSpPr/>
          <p:nvPr/>
        </p:nvSpPr>
        <p:spPr>
          <a:xfrm>
            <a:off x="460467" y="310896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Spuri &amp; Buttazzo.  </a:t>
            </a:r>
            <a:r>
              <a:rPr lang="en-US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server trades runtime with lower-priority periodic tasks; freed capacity is re-tagged with the matching deadline.</a:t>
            </a:r>
            <a:endParaRPr lang="en-US" dirty="0"/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5E274FC1-B395-E82F-1315-18770873E43D}"/>
              </a:ext>
            </a:extLst>
          </p:cNvPr>
          <p:cNvSpPr/>
          <p:nvPr/>
        </p:nvSpPr>
        <p:spPr>
          <a:xfrm>
            <a:off x="460467" y="4096512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bound   </a:t>
            </a:r>
            <a:r>
              <a:rPr lang="en-US" b="1" dirty="0">
                <a:solidFill>
                  <a:srgbClr val="15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+ Us ≤ 1</a:t>
            </a:r>
            <a:r>
              <a:rPr lang="en-US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 Supports resource reclaiming.</a:t>
            </a:r>
            <a:endParaRPr lang="en-US" dirty="0"/>
          </a:p>
        </p:txBody>
      </p:sp>
      <p:sp>
        <p:nvSpPr>
          <p:cNvPr id="17" name="Shape 12">
            <a:extLst>
              <a:ext uri="{FF2B5EF4-FFF2-40B4-BE49-F238E27FC236}">
                <a16:creationId xmlns:a16="http://schemas.microsoft.com/office/drawing/2014/main" id="{40BCB45C-6150-532D-D85B-51ED03D366C1}"/>
              </a:ext>
            </a:extLst>
          </p:cNvPr>
          <p:cNvSpPr/>
          <p:nvPr/>
        </p:nvSpPr>
        <p:spPr>
          <a:xfrm>
            <a:off x="5946867" y="2011680"/>
            <a:ext cx="5257800" cy="2697480"/>
          </a:xfrm>
          <a:prstGeom prst="roundRect">
            <a:avLst>
              <a:gd name="adj" fmla="val 3051"/>
            </a:avLst>
          </a:prstGeom>
          <a:solidFill>
            <a:srgbClr val="F2F5F8"/>
          </a:solidFill>
          <a:ln w="12700">
            <a:solidFill>
              <a:srgbClr val="D8E0E8"/>
            </a:solidFill>
            <a:prstDash val="solid"/>
          </a:ln>
          <a:effectLst>
            <a:outerShdw blurRad="114300" dist="38100" dir="5400000" algn="bl" rotWithShape="0">
              <a:srgbClr val="8499AE">
                <a:alpha val="2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8" name="Shape 13">
            <a:extLst>
              <a:ext uri="{FF2B5EF4-FFF2-40B4-BE49-F238E27FC236}">
                <a16:creationId xmlns:a16="http://schemas.microsoft.com/office/drawing/2014/main" id="{85F338ED-B440-D99A-4210-8F680FAB70F0}"/>
              </a:ext>
            </a:extLst>
          </p:cNvPr>
          <p:cNvSpPr/>
          <p:nvPr/>
        </p:nvSpPr>
        <p:spPr>
          <a:xfrm>
            <a:off x="6266907" y="2304288"/>
            <a:ext cx="713232" cy="713232"/>
          </a:xfrm>
          <a:prstGeom prst="ellipse">
            <a:avLst/>
          </a:prstGeom>
          <a:solidFill>
            <a:srgbClr val="1B3A5B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9" name="Image 1" descr="preencoded.png">
            <a:extLst>
              <a:ext uri="{FF2B5EF4-FFF2-40B4-BE49-F238E27FC236}">
                <a16:creationId xmlns:a16="http://schemas.microsoft.com/office/drawing/2014/main" id="{6E6325AF-2712-786F-52EB-09B00108E5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0877" y="2518258"/>
            <a:ext cx="285293" cy="285293"/>
          </a:xfrm>
          <a:prstGeom prst="rect">
            <a:avLst/>
          </a:prstGeom>
        </p:spPr>
      </p:pic>
      <p:sp>
        <p:nvSpPr>
          <p:cNvPr id="20" name="Text 14">
            <a:extLst>
              <a:ext uri="{FF2B5EF4-FFF2-40B4-BE49-F238E27FC236}">
                <a16:creationId xmlns:a16="http://schemas.microsoft.com/office/drawing/2014/main" id="{F5700B94-F5BE-3502-257A-CAC958C7617C}"/>
              </a:ext>
            </a:extLst>
          </p:cNvPr>
          <p:cNvSpPr/>
          <p:nvPr/>
        </p:nvSpPr>
        <p:spPr>
          <a:xfrm>
            <a:off x="7153875" y="2359152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3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Improved Priority Exchange</a:t>
            </a:r>
            <a:endParaRPr lang="en-US" sz="1800" dirty="0"/>
          </a:p>
        </p:txBody>
      </p:sp>
      <p:sp>
        <p:nvSpPr>
          <p:cNvPr id="21" name="Text 15">
            <a:extLst>
              <a:ext uri="{FF2B5EF4-FFF2-40B4-BE49-F238E27FC236}">
                <a16:creationId xmlns:a16="http://schemas.microsoft.com/office/drawing/2014/main" id="{D563899D-5AA5-3A50-19F3-0A60CB456BD5}"/>
              </a:ext>
            </a:extLst>
          </p:cNvPr>
          <p:cNvSpPr/>
          <p:nvPr/>
        </p:nvSpPr>
        <p:spPr>
          <a:xfrm>
            <a:off x="6266907" y="310896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Pre-computes the EDL idle times </a:t>
            </a:r>
            <a:r>
              <a:rPr lang="en-US" i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</a:t>
            </a:r>
            <a:r>
              <a:rPr lang="en-US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so the server can always run at the highest priority.  Near-optimal response.</a:t>
            </a:r>
            <a:endParaRPr lang="en-US" dirty="0"/>
          </a:p>
        </p:txBody>
      </p:sp>
      <p:sp>
        <p:nvSpPr>
          <p:cNvPr id="22" name="Text 16">
            <a:extLst>
              <a:ext uri="{FF2B5EF4-FFF2-40B4-BE49-F238E27FC236}">
                <a16:creationId xmlns:a16="http://schemas.microsoft.com/office/drawing/2014/main" id="{5CB23640-2D0D-7D5E-1F86-0C7465E63B94}"/>
              </a:ext>
            </a:extLst>
          </p:cNvPr>
          <p:cNvSpPr/>
          <p:nvPr/>
        </p:nvSpPr>
        <p:spPr>
          <a:xfrm>
            <a:off x="6266907" y="406908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   </a:t>
            </a:r>
            <a:r>
              <a:rPr lang="en-US" b="1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≤ 1</a:t>
            </a:r>
            <a:r>
              <a:rPr lang="en-US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the entire residual bandwidth goes to aperiodic load.</a:t>
            </a:r>
            <a:endParaRPr lang="en-US" dirty="0"/>
          </a:p>
        </p:txBody>
      </p:sp>
      <p:sp>
        <p:nvSpPr>
          <p:cNvPr id="23" name="Text 17">
            <a:extLst>
              <a:ext uri="{FF2B5EF4-FFF2-40B4-BE49-F238E27FC236}">
                <a16:creationId xmlns:a16="http://schemas.microsoft.com/office/drawing/2014/main" id="{2E9EC81E-ADBF-7D36-5033-D49F30F820E5}"/>
              </a:ext>
            </a:extLst>
          </p:cNvPr>
          <p:cNvSpPr/>
          <p:nvPr/>
        </p:nvSpPr>
        <p:spPr>
          <a:xfrm>
            <a:off x="140427" y="50749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EDF lifts PE </a:t>
            </a:r>
            <a:r>
              <a:rPr lang="en-US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good fixed-priority bound to the exact and near-optimal dynamic-priority bounds.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17647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4">
            <a:extLst>
              <a:ext uri="{FF2B5EF4-FFF2-40B4-BE49-F238E27FC236}">
                <a16:creationId xmlns:a16="http://schemas.microsoft.com/office/drawing/2014/main" id="{9C2CAB7B-E987-D8BB-FF1A-86C55F9AFBB9}"/>
              </a:ext>
            </a:extLst>
          </p:cNvPr>
          <p:cNvSpPr/>
          <p:nvPr/>
        </p:nvSpPr>
        <p:spPr>
          <a:xfrm>
            <a:off x="196804" y="185384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50" dirty="0">
                <a:solidFill>
                  <a:srgbClr val="15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DESIGN SPACE</a:t>
            </a:r>
            <a:endParaRPr lang="en-US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E9E3ADBF-DBA2-2746-910B-1DEC3B632024}"/>
              </a:ext>
            </a:extLst>
          </p:cNvPr>
          <p:cNvSpPr/>
          <p:nvPr/>
        </p:nvSpPr>
        <p:spPr>
          <a:xfrm>
            <a:off x="151302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 among the aperiodic servers</a:t>
            </a:r>
            <a:endParaRPr lang="en-US" sz="3000" dirty="0"/>
          </a:p>
        </p:txBody>
      </p:sp>
      <p:graphicFrame>
        <p:nvGraphicFramePr>
          <p:cNvPr id="10" name="Table 0">
            <a:extLst>
              <a:ext uri="{FF2B5EF4-FFF2-40B4-BE49-F238E27FC236}">
                <a16:creationId xmlns:a16="http://schemas.microsoft.com/office/drawing/2014/main" id="{E4FAB6F1-91D9-8D88-321E-E0A8D9EAFC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0125317"/>
              </p:ext>
            </p:extLst>
          </p:nvPr>
        </p:nvGraphicFramePr>
        <p:xfrm>
          <a:off x="151302" y="1494608"/>
          <a:ext cx="11064240" cy="4015232"/>
        </p:xfrm>
        <a:graphic>
          <a:graphicData uri="http://schemas.openxmlformats.org/drawingml/2006/table">
            <a:tbl>
              <a:tblPr/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Algorithm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Periodic bound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Aperiodic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overhead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preserved?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Background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≤ Ulub  (none reserved)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poor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negligible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Polling Server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periodic-task bound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Deferrable Server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weaker than periodic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(high prio.)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1B3A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 Exchange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B3A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1B3A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periodic-task bound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B3A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1B3A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grows with 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B3A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(degrades)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3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Sporadic Server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periodic-task bound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/ moderate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(high prio.)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 Prio. Exch.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EDF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+ Us ≤ 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good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Bandwidth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EDF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+ Us ≤ 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good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Improved Prio. Exch.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EDF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≤ 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near-optimal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(offline EDL)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1" name="Text 6">
            <a:extLst>
              <a:ext uri="{FF2B5EF4-FFF2-40B4-BE49-F238E27FC236}">
                <a16:creationId xmlns:a16="http://schemas.microsoft.com/office/drawing/2014/main" id="{A4813953-F3BD-C713-2AFC-D6F4C0AE494B}"/>
              </a:ext>
            </a:extLst>
          </p:cNvPr>
          <p:cNvSpPr/>
          <p:nvPr/>
        </p:nvSpPr>
        <p:spPr>
          <a:xfrm>
            <a:off x="151302" y="5815149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 recovers the full periodic bound while preserving budget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94042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4">
            <a:extLst>
              <a:ext uri="{FF2B5EF4-FFF2-40B4-BE49-F238E27FC236}">
                <a16:creationId xmlns:a16="http://schemas.microsoft.com/office/drawing/2014/main" id="{40EB9C4B-8DC5-DA36-584A-9D578E57B3F8}"/>
              </a:ext>
            </a:extLst>
          </p:cNvPr>
          <p:cNvSpPr/>
          <p:nvPr/>
        </p:nvSpPr>
        <p:spPr>
          <a:xfrm>
            <a:off x="124097" y="1554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50" dirty="0">
                <a:solidFill>
                  <a:srgbClr val="15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HEAD-TO-HEAD</a:t>
            </a:r>
            <a:endParaRPr lang="en-US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79AA4DD6-0DC7-F849-9224-86EA78BFC00A}"/>
              </a:ext>
            </a:extLst>
          </p:cNvPr>
          <p:cNvSpPr/>
          <p:nvPr/>
        </p:nvSpPr>
        <p:spPr>
          <a:xfrm>
            <a:off x="124097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Priority Exchange vs. Deferrable Server</a:t>
            </a:r>
            <a:endParaRPr lang="en-US" sz="3000" dirty="0"/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DCB2387A-92E5-E894-14F0-7B50F267C1E5}"/>
              </a:ext>
            </a:extLst>
          </p:cNvPr>
          <p:cNvSpPr/>
          <p:nvPr/>
        </p:nvSpPr>
        <p:spPr>
          <a:xfrm>
            <a:off x="124097" y="1828800"/>
            <a:ext cx="5257800" cy="2971800"/>
          </a:xfrm>
          <a:prstGeom prst="roundRect">
            <a:avLst>
              <a:gd name="adj" fmla="val 2769"/>
            </a:avLst>
          </a:prstGeom>
          <a:solidFill>
            <a:srgbClr val="EAEFF5"/>
          </a:solidFill>
          <a:ln w="12700">
            <a:solidFill>
              <a:srgbClr val="D8E0E8"/>
            </a:solidFill>
            <a:prstDash val="solid"/>
          </a:ln>
          <a:effectLst>
            <a:outerShdw blurRad="114300" dist="38100" dir="5400000" algn="bl" rotWithShape="0">
              <a:srgbClr val="8499AE">
                <a:alpha val="2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37FAFE61-DABF-2AB3-754D-6FE4ED40061A}"/>
              </a:ext>
            </a:extLst>
          </p:cNvPr>
          <p:cNvSpPr/>
          <p:nvPr/>
        </p:nvSpPr>
        <p:spPr>
          <a:xfrm>
            <a:off x="444137" y="2103120"/>
            <a:ext cx="640080" cy="640080"/>
          </a:xfrm>
          <a:prstGeom prst="ellipse">
            <a:avLst/>
          </a:prstGeom>
          <a:solidFill>
            <a:srgbClr val="42678E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2" name="Image 0" descr="preencoded.png">
            <a:extLst>
              <a:ext uri="{FF2B5EF4-FFF2-40B4-BE49-F238E27FC236}">
                <a16:creationId xmlns:a16="http://schemas.microsoft.com/office/drawing/2014/main" id="{BD7AC699-6364-CD83-3951-7C4AF565CA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161" y="2295144"/>
            <a:ext cx="256032" cy="256032"/>
          </a:xfrm>
          <a:prstGeom prst="rect">
            <a:avLst/>
          </a:prstGeom>
        </p:spPr>
      </p:pic>
      <p:sp>
        <p:nvSpPr>
          <p:cNvPr id="13" name="Text 8">
            <a:extLst>
              <a:ext uri="{FF2B5EF4-FFF2-40B4-BE49-F238E27FC236}">
                <a16:creationId xmlns:a16="http://schemas.microsoft.com/office/drawing/2014/main" id="{EA6312ED-EE57-9721-D2A7-8AC5C8314E4C}"/>
              </a:ext>
            </a:extLst>
          </p:cNvPr>
          <p:cNvSpPr/>
          <p:nvPr/>
        </p:nvSpPr>
        <p:spPr>
          <a:xfrm>
            <a:off x="1267097" y="2130552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3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Deferrable Server</a:t>
            </a:r>
            <a:endParaRPr lang="en-US" sz="1900" dirty="0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B4CDCE00-C8C9-77BC-B183-9AEC517E4751}"/>
              </a:ext>
            </a:extLst>
          </p:cNvPr>
          <p:cNvSpPr/>
          <p:nvPr/>
        </p:nvSpPr>
        <p:spPr>
          <a:xfrm>
            <a:off x="444137" y="2788920"/>
            <a:ext cx="4709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Simpler to implement.</a:t>
            </a:r>
            <a:endParaRPr lang="en-US" dirty="0"/>
          </a:p>
          <a:p>
            <a:pPr marL="0" indent="0">
              <a:lnSpc>
                <a:spcPct val="130000"/>
              </a:lnSpc>
              <a:buNone/>
            </a:pPr>
            <a:r>
              <a:rPr lang="en-US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Overhead is independent of the task count.</a:t>
            </a:r>
            <a:endParaRPr lang="en-US" dirty="0"/>
          </a:p>
          <a:p>
            <a:pPr marL="0" indent="0">
              <a:lnSpc>
                <a:spcPct val="130000"/>
              </a:lnSpc>
              <a:buNone/>
            </a:pPr>
            <a:r>
              <a:rPr lang="en-US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Slightly better aperiodic responsiveness.</a:t>
            </a:r>
            <a:endParaRPr lang="en-US" dirty="0"/>
          </a:p>
          <a:p>
            <a:pPr marL="0" indent="0">
              <a:lnSpc>
                <a:spcPct val="130000"/>
              </a:lnSpc>
              <a:buNone/>
            </a:pPr>
            <a:r>
              <a:rPr lang="en-US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a weaker periodic bound:  </a:t>
            </a:r>
            <a:r>
              <a:rPr lang="en-US" b="1" dirty="0">
                <a:solidFill>
                  <a:srgbClr val="E26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Us(DS) &lt; Us(PE)</a:t>
            </a:r>
            <a:r>
              <a:rPr lang="en-US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the largest guaranteed server.</a:t>
            </a:r>
            <a:endParaRPr lang="en-US" dirty="0"/>
          </a:p>
        </p:txBody>
      </p:sp>
      <p:sp>
        <p:nvSpPr>
          <p:cNvPr id="15" name="Shape 10">
            <a:extLst>
              <a:ext uri="{FF2B5EF4-FFF2-40B4-BE49-F238E27FC236}">
                <a16:creationId xmlns:a16="http://schemas.microsoft.com/office/drawing/2014/main" id="{6172FD03-9848-6CDB-9821-04DFA9A6251E}"/>
              </a:ext>
            </a:extLst>
          </p:cNvPr>
          <p:cNvSpPr/>
          <p:nvPr/>
        </p:nvSpPr>
        <p:spPr>
          <a:xfrm>
            <a:off x="5930537" y="1828800"/>
            <a:ext cx="5257800" cy="2971800"/>
          </a:xfrm>
          <a:prstGeom prst="roundRect">
            <a:avLst>
              <a:gd name="adj" fmla="val 2769"/>
            </a:avLst>
          </a:prstGeom>
          <a:solidFill>
            <a:srgbClr val="E7F3F1"/>
          </a:solidFill>
          <a:ln w="12700">
            <a:solidFill>
              <a:srgbClr val="D8E0E8"/>
            </a:solidFill>
            <a:prstDash val="solid"/>
          </a:ln>
          <a:effectLst>
            <a:outerShdw blurRad="114300" dist="38100" dir="5400000" algn="bl" rotWithShape="0">
              <a:srgbClr val="8499AE">
                <a:alpha val="2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6" name="Shape 11">
            <a:extLst>
              <a:ext uri="{FF2B5EF4-FFF2-40B4-BE49-F238E27FC236}">
                <a16:creationId xmlns:a16="http://schemas.microsoft.com/office/drawing/2014/main" id="{C6CA04FA-1FAB-0223-F410-8E27E44FE649}"/>
              </a:ext>
            </a:extLst>
          </p:cNvPr>
          <p:cNvSpPr/>
          <p:nvPr/>
        </p:nvSpPr>
        <p:spPr>
          <a:xfrm>
            <a:off x="6250577" y="2002536"/>
            <a:ext cx="640080" cy="640080"/>
          </a:xfrm>
          <a:prstGeom prst="ellipse">
            <a:avLst/>
          </a:prstGeom>
          <a:solidFill>
            <a:srgbClr val="159A8C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7" name="Image 1" descr="preencoded.png">
            <a:extLst>
              <a:ext uri="{FF2B5EF4-FFF2-40B4-BE49-F238E27FC236}">
                <a16:creationId xmlns:a16="http://schemas.microsoft.com/office/drawing/2014/main" id="{246CF8CC-BAB0-9430-13B2-4C04076270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2601" y="2231136"/>
            <a:ext cx="256032" cy="256032"/>
          </a:xfrm>
          <a:prstGeom prst="rect">
            <a:avLst/>
          </a:prstGeom>
        </p:spPr>
      </p:pic>
      <p:sp>
        <p:nvSpPr>
          <p:cNvPr id="18" name="Text 12">
            <a:extLst>
              <a:ext uri="{FF2B5EF4-FFF2-40B4-BE49-F238E27FC236}">
                <a16:creationId xmlns:a16="http://schemas.microsoft.com/office/drawing/2014/main" id="{87F008BF-067B-7BA3-ABE7-F0B78665F4B9}"/>
              </a:ext>
            </a:extLst>
          </p:cNvPr>
          <p:cNvSpPr/>
          <p:nvPr/>
        </p:nvSpPr>
        <p:spPr>
          <a:xfrm>
            <a:off x="7082681" y="2076994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3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Priority Exchange</a:t>
            </a:r>
            <a:endParaRPr lang="en-US" sz="1900" dirty="0"/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EBF3A57F-FD65-C863-9D59-C6E4EDDADA52}"/>
              </a:ext>
            </a:extLst>
          </p:cNvPr>
          <p:cNvSpPr/>
          <p:nvPr/>
        </p:nvSpPr>
        <p:spPr>
          <a:xfrm>
            <a:off x="6250577" y="2788920"/>
            <a:ext cx="4709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rate-monotonic bound.</a:t>
            </a:r>
            <a:endParaRPr lang="en-US" dirty="0"/>
          </a:p>
          <a:p>
            <a:pPr marL="0" indent="0">
              <a:lnSpc>
                <a:spcPct val="130000"/>
              </a:lnSpc>
              <a:buNone/>
            </a:pPr>
            <a:r>
              <a:rPr lang="en-US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bandwidth can be reserved before the periodic set becomes unschedulable.</a:t>
            </a:r>
            <a:endParaRPr lang="en-US" dirty="0"/>
          </a:p>
          <a:p>
            <a:pPr marL="0" indent="0">
              <a:lnSpc>
                <a:spcPct val="130000"/>
              </a:lnSpc>
              <a:buNone/>
            </a:pPr>
            <a:r>
              <a:rPr lang="en-US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higher cost:  </a:t>
            </a:r>
            <a:r>
              <a:rPr lang="en-US" b="1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budget at every level and exchanges at each scheduling decision</a:t>
            </a:r>
            <a:r>
              <a:rPr lang="en-US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overhead grows with n.</a:t>
            </a:r>
            <a:endParaRPr lang="en-US" dirty="0"/>
          </a:p>
        </p:txBody>
      </p:sp>
      <p:sp>
        <p:nvSpPr>
          <p:cNvPr id="20" name="Shape 14">
            <a:extLst>
              <a:ext uri="{FF2B5EF4-FFF2-40B4-BE49-F238E27FC236}">
                <a16:creationId xmlns:a16="http://schemas.microsoft.com/office/drawing/2014/main" id="{A2819974-3BD5-3D23-9AD5-25E58C719FDD}"/>
              </a:ext>
            </a:extLst>
          </p:cNvPr>
          <p:cNvSpPr/>
          <p:nvPr/>
        </p:nvSpPr>
        <p:spPr>
          <a:xfrm>
            <a:off x="124097" y="507492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1B3A5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1" name="Shape 15">
            <a:extLst>
              <a:ext uri="{FF2B5EF4-FFF2-40B4-BE49-F238E27FC236}">
                <a16:creationId xmlns:a16="http://schemas.microsoft.com/office/drawing/2014/main" id="{9CCD1591-DF0B-8424-7EE0-3A608985C985}"/>
              </a:ext>
            </a:extLst>
          </p:cNvPr>
          <p:cNvSpPr/>
          <p:nvPr/>
        </p:nvSpPr>
        <p:spPr>
          <a:xfrm>
            <a:off x="444137" y="5230368"/>
            <a:ext cx="548640" cy="548640"/>
          </a:xfrm>
          <a:prstGeom prst="ellipse">
            <a:avLst/>
          </a:prstGeom>
          <a:solidFill>
            <a:srgbClr val="E2674E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22" name="Image 2" descr="preencoded.png">
            <a:extLst>
              <a:ext uri="{FF2B5EF4-FFF2-40B4-BE49-F238E27FC236}">
                <a16:creationId xmlns:a16="http://schemas.microsoft.com/office/drawing/2014/main" id="{12C1E5A6-7CB2-5932-5508-142C29CAB5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729" y="5394960"/>
            <a:ext cx="219456" cy="219456"/>
          </a:xfrm>
          <a:prstGeom prst="rect">
            <a:avLst/>
          </a:prstGeom>
        </p:spPr>
      </p:pic>
      <p:sp>
        <p:nvSpPr>
          <p:cNvPr id="23" name="Text 16">
            <a:extLst>
              <a:ext uri="{FF2B5EF4-FFF2-40B4-BE49-F238E27FC236}">
                <a16:creationId xmlns:a16="http://schemas.microsoft.com/office/drawing/2014/main" id="{A57239C4-D50E-4120-F0AE-3130BCE5EE42}"/>
              </a:ext>
            </a:extLst>
          </p:cNvPr>
          <p:cNvSpPr/>
          <p:nvPr/>
        </p:nvSpPr>
        <p:spPr>
          <a:xfrm>
            <a:off x="1175657" y="5074920"/>
            <a:ext cx="9784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5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Opposite corners </a:t>
            </a: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same responsiveness – schedulability – overhead trade-off.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6792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4">
            <a:extLst>
              <a:ext uri="{FF2B5EF4-FFF2-40B4-BE49-F238E27FC236}">
                <a16:creationId xmlns:a16="http://schemas.microsoft.com/office/drawing/2014/main" id="{C5B81889-434F-02BF-4CDC-7295E086A64D}"/>
              </a:ext>
            </a:extLst>
          </p:cNvPr>
          <p:cNvSpPr/>
          <p:nvPr/>
        </p:nvSpPr>
        <p:spPr>
          <a:xfrm>
            <a:off x="281938" y="192024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50" dirty="0">
                <a:solidFill>
                  <a:srgbClr val="15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EVALUATION</a:t>
            </a:r>
            <a:endParaRPr lang="en-US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1D87603B-F771-8E6C-DF30-384C7C1A77E6}"/>
              </a:ext>
            </a:extLst>
          </p:cNvPr>
          <p:cNvSpPr/>
          <p:nvPr/>
        </p:nvSpPr>
        <p:spPr>
          <a:xfrm>
            <a:off x="281938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Strengths</a:t>
            </a:r>
            <a:endParaRPr lang="en-US" sz="3000" dirty="0"/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2B8B9F32-38FB-7BA2-9124-234DE794804E}"/>
              </a:ext>
            </a:extLst>
          </p:cNvPr>
          <p:cNvSpPr/>
          <p:nvPr/>
        </p:nvSpPr>
        <p:spPr>
          <a:xfrm>
            <a:off x="327658" y="1810512"/>
            <a:ext cx="566928" cy="566928"/>
          </a:xfrm>
          <a:prstGeom prst="ellipse">
            <a:avLst/>
          </a:prstGeom>
          <a:solidFill>
            <a:srgbClr val="159A8C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1" name="Image 0" descr="preencoded.png">
            <a:extLst>
              <a:ext uri="{FF2B5EF4-FFF2-40B4-BE49-F238E27FC236}">
                <a16:creationId xmlns:a16="http://schemas.microsoft.com/office/drawing/2014/main" id="{A775735F-24D4-F81F-4D13-915D25E3CB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736" y="1980590"/>
            <a:ext cx="226771" cy="226771"/>
          </a:xfrm>
          <a:prstGeom prst="rect">
            <a:avLst/>
          </a:prstGeom>
        </p:spPr>
      </p:pic>
      <p:sp>
        <p:nvSpPr>
          <p:cNvPr id="12" name="Text 7">
            <a:extLst>
              <a:ext uri="{FF2B5EF4-FFF2-40B4-BE49-F238E27FC236}">
                <a16:creationId xmlns:a16="http://schemas.microsoft.com/office/drawing/2014/main" id="{2050DCBE-D88A-6EF1-C6B0-A6C22F3E1250}"/>
              </a:ext>
            </a:extLst>
          </p:cNvPr>
          <p:cNvSpPr/>
          <p:nvPr/>
        </p:nvSpPr>
        <p:spPr>
          <a:xfrm>
            <a:off x="1104898" y="169164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3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Preserves bandwidth</a:t>
            </a:r>
            <a:endParaRPr lang="en-US" dirty="0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50E61BAD-44B8-E318-4FC7-96B2A7C714C1}"/>
              </a:ext>
            </a:extLst>
          </p:cNvPr>
          <p:cNvSpPr/>
          <p:nvPr/>
        </p:nvSpPr>
        <p:spPr>
          <a:xfrm>
            <a:off x="1104898" y="205740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is discarded only at genuine idle instants never because a request was absent.</a:t>
            </a:r>
            <a:endParaRPr lang="en-US" sz="1600" dirty="0"/>
          </a:p>
        </p:txBody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51F3DC70-9DB9-AD6A-E0DE-3EFD4994CE67}"/>
              </a:ext>
            </a:extLst>
          </p:cNvPr>
          <p:cNvSpPr/>
          <p:nvPr/>
        </p:nvSpPr>
        <p:spPr>
          <a:xfrm>
            <a:off x="327658" y="2724912"/>
            <a:ext cx="566928" cy="566928"/>
          </a:xfrm>
          <a:prstGeom prst="ellipse">
            <a:avLst/>
          </a:prstGeom>
          <a:solidFill>
            <a:srgbClr val="159A8C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5" name="Image 1" descr="preencoded.png">
            <a:extLst>
              <a:ext uri="{FF2B5EF4-FFF2-40B4-BE49-F238E27FC236}">
                <a16:creationId xmlns:a16="http://schemas.microsoft.com/office/drawing/2014/main" id="{0E2CBC7F-C07A-2006-9BB0-537231F600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736" y="2894990"/>
            <a:ext cx="226771" cy="226771"/>
          </a:xfrm>
          <a:prstGeom prst="rect">
            <a:avLst/>
          </a:prstGeom>
        </p:spPr>
      </p:pic>
      <p:sp>
        <p:nvSpPr>
          <p:cNvPr id="16" name="Text 10">
            <a:extLst>
              <a:ext uri="{FF2B5EF4-FFF2-40B4-BE49-F238E27FC236}">
                <a16:creationId xmlns:a16="http://schemas.microsoft.com/office/drawing/2014/main" id="{35C3FE9C-899B-338C-10DC-45454F5CA356}"/>
              </a:ext>
            </a:extLst>
          </p:cNvPr>
          <p:cNvSpPr/>
          <p:nvPr/>
        </p:nvSpPr>
        <p:spPr>
          <a:xfrm>
            <a:off x="1104898" y="260604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3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rate-monotonic bound</a:t>
            </a:r>
            <a:endParaRPr lang="en-US" dirty="0"/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678A5DDB-16E5-BE43-EA54-943566EBF4A3}"/>
              </a:ext>
            </a:extLst>
          </p:cNvPr>
          <p:cNvSpPr/>
          <p:nvPr/>
        </p:nvSpPr>
        <p:spPr>
          <a:xfrm>
            <a:off x="1104898" y="297180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Strictly better than the Deferrable Server, so more bandwidth can be reserved for aperiodic service.</a:t>
            </a:r>
            <a:endParaRPr lang="en-US" sz="1600" dirty="0"/>
          </a:p>
        </p:txBody>
      </p:sp>
      <p:sp>
        <p:nvSpPr>
          <p:cNvPr id="18" name="Shape 12">
            <a:extLst>
              <a:ext uri="{FF2B5EF4-FFF2-40B4-BE49-F238E27FC236}">
                <a16:creationId xmlns:a16="http://schemas.microsoft.com/office/drawing/2014/main" id="{D761E042-0330-C4A9-FAEE-1649BAE70112}"/>
              </a:ext>
            </a:extLst>
          </p:cNvPr>
          <p:cNvSpPr/>
          <p:nvPr/>
        </p:nvSpPr>
        <p:spPr>
          <a:xfrm>
            <a:off x="327658" y="3639312"/>
            <a:ext cx="566928" cy="566928"/>
          </a:xfrm>
          <a:prstGeom prst="ellipse">
            <a:avLst/>
          </a:prstGeom>
          <a:solidFill>
            <a:srgbClr val="159A8C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9" name="Image 2" descr="preencoded.png">
            <a:extLst>
              <a:ext uri="{FF2B5EF4-FFF2-40B4-BE49-F238E27FC236}">
                <a16:creationId xmlns:a16="http://schemas.microsoft.com/office/drawing/2014/main" id="{A6CB749E-63EE-1A40-2EB5-4D618FCEA1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736" y="3809390"/>
            <a:ext cx="226771" cy="226771"/>
          </a:xfrm>
          <a:prstGeom prst="rect">
            <a:avLst/>
          </a:prstGeom>
        </p:spPr>
      </p:pic>
      <p:sp>
        <p:nvSpPr>
          <p:cNvPr id="20" name="Text 13">
            <a:extLst>
              <a:ext uri="{FF2B5EF4-FFF2-40B4-BE49-F238E27FC236}">
                <a16:creationId xmlns:a16="http://schemas.microsoft.com/office/drawing/2014/main" id="{5E281963-FC94-1222-5762-8FB55A0CC46B}"/>
              </a:ext>
            </a:extLst>
          </p:cNvPr>
          <p:cNvSpPr/>
          <p:nvPr/>
        </p:nvSpPr>
        <p:spPr>
          <a:xfrm>
            <a:off x="1104898" y="352044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3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Immediate service</a:t>
            </a:r>
            <a:endParaRPr lang="en-US" dirty="0"/>
          </a:p>
        </p:txBody>
      </p:sp>
      <p:sp>
        <p:nvSpPr>
          <p:cNvPr id="21" name="Text 14">
            <a:extLst>
              <a:ext uri="{FF2B5EF4-FFF2-40B4-BE49-F238E27FC236}">
                <a16:creationId xmlns:a16="http://schemas.microsoft.com/office/drawing/2014/main" id="{2106E706-3600-B98F-1343-30D8960BCAA1}"/>
              </a:ext>
            </a:extLst>
          </p:cNvPr>
          <p:cNvSpPr/>
          <p:nvPr/>
        </p:nvSpPr>
        <p:spPr>
          <a:xfrm>
            <a:off x="1104898" y="388620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Sitting atop the priority order, a fresh budget serves an arriving request at once.</a:t>
            </a:r>
            <a:endParaRPr lang="en-US" sz="1600" dirty="0"/>
          </a:p>
        </p:txBody>
      </p:sp>
      <p:sp>
        <p:nvSpPr>
          <p:cNvPr id="22" name="Shape 15">
            <a:extLst>
              <a:ext uri="{FF2B5EF4-FFF2-40B4-BE49-F238E27FC236}">
                <a16:creationId xmlns:a16="http://schemas.microsoft.com/office/drawing/2014/main" id="{4CE1A2B2-E909-6686-E948-50340E24AC2A}"/>
              </a:ext>
            </a:extLst>
          </p:cNvPr>
          <p:cNvSpPr/>
          <p:nvPr/>
        </p:nvSpPr>
        <p:spPr>
          <a:xfrm>
            <a:off x="327658" y="4553712"/>
            <a:ext cx="566928" cy="566928"/>
          </a:xfrm>
          <a:prstGeom prst="ellipse">
            <a:avLst/>
          </a:prstGeom>
          <a:solidFill>
            <a:srgbClr val="159A8C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23" name="Image 3" descr="preencoded.png">
            <a:extLst>
              <a:ext uri="{FF2B5EF4-FFF2-40B4-BE49-F238E27FC236}">
                <a16:creationId xmlns:a16="http://schemas.microsoft.com/office/drawing/2014/main" id="{42A6E8F8-DD02-FFA6-AAE2-4A34171C33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736" y="4723790"/>
            <a:ext cx="226771" cy="226771"/>
          </a:xfrm>
          <a:prstGeom prst="rect">
            <a:avLst/>
          </a:prstGeom>
        </p:spPr>
      </p:pic>
      <p:sp>
        <p:nvSpPr>
          <p:cNvPr id="24" name="Text 16">
            <a:extLst>
              <a:ext uri="{FF2B5EF4-FFF2-40B4-BE49-F238E27FC236}">
                <a16:creationId xmlns:a16="http://schemas.microsoft.com/office/drawing/2014/main" id="{8C49135C-4E58-CECB-2B14-0BCE3680DC14}"/>
              </a:ext>
            </a:extLst>
          </p:cNvPr>
          <p:cNvSpPr/>
          <p:nvPr/>
        </p:nvSpPr>
        <p:spPr>
          <a:xfrm>
            <a:off x="1104898" y="443484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3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Graceful degradation</a:t>
            </a:r>
            <a:endParaRPr lang="en-US" dirty="0"/>
          </a:p>
        </p:txBody>
      </p:sp>
      <p:sp>
        <p:nvSpPr>
          <p:cNvPr id="25" name="Text 17">
            <a:extLst>
              <a:ext uri="{FF2B5EF4-FFF2-40B4-BE49-F238E27FC236}">
                <a16:creationId xmlns:a16="http://schemas.microsoft.com/office/drawing/2014/main" id="{BADC0427-AFAE-BAC6-AEB2-64E9F9992B1E}"/>
              </a:ext>
            </a:extLst>
          </p:cNvPr>
          <p:cNvSpPr/>
          <p:nvPr/>
        </p:nvSpPr>
        <p:spPr>
          <a:xfrm>
            <a:off x="1104898" y="480060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Unused budget lowers its priority step by step instead of being dropped outright — reclaimable for as long as possible.</a:t>
            </a:r>
            <a:endParaRPr lang="en-US" sz="1600" dirty="0"/>
          </a:p>
        </p:txBody>
      </p:sp>
      <p:sp>
        <p:nvSpPr>
          <p:cNvPr id="26" name="Shape 18">
            <a:extLst>
              <a:ext uri="{FF2B5EF4-FFF2-40B4-BE49-F238E27FC236}">
                <a16:creationId xmlns:a16="http://schemas.microsoft.com/office/drawing/2014/main" id="{218658D3-4725-E18D-F16B-64B07B49A24F}"/>
              </a:ext>
            </a:extLst>
          </p:cNvPr>
          <p:cNvSpPr/>
          <p:nvPr/>
        </p:nvSpPr>
        <p:spPr>
          <a:xfrm>
            <a:off x="327658" y="5468112"/>
            <a:ext cx="566928" cy="566928"/>
          </a:xfrm>
          <a:prstGeom prst="ellipse">
            <a:avLst/>
          </a:prstGeom>
          <a:solidFill>
            <a:srgbClr val="159A8C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27" name="Image 4" descr="preencoded.png">
            <a:extLst>
              <a:ext uri="{FF2B5EF4-FFF2-40B4-BE49-F238E27FC236}">
                <a16:creationId xmlns:a16="http://schemas.microsoft.com/office/drawing/2014/main" id="{5587CCBD-45C4-010A-D59F-209C44B015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736" y="5638190"/>
            <a:ext cx="226771" cy="226771"/>
          </a:xfrm>
          <a:prstGeom prst="rect">
            <a:avLst/>
          </a:prstGeom>
        </p:spPr>
      </p:pic>
      <p:sp>
        <p:nvSpPr>
          <p:cNvPr id="28" name="Text 19">
            <a:extLst>
              <a:ext uri="{FF2B5EF4-FFF2-40B4-BE49-F238E27FC236}">
                <a16:creationId xmlns:a16="http://schemas.microsoft.com/office/drawing/2014/main" id="{659550B8-3560-1D2D-89FB-1BD29DA0DD9E}"/>
              </a:ext>
            </a:extLst>
          </p:cNvPr>
          <p:cNvSpPr/>
          <p:nvPr/>
        </p:nvSpPr>
        <p:spPr>
          <a:xfrm>
            <a:off x="1104898" y="534924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3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Generalises to EDF</a:t>
            </a:r>
            <a:endParaRPr lang="en-US" dirty="0"/>
          </a:p>
        </p:txBody>
      </p:sp>
      <p:sp>
        <p:nvSpPr>
          <p:cNvPr id="29" name="Text 20">
            <a:extLst>
              <a:ext uri="{FF2B5EF4-FFF2-40B4-BE49-F238E27FC236}">
                <a16:creationId xmlns:a16="http://schemas.microsoft.com/office/drawing/2014/main" id="{8BE01787-3737-DA87-CE73-F7F48DA3C7D4}"/>
              </a:ext>
            </a:extLst>
          </p:cNvPr>
          <p:cNvSpPr/>
          <p:nvPr/>
        </p:nvSpPr>
        <p:spPr>
          <a:xfrm>
            <a:off x="1104898" y="571500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exchange idea yields the exact Dynamic and near-optimal Improved Priority Exchange servers.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41358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4">
            <a:extLst>
              <a:ext uri="{FF2B5EF4-FFF2-40B4-BE49-F238E27FC236}">
                <a16:creationId xmlns:a16="http://schemas.microsoft.com/office/drawing/2014/main" id="{D8623B8A-1412-2FE7-0E0A-FF302C01678E}"/>
              </a:ext>
            </a:extLst>
          </p:cNvPr>
          <p:cNvSpPr/>
          <p:nvPr/>
        </p:nvSpPr>
        <p:spPr>
          <a:xfrm>
            <a:off x="202474" y="21031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50" dirty="0">
                <a:solidFill>
                  <a:srgbClr val="15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EVALUATION</a:t>
            </a:r>
            <a:endParaRPr lang="en-US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150DD933-1242-AF13-EB3A-9C4E085CC841}"/>
              </a:ext>
            </a:extLst>
          </p:cNvPr>
          <p:cNvSpPr/>
          <p:nvPr/>
        </p:nvSpPr>
        <p:spPr>
          <a:xfrm>
            <a:off x="156754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risks</a:t>
            </a:r>
            <a:endParaRPr lang="en-US" sz="3000" dirty="0"/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BE3BBCDC-C774-F86F-F4B8-F99F4AAF23F1}"/>
              </a:ext>
            </a:extLst>
          </p:cNvPr>
          <p:cNvSpPr/>
          <p:nvPr/>
        </p:nvSpPr>
        <p:spPr>
          <a:xfrm>
            <a:off x="202474" y="1901952"/>
            <a:ext cx="566928" cy="566928"/>
          </a:xfrm>
          <a:prstGeom prst="ellipse">
            <a:avLst/>
          </a:prstGeom>
          <a:solidFill>
            <a:srgbClr val="E2674E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1" name="Image 0" descr="preencoded.png">
            <a:extLst>
              <a:ext uri="{FF2B5EF4-FFF2-40B4-BE49-F238E27FC236}">
                <a16:creationId xmlns:a16="http://schemas.microsoft.com/office/drawing/2014/main" id="{BD263BB2-16D2-DFE8-9D06-6646301DC2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552" y="2072030"/>
            <a:ext cx="226771" cy="226771"/>
          </a:xfrm>
          <a:prstGeom prst="rect">
            <a:avLst/>
          </a:prstGeom>
        </p:spPr>
      </p:pic>
      <p:sp>
        <p:nvSpPr>
          <p:cNvPr id="12" name="Text 7">
            <a:extLst>
              <a:ext uri="{FF2B5EF4-FFF2-40B4-BE49-F238E27FC236}">
                <a16:creationId xmlns:a16="http://schemas.microsoft.com/office/drawing/2014/main" id="{3691A7B0-FD38-2D7C-7B93-A63FA52AD137}"/>
              </a:ext>
            </a:extLst>
          </p:cNvPr>
          <p:cNvSpPr/>
          <p:nvPr/>
        </p:nvSpPr>
        <p:spPr>
          <a:xfrm>
            <a:off x="979714" y="1737360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3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complexity</a:t>
            </a:r>
            <a:endParaRPr lang="en-US" dirty="0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AB6687F9-C641-A1C2-A362-513C81F9E5F0}"/>
              </a:ext>
            </a:extLst>
          </p:cNvPr>
          <p:cNvSpPr/>
          <p:nvPr/>
        </p:nvSpPr>
        <p:spPr>
          <a:xfrm>
            <a:off x="979714" y="2139696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Per-level budget counters and an exchange at every scheduling decision; runtime overhead and O(n) state scale with the number of periodic tasks.</a:t>
            </a:r>
            <a:endParaRPr lang="en-US" sz="1600" dirty="0"/>
          </a:p>
        </p:txBody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FB8601F8-7A14-3B39-9F82-B1AE0E71E15F}"/>
              </a:ext>
            </a:extLst>
          </p:cNvPr>
          <p:cNvSpPr/>
          <p:nvPr/>
        </p:nvSpPr>
        <p:spPr>
          <a:xfrm>
            <a:off x="202474" y="3017520"/>
            <a:ext cx="566928" cy="566928"/>
          </a:xfrm>
          <a:prstGeom prst="ellipse">
            <a:avLst/>
          </a:prstGeom>
          <a:solidFill>
            <a:srgbClr val="E2674E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5" name="Image 1" descr="preencoded.png">
            <a:extLst>
              <a:ext uri="{FF2B5EF4-FFF2-40B4-BE49-F238E27FC236}">
                <a16:creationId xmlns:a16="http://schemas.microsoft.com/office/drawing/2014/main" id="{43F25B6B-4EC4-A477-2FD2-533979C9D1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552" y="3187598"/>
            <a:ext cx="226771" cy="226771"/>
          </a:xfrm>
          <a:prstGeom prst="rect">
            <a:avLst/>
          </a:prstGeom>
        </p:spPr>
      </p:pic>
      <p:sp>
        <p:nvSpPr>
          <p:cNvPr id="16" name="Text 10">
            <a:extLst>
              <a:ext uri="{FF2B5EF4-FFF2-40B4-BE49-F238E27FC236}">
                <a16:creationId xmlns:a16="http://schemas.microsoft.com/office/drawing/2014/main" id="{57D6E05A-9570-5EE9-E951-0DE3C13E0D90}"/>
              </a:ext>
            </a:extLst>
          </p:cNvPr>
          <p:cNvSpPr/>
          <p:nvPr/>
        </p:nvSpPr>
        <p:spPr>
          <a:xfrm>
            <a:off x="979714" y="2852928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3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runtime-slack reclaim</a:t>
            </a:r>
            <a:endParaRPr lang="en-US" dirty="0"/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4756CAF4-854A-F324-7311-FF29877C6308}"/>
              </a:ext>
            </a:extLst>
          </p:cNvPr>
          <p:cNvSpPr/>
          <p:nvPr/>
        </p:nvSpPr>
        <p:spPr>
          <a:xfrm>
            <a:off x="979714" y="3255264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freed when periodic jobs finish early is recovered only at idle — slack-stealing and dual-priority scheduling do better.</a:t>
            </a:r>
            <a:endParaRPr lang="en-US" sz="1600" dirty="0"/>
          </a:p>
        </p:txBody>
      </p:sp>
      <p:sp>
        <p:nvSpPr>
          <p:cNvPr id="18" name="Shape 12">
            <a:extLst>
              <a:ext uri="{FF2B5EF4-FFF2-40B4-BE49-F238E27FC236}">
                <a16:creationId xmlns:a16="http://schemas.microsoft.com/office/drawing/2014/main" id="{CAB231CF-C47B-5F31-BCBB-4B4EA320FF14}"/>
              </a:ext>
            </a:extLst>
          </p:cNvPr>
          <p:cNvSpPr/>
          <p:nvPr/>
        </p:nvSpPr>
        <p:spPr>
          <a:xfrm>
            <a:off x="202474" y="4133088"/>
            <a:ext cx="566928" cy="566928"/>
          </a:xfrm>
          <a:prstGeom prst="ellipse">
            <a:avLst/>
          </a:prstGeom>
          <a:solidFill>
            <a:srgbClr val="E2674E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9" name="Image 2" descr="preencoded.png">
            <a:extLst>
              <a:ext uri="{FF2B5EF4-FFF2-40B4-BE49-F238E27FC236}">
                <a16:creationId xmlns:a16="http://schemas.microsoft.com/office/drawing/2014/main" id="{370B26E4-DB7A-EABE-2984-4DC762788E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552" y="4303166"/>
            <a:ext cx="226771" cy="226771"/>
          </a:xfrm>
          <a:prstGeom prst="rect">
            <a:avLst/>
          </a:prstGeom>
        </p:spPr>
      </p:pic>
      <p:sp>
        <p:nvSpPr>
          <p:cNvPr id="20" name="Text 13">
            <a:extLst>
              <a:ext uri="{FF2B5EF4-FFF2-40B4-BE49-F238E27FC236}">
                <a16:creationId xmlns:a16="http://schemas.microsoft.com/office/drawing/2014/main" id="{527843EE-DA95-792D-ED1C-6C42D6F82E1E}"/>
              </a:ext>
            </a:extLst>
          </p:cNvPr>
          <p:cNvSpPr/>
          <p:nvPr/>
        </p:nvSpPr>
        <p:spPr>
          <a:xfrm>
            <a:off x="979714" y="3968496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3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 deadlines only</a:t>
            </a:r>
            <a:endParaRPr lang="en-US" dirty="0"/>
          </a:p>
        </p:txBody>
      </p:sp>
      <p:sp>
        <p:nvSpPr>
          <p:cNvPr id="21" name="Text 14">
            <a:extLst>
              <a:ext uri="{FF2B5EF4-FFF2-40B4-BE49-F238E27FC236}">
                <a16:creationId xmlns:a16="http://schemas.microsoft.com/office/drawing/2014/main" id="{4D0AB695-B4B7-E706-CAAA-3E6EE1E5403A}"/>
              </a:ext>
            </a:extLst>
          </p:cNvPr>
          <p:cNvSpPr/>
          <p:nvPr/>
        </p:nvSpPr>
        <p:spPr>
          <a:xfrm>
            <a:off x="979714" y="437083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 addresses soft aperiodic requests; it gives no built-in guarantee for firm or hard aperiodic deadlines.</a:t>
            </a:r>
            <a:endParaRPr lang="en-US" sz="1600" dirty="0"/>
          </a:p>
        </p:txBody>
      </p:sp>
      <p:sp>
        <p:nvSpPr>
          <p:cNvPr id="22" name="Shape 15">
            <a:extLst>
              <a:ext uri="{FF2B5EF4-FFF2-40B4-BE49-F238E27FC236}">
                <a16:creationId xmlns:a16="http://schemas.microsoft.com/office/drawing/2014/main" id="{A873A7C8-502B-B7AA-4F99-BBC927F8E88F}"/>
              </a:ext>
            </a:extLst>
          </p:cNvPr>
          <p:cNvSpPr/>
          <p:nvPr/>
        </p:nvSpPr>
        <p:spPr>
          <a:xfrm>
            <a:off x="202474" y="5248656"/>
            <a:ext cx="566928" cy="566928"/>
          </a:xfrm>
          <a:prstGeom prst="ellipse">
            <a:avLst/>
          </a:prstGeom>
          <a:solidFill>
            <a:srgbClr val="E2674E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23" name="Image 3" descr="preencoded.png">
            <a:extLst>
              <a:ext uri="{FF2B5EF4-FFF2-40B4-BE49-F238E27FC236}">
                <a16:creationId xmlns:a16="http://schemas.microsoft.com/office/drawing/2014/main" id="{ABE1FDE0-A54F-6BD4-27FD-07F3921A7D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552" y="5418734"/>
            <a:ext cx="226771" cy="226771"/>
          </a:xfrm>
          <a:prstGeom prst="rect">
            <a:avLst/>
          </a:prstGeom>
        </p:spPr>
      </p:pic>
      <p:sp>
        <p:nvSpPr>
          <p:cNvPr id="24" name="Text 16">
            <a:extLst>
              <a:ext uri="{FF2B5EF4-FFF2-40B4-BE49-F238E27FC236}">
                <a16:creationId xmlns:a16="http://schemas.microsoft.com/office/drawing/2014/main" id="{C05F0C7A-684B-F0AB-F183-5D6BBF1D8140}"/>
              </a:ext>
            </a:extLst>
          </p:cNvPr>
          <p:cNvSpPr/>
          <p:nvPr/>
        </p:nvSpPr>
        <p:spPr>
          <a:xfrm>
            <a:off x="979714" y="5084064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3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Superseded in practice</a:t>
            </a:r>
            <a:endParaRPr lang="en-US" dirty="0"/>
          </a:p>
        </p:txBody>
      </p:sp>
      <p:sp>
        <p:nvSpPr>
          <p:cNvPr id="25" name="Text 17">
            <a:extLst>
              <a:ext uri="{FF2B5EF4-FFF2-40B4-BE49-F238E27FC236}">
                <a16:creationId xmlns:a16="http://schemas.microsoft.com/office/drawing/2014/main" id="{4BA90711-03E3-D531-AF3F-8C88F38FF019}"/>
              </a:ext>
            </a:extLst>
          </p:cNvPr>
          <p:cNvSpPr/>
          <p:nvPr/>
        </p:nvSpPr>
        <p:spPr>
          <a:xfrm>
            <a:off x="979714" y="5486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Sporadic Server (fixed priority) and Total Bandwidth Server (dynamic) match the bound with lower, task-count-independent overhead.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85287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2">
            <a:extLst>
              <a:ext uri="{FF2B5EF4-FFF2-40B4-BE49-F238E27FC236}">
                <a16:creationId xmlns:a16="http://schemas.microsoft.com/office/drawing/2014/main" id="{192AE58F-8116-F857-379A-9F31372E2B94}"/>
              </a:ext>
            </a:extLst>
          </p:cNvPr>
          <p:cNvSpPr/>
          <p:nvPr/>
        </p:nvSpPr>
        <p:spPr>
          <a:xfrm>
            <a:off x="264524" y="228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300" dirty="0">
                <a:solidFill>
                  <a:srgbClr val="15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5E304F64-9C5E-3976-744A-D576F7BE717B}"/>
              </a:ext>
            </a:extLst>
          </p:cNvPr>
          <p:cNvSpPr/>
          <p:nvPr/>
        </p:nvSpPr>
        <p:spPr>
          <a:xfrm>
            <a:off x="218804" y="96012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A counter-intuitive principle</a:t>
            </a:r>
            <a:endParaRPr lang="en-US" sz="3400" dirty="0"/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7EDDE9C0-6DF7-092E-F501-CC972BBEEB5D}"/>
              </a:ext>
            </a:extLst>
          </p:cNvPr>
          <p:cNvSpPr/>
          <p:nvPr/>
        </p:nvSpPr>
        <p:spPr>
          <a:xfrm>
            <a:off x="264524" y="2194560"/>
            <a:ext cx="310896" cy="310896"/>
          </a:xfrm>
          <a:prstGeom prst="ellipse">
            <a:avLst/>
          </a:prstGeom>
          <a:solidFill>
            <a:srgbClr val="159A8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2B756426-1C2C-F934-0612-C54571EC3172}"/>
              </a:ext>
            </a:extLst>
          </p:cNvPr>
          <p:cNvSpPr/>
          <p:nvPr/>
        </p:nvSpPr>
        <p:spPr>
          <a:xfrm>
            <a:off x="264524" y="21945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DD9FFF66-FCCC-A710-EB62-F3EDD25223E7}"/>
              </a:ext>
            </a:extLst>
          </p:cNvPr>
          <p:cNvSpPr/>
          <p:nvPr/>
        </p:nvSpPr>
        <p:spPr>
          <a:xfrm>
            <a:off x="767444" y="1965960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High-priority budget is preserved  </a:t>
            </a:r>
            <a:r>
              <a:rPr lang="en-US" sz="15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— not by holding it, but by trading it for the runtime of lower-priority work.</a:t>
            </a:r>
            <a:endParaRPr lang="en-US" sz="1550" dirty="0"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D81EA873-E85B-A2A9-A00B-1C88589B6DDC}"/>
              </a:ext>
            </a:extLst>
          </p:cNvPr>
          <p:cNvSpPr/>
          <p:nvPr/>
        </p:nvSpPr>
        <p:spPr>
          <a:xfrm>
            <a:off x="264524" y="3154680"/>
            <a:ext cx="310896" cy="310896"/>
          </a:xfrm>
          <a:prstGeom prst="ellipse">
            <a:avLst/>
          </a:prstGeom>
          <a:solidFill>
            <a:srgbClr val="E2674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3C1332DC-17F3-18ED-05B1-51425A8D3B39}"/>
              </a:ext>
            </a:extLst>
          </p:cNvPr>
          <p:cNvSpPr/>
          <p:nvPr/>
        </p:nvSpPr>
        <p:spPr>
          <a:xfrm>
            <a:off x="264524" y="3154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1C4F62B2-BF4A-2F4D-1D47-9F68E9F836A4}"/>
              </a:ext>
            </a:extLst>
          </p:cNvPr>
          <p:cNvSpPr/>
          <p:nvPr/>
        </p:nvSpPr>
        <p:spPr>
          <a:xfrm>
            <a:off x="767444" y="2926080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Reserved time is lost only at genuine idle  </a:t>
            </a:r>
            <a:r>
              <a:rPr lang="en-US" sz="15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— giving PE the full rate-monotonic schedulability of an ordinary periodic task.</a:t>
            </a:r>
            <a:endParaRPr lang="en-US" sz="1550" dirty="0"/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CE345ED4-1062-26E5-DFAF-98D9A0CC7524}"/>
              </a:ext>
            </a:extLst>
          </p:cNvPr>
          <p:cNvSpPr/>
          <p:nvPr/>
        </p:nvSpPr>
        <p:spPr>
          <a:xfrm>
            <a:off x="264524" y="4114800"/>
            <a:ext cx="310896" cy="310896"/>
          </a:xfrm>
          <a:prstGeom prst="ellipse">
            <a:avLst/>
          </a:prstGeom>
          <a:solidFill>
            <a:srgbClr val="159A8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6A6B2717-DDCC-531F-5EB3-F2C9BA1E61AA}"/>
              </a:ext>
            </a:extLst>
          </p:cNvPr>
          <p:cNvSpPr/>
          <p:nvPr/>
        </p:nvSpPr>
        <p:spPr>
          <a:xfrm>
            <a:off x="264524" y="4114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8F478156-E2B0-DB24-AA51-6C37A18925C2}"/>
              </a:ext>
            </a:extLst>
          </p:cNvPr>
          <p:cNvSpPr/>
          <p:nvPr/>
        </p:nvSpPr>
        <p:spPr>
          <a:xfrm>
            <a:off x="767444" y="3886200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The same idea carries into EDF  </a:t>
            </a:r>
            <a:r>
              <a:rPr lang="en-US" sz="15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— yielding the exact Dynamic and the near-optimal Improved Priority Exchange servers.</a:t>
            </a:r>
            <a:endParaRPr lang="en-US" sz="1550" dirty="0"/>
          </a:p>
        </p:txBody>
      </p:sp>
      <p:sp>
        <p:nvSpPr>
          <p:cNvPr id="17" name="Shape 13">
            <a:extLst>
              <a:ext uri="{FF2B5EF4-FFF2-40B4-BE49-F238E27FC236}">
                <a16:creationId xmlns:a16="http://schemas.microsoft.com/office/drawing/2014/main" id="{29434925-C6F7-BB00-EE7F-780CF6D02B79}"/>
              </a:ext>
            </a:extLst>
          </p:cNvPr>
          <p:cNvSpPr/>
          <p:nvPr/>
        </p:nvSpPr>
        <p:spPr>
          <a:xfrm>
            <a:off x="264524" y="5074920"/>
            <a:ext cx="310896" cy="310896"/>
          </a:xfrm>
          <a:prstGeom prst="ellipse">
            <a:avLst/>
          </a:prstGeom>
          <a:solidFill>
            <a:srgbClr val="E2674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FE8550C6-8D91-9EA4-76F9-F40677674B35}"/>
              </a:ext>
            </a:extLst>
          </p:cNvPr>
          <p:cNvSpPr/>
          <p:nvPr/>
        </p:nvSpPr>
        <p:spPr>
          <a:xfrm>
            <a:off x="264524" y="5074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592CD831-93B5-8D5E-FE15-78A33B943337}"/>
              </a:ext>
            </a:extLst>
          </p:cNvPr>
          <p:cNvSpPr/>
          <p:nvPr/>
        </p:nvSpPr>
        <p:spPr>
          <a:xfrm>
            <a:off x="767444" y="4951476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Its lasting importance is conceptual  </a:t>
            </a:r>
            <a:r>
              <a:rPr lang="en-US" sz="15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— it defines the responsiveness–schedulability–overhead trade-off and is the ancestor of the optimal dynamic-priority servers.</a:t>
            </a:r>
            <a:endParaRPr lang="en-US" sz="1550" dirty="0"/>
          </a:p>
        </p:txBody>
      </p:sp>
    </p:spTree>
    <p:extLst>
      <p:ext uri="{BB962C8B-B14F-4D97-AF65-F5344CB8AC3E}">
        <p14:creationId xmlns:p14="http://schemas.microsoft.com/office/powerpoint/2010/main" val="19264630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>
            <a:extLst>
              <a:ext uri="{FF2B5EF4-FFF2-40B4-BE49-F238E27FC236}">
                <a16:creationId xmlns:a16="http://schemas.microsoft.com/office/drawing/2014/main" id="{09FF410E-6E65-06F8-A956-1B31DF976E4B}"/>
              </a:ext>
            </a:extLst>
          </p:cNvPr>
          <p:cNvSpPr/>
          <p:nvPr/>
        </p:nvSpPr>
        <p:spPr>
          <a:xfrm>
            <a:off x="11393424" y="457200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159A8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B2CC1BD7-D421-3DC7-571C-7CD48C81BC53}"/>
              </a:ext>
            </a:extLst>
          </p:cNvPr>
          <p:cNvSpPr/>
          <p:nvPr/>
        </p:nvSpPr>
        <p:spPr>
          <a:xfrm>
            <a:off x="11576304" y="603504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E2674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192F8BB0-0433-3E3A-4228-317C74151F62}"/>
              </a:ext>
            </a:extLst>
          </p:cNvPr>
          <p:cNvSpPr/>
          <p:nvPr/>
        </p:nvSpPr>
        <p:spPr>
          <a:xfrm>
            <a:off x="542107" y="214884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50" dirty="0">
                <a:solidFill>
                  <a:srgbClr val="15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&amp; METHOD</a:t>
            </a:r>
            <a:endParaRPr lang="en-US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53C4176C-E72C-73B6-929A-D656925392DD}"/>
              </a:ext>
            </a:extLst>
          </p:cNvPr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sources</a:t>
            </a:r>
            <a:endParaRPr lang="en-US" sz="3000" dirty="0"/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7C6D45A7-658C-340C-BAEA-A0F90DF002F1}"/>
              </a:ext>
            </a:extLst>
          </p:cNvPr>
          <p:cNvSpPr/>
          <p:nvPr/>
        </p:nvSpPr>
        <p:spPr>
          <a:xfrm>
            <a:off x="276931" y="1755648"/>
            <a:ext cx="146304" cy="146304"/>
          </a:xfrm>
          <a:prstGeom prst="ellipse">
            <a:avLst/>
          </a:prstGeom>
          <a:solidFill>
            <a:srgbClr val="159A8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BACB1A32-500A-FB0F-8260-C1D42B0D2796}"/>
              </a:ext>
            </a:extLst>
          </p:cNvPr>
          <p:cNvSpPr/>
          <p:nvPr/>
        </p:nvSpPr>
        <p:spPr>
          <a:xfrm>
            <a:off x="587827" y="1655064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Lehoczky, Sha &amp; Strosnider (1987)  </a:t>
            </a:r>
            <a:r>
              <a:rPr lang="en-US" sz="13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Origin of the Priority Exchange and Deferrable Server.  RTSS.</a:t>
            </a:r>
            <a:endParaRPr lang="en-US" sz="1300" dirty="0"/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B6FB47E5-64E8-E40B-DABE-D5A858A1463B}"/>
              </a:ext>
            </a:extLst>
          </p:cNvPr>
          <p:cNvSpPr/>
          <p:nvPr/>
        </p:nvSpPr>
        <p:spPr>
          <a:xfrm>
            <a:off x="276931" y="2432304"/>
            <a:ext cx="146304" cy="146304"/>
          </a:xfrm>
          <a:prstGeom prst="ellipse">
            <a:avLst/>
          </a:prstGeom>
          <a:solidFill>
            <a:srgbClr val="159A8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D80355FB-F00A-2B1B-C294-34DCFBAA55F7}"/>
              </a:ext>
            </a:extLst>
          </p:cNvPr>
          <p:cNvSpPr/>
          <p:nvPr/>
        </p:nvSpPr>
        <p:spPr>
          <a:xfrm>
            <a:off x="587827" y="233172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Buttazzo (2011)  </a:t>
            </a:r>
            <a:r>
              <a:rPr lang="en-US" sz="13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Hard Real-Time Computing Systems, 3rd ed.  Primary reference.</a:t>
            </a:r>
            <a:endParaRPr lang="en-US" sz="1300" dirty="0"/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85B8C0DE-1F83-5E72-BDDB-6A78A0266CAF}"/>
              </a:ext>
            </a:extLst>
          </p:cNvPr>
          <p:cNvSpPr/>
          <p:nvPr/>
        </p:nvSpPr>
        <p:spPr>
          <a:xfrm>
            <a:off x="276931" y="3108960"/>
            <a:ext cx="146304" cy="146304"/>
          </a:xfrm>
          <a:prstGeom prst="ellipse">
            <a:avLst/>
          </a:prstGeom>
          <a:solidFill>
            <a:srgbClr val="159A8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B4FF49DB-B689-2DC0-6E0C-A80B74B27BAA}"/>
              </a:ext>
            </a:extLst>
          </p:cNvPr>
          <p:cNvSpPr/>
          <p:nvPr/>
        </p:nvSpPr>
        <p:spPr>
          <a:xfrm>
            <a:off x="587827" y="3008376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Spuri &amp; Buttazzo (1994, 1996)  </a:t>
            </a:r>
            <a:r>
              <a:rPr lang="en-US" sz="13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Dynamic and Improved Priority Exchange under EDF.</a:t>
            </a:r>
            <a:endParaRPr lang="en-US" sz="1300" dirty="0"/>
          </a:p>
        </p:txBody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0FFBD240-A1DD-1A28-4F14-C2CCB9A2973C}"/>
              </a:ext>
            </a:extLst>
          </p:cNvPr>
          <p:cNvSpPr/>
          <p:nvPr/>
        </p:nvSpPr>
        <p:spPr>
          <a:xfrm>
            <a:off x="276931" y="3785616"/>
            <a:ext cx="146304" cy="146304"/>
          </a:xfrm>
          <a:prstGeom prst="ellipse">
            <a:avLst/>
          </a:prstGeom>
          <a:solidFill>
            <a:srgbClr val="159A8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B03B35D8-0935-CDC1-7327-D8727BB28737}"/>
              </a:ext>
            </a:extLst>
          </p:cNvPr>
          <p:cNvSpPr/>
          <p:nvPr/>
        </p:nvSpPr>
        <p:spPr>
          <a:xfrm>
            <a:off x="587827" y="3685032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Sprunt, Sha &amp; Lehoczky (1989)  </a:t>
            </a:r>
            <a:r>
              <a:rPr lang="en-US" sz="13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Sporadic Server.  Real-Time Systems.</a:t>
            </a:r>
            <a:endParaRPr lang="en-US" sz="1300" dirty="0"/>
          </a:p>
        </p:txBody>
      </p:sp>
      <p:sp>
        <p:nvSpPr>
          <p:cNvPr id="18" name="Shape 14">
            <a:extLst>
              <a:ext uri="{FF2B5EF4-FFF2-40B4-BE49-F238E27FC236}">
                <a16:creationId xmlns:a16="http://schemas.microsoft.com/office/drawing/2014/main" id="{2AE47AA3-BD3F-41E0-A9C6-A6A24A9EA0DF}"/>
              </a:ext>
            </a:extLst>
          </p:cNvPr>
          <p:cNvSpPr/>
          <p:nvPr/>
        </p:nvSpPr>
        <p:spPr>
          <a:xfrm>
            <a:off x="276931" y="4462272"/>
            <a:ext cx="146304" cy="146304"/>
          </a:xfrm>
          <a:prstGeom prst="ellipse">
            <a:avLst/>
          </a:prstGeom>
          <a:solidFill>
            <a:srgbClr val="159A8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A0E883DE-FBE0-55AC-6C79-A938A35A696E}"/>
              </a:ext>
            </a:extLst>
          </p:cNvPr>
          <p:cNvSpPr/>
          <p:nvPr/>
        </p:nvSpPr>
        <p:spPr>
          <a:xfrm>
            <a:off x="587827" y="4361688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Davis &amp; Wellings (1995)  </a:t>
            </a:r>
            <a:r>
              <a:rPr lang="en-US" sz="13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Dual-priority scheduling; critique of offline reclaiming.</a:t>
            </a:r>
            <a:endParaRPr lang="en-US" sz="1300" dirty="0"/>
          </a:p>
        </p:txBody>
      </p:sp>
      <p:sp>
        <p:nvSpPr>
          <p:cNvPr id="20" name="Shape 16">
            <a:extLst>
              <a:ext uri="{FF2B5EF4-FFF2-40B4-BE49-F238E27FC236}">
                <a16:creationId xmlns:a16="http://schemas.microsoft.com/office/drawing/2014/main" id="{530125D2-1D01-7EC0-2A58-FE2C6BA78A98}"/>
              </a:ext>
            </a:extLst>
          </p:cNvPr>
          <p:cNvSpPr/>
          <p:nvPr/>
        </p:nvSpPr>
        <p:spPr>
          <a:xfrm>
            <a:off x="276931" y="5138928"/>
            <a:ext cx="146304" cy="146304"/>
          </a:xfrm>
          <a:prstGeom prst="ellipse">
            <a:avLst/>
          </a:prstGeom>
          <a:solidFill>
            <a:srgbClr val="159A8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D4D6A90D-6CA8-0660-396A-334B24FF7538}"/>
              </a:ext>
            </a:extLst>
          </p:cNvPr>
          <p:cNvSpPr/>
          <p:nvPr/>
        </p:nvSpPr>
        <p:spPr>
          <a:xfrm>
            <a:off x="587827" y="5038344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Liu &amp; Layland (1973)  </a:t>
            </a:r>
            <a:r>
              <a:rPr lang="en-US" sz="13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rate-monotonic utilization bound.  JACM.</a:t>
            </a:r>
            <a:endParaRPr lang="en-US" sz="1300" dirty="0"/>
          </a:p>
        </p:txBody>
      </p:sp>
      <p:sp>
        <p:nvSpPr>
          <p:cNvPr id="22" name="Shape 18">
            <a:extLst>
              <a:ext uri="{FF2B5EF4-FFF2-40B4-BE49-F238E27FC236}">
                <a16:creationId xmlns:a16="http://schemas.microsoft.com/office/drawing/2014/main" id="{DA189D7F-7501-1B44-5AD9-B82B4F23263C}"/>
              </a:ext>
            </a:extLst>
          </p:cNvPr>
          <p:cNvSpPr/>
          <p:nvPr/>
        </p:nvSpPr>
        <p:spPr>
          <a:xfrm>
            <a:off x="6988627" y="1691640"/>
            <a:ext cx="4297680" cy="4069080"/>
          </a:xfrm>
          <a:prstGeom prst="roundRect">
            <a:avLst>
              <a:gd name="adj" fmla="val 2247"/>
            </a:avLst>
          </a:prstGeom>
          <a:solidFill>
            <a:srgbClr val="F2F5F8"/>
          </a:solidFill>
          <a:ln w="12700">
            <a:solidFill>
              <a:srgbClr val="D8E0E8"/>
            </a:solidFill>
            <a:prstDash val="solid"/>
          </a:ln>
          <a:effectLst>
            <a:outerShdw blurRad="114300" dist="38100" dir="5400000" algn="bl" rotWithShape="0">
              <a:srgbClr val="8499AE">
                <a:alpha val="2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3" name="Shape 19">
            <a:extLst>
              <a:ext uri="{FF2B5EF4-FFF2-40B4-BE49-F238E27FC236}">
                <a16:creationId xmlns:a16="http://schemas.microsoft.com/office/drawing/2014/main" id="{8DE1EA1A-799A-F56B-C37D-5C1557708559}"/>
              </a:ext>
            </a:extLst>
          </p:cNvPr>
          <p:cNvSpPr/>
          <p:nvPr/>
        </p:nvSpPr>
        <p:spPr>
          <a:xfrm>
            <a:off x="7262947" y="1920240"/>
            <a:ext cx="548640" cy="548640"/>
          </a:xfrm>
          <a:prstGeom prst="ellipse">
            <a:avLst/>
          </a:prstGeom>
          <a:solidFill>
            <a:srgbClr val="1B3A5B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24" name="Image 0" descr="preencoded.png">
            <a:extLst>
              <a:ext uri="{FF2B5EF4-FFF2-40B4-BE49-F238E27FC236}">
                <a16:creationId xmlns:a16="http://schemas.microsoft.com/office/drawing/2014/main" id="{51504DD8-1D34-40EF-CB06-89419737E4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7539" y="2084832"/>
            <a:ext cx="219456" cy="219456"/>
          </a:xfrm>
          <a:prstGeom prst="rect">
            <a:avLst/>
          </a:prstGeom>
        </p:spPr>
      </p:pic>
      <p:sp>
        <p:nvSpPr>
          <p:cNvPr id="25" name="Text 20">
            <a:extLst>
              <a:ext uri="{FF2B5EF4-FFF2-40B4-BE49-F238E27FC236}">
                <a16:creationId xmlns:a16="http://schemas.microsoft.com/office/drawing/2014/main" id="{0F343555-E184-ED92-1770-A1B9BE37FBA7}"/>
              </a:ext>
            </a:extLst>
          </p:cNvPr>
          <p:cNvSpPr/>
          <p:nvPr/>
        </p:nvSpPr>
        <p:spPr>
          <a:xfrm>
            <a:off x="7948747" y="1975104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usage protocol</a:t>
            </a:r>
            <a:endParaRPr lang="en-US" sz="1600" dirty="0"/>
          </a:p>
        </p:txBody>
      </p:sp>
      <p:sp>
        <p:nvSpPr>
          <p:cNvPr id="26" name="Text 21">
            <a:extLst>
              <a:ext uri="{FF2B5EF4-FFF2-40B4-BE49-F238E27FC236}">
                <a16:creationId xmlns:a16="http://schemas.microsoft.com/office/drawing/2014/main" id="{2727561A-00DC-A231-CB15-D94DCDE68EA4}"/>
              </a:ext>
            </a:extLst>
          </p:cNvPr>
          <p:cNvSpPr/>
          <p:nvPr/>
        </p:nvSpPr>
        <p:spPr>
          <a:xfrm>
            <a:off x="7262947" y="260604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 (Anthropic Claude) assisted with drafting, source synthesis, the schedule simulator, and LaTeX / figure generation.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formula was verified against Buttazzo, each citation checked against the published record, and the schedule traced by hand.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10186131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Eki-ProjektMeeting.potx" id="{E3380594-1F68-41BF-B00D-D278C55573EE}" vid="{1F2C3E56-6124-438B-95EF-9390E48F948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</Template>
  <TotalTime>0</TotalTime>
  <Words>1525</Words>
  <Application>Microsoft Office PowerPoint</Application>
  <PresentationFormat>Widescreen</PresentationFormat>
  <Paragraphs>196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Cambria</vt:lpstr>
      <vt:lpstr>Source Sans Pro</vt:lpstr>
      <vt:lpstr>Office-Design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Scalora, Giuseppe</dc:creator>
  <cp:lastModifiedBy>Jubair Salehin</cp:lastModifiedBy>
  <cp:revision>10</cp:revision>
  <dcterms:created xsi:type="dcterms:W3CDTF">2025-03-17T09:02:15Z</dcterms:created>
  <dcterms:modified xsi:type="dcterms:W3CDTF">2026-06-11T22:35:34Z</dcterms:modified>
</cp:coreProperties>
</file>