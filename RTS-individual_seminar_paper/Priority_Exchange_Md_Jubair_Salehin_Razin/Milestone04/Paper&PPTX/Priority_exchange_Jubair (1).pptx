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69" r:id="rId2"/>
    <p:sldId id="284" r:id="rId3"/>
    <p:sldId id="297" r:id="rId4"/>
    <p:sldId id="285" r:id="rId5"/>
    <p:sldId id="298" r:id="rId6"/>
    <p:sldId id="286" r:id="rId7"/>
    <p:sldId id="299" r:id="rId8"/>
    <p:sldId id="287" r:id="rId9"/>
    <p:sldId id="300" r:id="rId10"/>
    <p:sldId id="288" r:id="rId11"/>
    <p:sldId id="301" r:id="rId12"/>
    <p:sldId id="289" r:id="rId13"/>
    <p:sldId id="302" r:id="rId14"/>
    <p:sldId id="290" r:id="rId15"/>
    <p:sldId id="305" r:id="rId16"/>
    <p:sldId id="308" r:id="rId17"/>
    <p:sldId id="306" r:id="rId18"/>
    <p:sldId id="307" r:id="rId19"/>
    <p:sldId id="291" r:id="rId20"/>
    <p:sldId id="304" r:id="rId21"/>
    <p:sldId id="295" r:id="rId22"/>
    <p:sldId id="294" r:id="rId23"/>
    <p:sldId id="296" r:id="rId24"/>
  </p:sldIdLst>
  <p:sldSz cx="12192000" cy="6858000"/>
  <p:notesSz cx="6858000" cy="9144000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>
        <p:scale>
          <a:sx n="77" d="100"/>
          <a:sy n="77" d="100"/>
        </p:scale>
        <p:origin x="58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519575-2134-44B1-ACAF-07CCE9E28C50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198BAC-E3B7-426F-96D7-06A84AD3C692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7403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864002" y="1438813"/>
            <a:ext cx="10027213" cy="1470025"/>
          </a:xfrm>
        </p:spPr>
        <p:txBody>
          <a:bodyPr>
            <a:normAutofit/>
          </a:bodyPr>
          <a:lstStyle>
            <a:lvl1pPr algn="l">
              <a:defRPr sz="4000" b="1" i="0">
                <a:latin typeface="Source Sans Pro"/>
                <a:cs typeface="Source Sans Pro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864002" y="3176700"/>
            <a:ext cx="10027213" cy="2254848"/>
          </a:xfrm>
        </p:spPr>
        <p:txBody>
          <a:bodyPr/>
          <a:lstStyle>
            <a:lvl1pPr marL="0" indent="0" algn="l">
              <a:buNone/>
              <a:defRPr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7" name="Datumsplatzhalter 3"/>
          <p:cNvSpPr>
            <a:spLocks noGrp="1"/>
          </p:cNvSpPr>
          <p:nvPr>
            <p:ph type="dt" sz="half" idx="2"/>
          </p:nvPr>
        </p:nvSpPr>
        <p:spPr>
          <a:xfrm>
            <a:off x="864000" y="6492816"/>
            <a:ext cx="2844800" cy="11195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794CCCFB-613A-4270-BF36-979CC0F429E7}" type="datetime1">
              <a:rPr lang="de-DE" smtClean="0"/>
              <a:t>21.06.2026</a:t>
            </a:fld>
            <a:endParaRPr lang="de-DE"/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531200" y="6493481"/>
            <a:ext cx="284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400331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umsplatzhalter 3"/>
          <p:cNvSpPr>
            <a:spLocks noGrp="1"/>
          </p:cNvSpPr>
          <p:nvPr>
            <p:ph type="dt" sz="half" idx="2"/>
          </p:nvPr>
        </p:nvSpPr>
        <p:spPr>
          <a:xfrm>
            <a:off x="864000" y="6492816"/>
            <a:ext cx="2844800" cy="11195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C73B7B6B-3EB3-4ED6-94BC-B4ED82CDABAA}" type="datetime1">
              <a:rPr lang="de-DE" smtClean="0"/>
              <a:t>21.06.2026</a:t>
            </a:fld>
            <a:endParaRPr lang="de-DE"/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531200" y="6493481"/>
            <a:ext cx="284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1883199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B1ED0-F58B-47A2-8F86-814B01FB39A5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7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2876070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64000" y="2020711"/>
            <a:ext cx="5130400" cy="410545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2020711"/>
            <a:ext cx="4900309" cy="410545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85BED-CC4F-463A-8A80-64B2EFC651AD}" type="datetime1">
              <a:rPr lang="de-DE" smtClean="0"/>
              <a:t>21.06.2026</a:t>
            </a:fld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3862517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A36D5-CE1F-477D-A17C-8916F9CDFE14}" type="datetime1">
              <a:rPr lang="de-DE" smtClean="0"/>
              <a:t>21.06.2026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139993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BD278-955B-4498-8856-ECE81EF90027}" type="datetime1">
              <a:rPr lang="de-DE" smtClean="0"/>
              <a:t>21.06.2026</a:t>
            </a:fld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4076266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699910"/>
            <a:ext cx="4011084" cy="73518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4" y="699911"/>
            <a:ext cx="6499578" cy="54262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601" y="1580444"/>
            <a:ext cx="4011084" cy="45457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94D1-CA53-4E1D-B870-BD758B84977E}" type="datetime1">
              <a:rPr lang="de-DE" smtClean="0"/>
              <a:t>21.06.2026</a:t>
            </a:fld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</p:spTree>
    <p:extLst>
      <p:ext uri="{BB962C8B-B14F-4D97-AF65-F5344CB8AC3E}">
        <p14:creationId xmlns:p14="http://schemas.microsoft.com/office/powerpoint/2010/main" val="2036701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/>
        </p:nvSpPr>
        <p:spPr>
          <a:xfrm>
            <a:off x="0" y="648000"/>
            <a:ext cx="11376000" cy="567000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64000" y="745650"/>
            <a:ext cx="1023390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64000" y="2021181"/>
            <a:ext cx="10233909" cy="4104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64000" y="6492816"/>
            <a:ext cx="2844800" cy="11195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de-DE" sz="700" b="0" i="0" smtClean="0">
                <a:latin typeface="Source Sans Pro"/>
                <a:cs typeface="Source Sans Pro"/>
              </a:defRPr>
            </a:lvl1pPr>
          </a:lstStyle>
          <a:p>
            <a:fld id="{A1ADB479-0482-4487-B171-A6B68A8252A2}" type="datetime1">
              <a:rPr lang="de-DE" smtClean="0"/>
              <a:t>21.06.2026</a:t>
            </a:fld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531200" y="6493481"/>
            <a:ext cx="284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427882D2-76ED-40F5-9AA8-D6B4E564DC5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493481"/>
            <a:ext cx="41148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lang="de-DE" sz="700" b="0" i="0">
                <a:latin typeface="Source Sans Pro"/>
                <a:cs typeface="Source Sans Pro"/>
              </a:defRPr>
            </a:lvl1pPr>
          </a:lstStyle>
          <a:p>
            <a:r>
              <a:rPr lang="de-DE"/>
              <a:t>HSHL-Real Time System</a:t>
            </a:r>
          </a:p>
        </p:txBody>
      </p:sp>
      <p:pic>
        <p:nvPicPr>
          <p:cNvPr id="9" name="Bild 6" descr="HSHL_Logo_horizontal_RGB_Sequenz_Animation.gif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2000" y="247172"/>
            <a:ext cx="1404000" cy="20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777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000" b="1" i="0" kern="1200">
          <a:solidFill>
            <a:schemeClr val="tx1"/>
          </a:solidFill>
          <a:latin typeface="Source Sans Pro"/>
          <a:ea typeface="+mj-ea"/>
          <a:cs typeface="Source Sans Pro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b="0" i="0" kern="1200">
          <a:solidFill>
            <a:schemeClr val="tx1"/>
          </a:solidFill>
          <a:latin typeface="Source Sans Pro"/>
          <a:ea typeface="+mn-ea"/>
          <a:cs typeface="Source Sans Pro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b="0" i="0" kern="1200">
          <a:solidFill>
            <a:schemeClr val="tx1"/>
          </a:solidFill>
          <a:latin typeface="Source Sans Pro"/>
          <a:ea typeface="+mn-ea"/>
          <a:cs typeface="Source Sans Pro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b="0" i="0" kern="1200">
          <a:solidFill>
            <a:schemeClr val="tx1"/>
          </a:solidFill>
          <a:latin typeface="Source Sans Pro"/>
          <a:ea typeface="+mn-ea"/>
          <a:cs typeface="Source Sans Pro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b="0" i="0" kern="1200">
          <a:solidFill>
            <a:schemeClr val="tx1"/>
          </a:solidFill>
          <a:latin typeface="Source Sans Pro"/>
          <a:ea typeface="+mn-ea"/>
          <a:cs typeface="Source Sans Pro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b="0" i="0" kern="1200">
          <a:solidFill>
            <a:schemeClr val="tx1"/>
          </a:solidFill>
          <a:latin typeface="Source Sans Pro"/>
          <a:ea typeface="+mn-ea"/>
          <a:cs typeface="Source Sans Pro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F5103BC8-01FF-80E5-1EE1-E86C628E89D9}"/>
              </a:ext>
            </a:extLst>
          </p:cNvPr>
          <p:cNvSpPr/>
          <p:nvPr/>
        </p:nvSpPr>
        <p:spPr>
          <a:xfrm>
            <a:off x="77724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159A8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REAL-TIME SYSTEMS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4BD1D3F-72DC-094F-EDD8-7994974C7D1C}"/>
              </a:ext>
            </a:extLst>
          </p:cNvPr>
          <p:cNvSpPr/>
          <p:nvPr/>
        </p:nvSpPr>
        <p:spPr>
          <a:xfrm>
            <a:off x="777240" y="1828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Priority Exchange</a:t>
            </a:r>
            <a:endParaRPr lang="en-US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CD688C7-2973-29F1-BB12-B2EE35B40C46}"/>
              </a:ext>
            </a:extLst>
          </p:cNvPr>
          <p:cNvSpPr/>
          <p:nvPr/>
        </p:nvSpPr>
        <p:spPr>
          <a:xfrm>
            <a:off x="777240" y="5144589"/>
            <a:ext cx="2834640" cy="0"/>
          </a:xfrm>
          <a:prstGeom prst="line">
            <a:avLst/>
          </a:prstGeom>
          <a:noFill/>
          <a:ln w="19050">
            <a:solidFill>
              <a:srgbClr val="42678E"/>
            </a:solidFill>
            <a:prstDash val="solid"/>
          </a:ln>
        </p:spPr>
        <p:txBody>
          <a:bodyPr/>
          <a:lstStyle/>
          <a:p>
            <a:endParaRPr lang="de-DE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44F9511-517C-3515-7C88-65782CF9BB28}"/>
              </a:ext>
            </a:extLst>
          </p:cNvPr>
          <p:cNvSpPr/>
          <p:nvPr/>
        </p:nvSpPr>
        <p:spPr>
          <a:xfrm>
            <a:off x="777240" y="5144589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Md Jubair Salehin Razin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Hochschule Hamm-Lippstadt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E8AC4F9-AEE3-C51B-686C-0472E4DE0F1B}"/>
              </a:ext>
            </a:extLst>
          </p:cNvPr>
          <p:cNvSpPr/>
          <p:nvPr/>
        </p:nvSpPr>
        <p:spPr>
          <a:xfrm>
            <a:off x="777240" y="30175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Mechanism  ·  Schedulability  ·  Dynamic-Priority Extensions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C6579D-E19A-6177-0167-03020A61E8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E4EDA-F123-EDE5-9814-0B54C1761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7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0463C68-E29D-9CE7-3FFB-5349B56782E8}"/>
              </a:ext>
            </a:extLst>
          </p:cNvPr>
          <p:cNvSpPr/>
          <p:nvPr/>
        </p:nvSpPr>
        <p:spPr>
          <a:xfrm>
            <a:off x="440439" y="169493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SETTING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71254B34-2EEF-AF9F-D90A-0A6A16042552}"/>
              </a:ext>
            </a:extLst>
          </p:cNvPr>
          <p:cNvSpPr/>
          <p:nvPr/>
        </p:nvSpPr>
        <p:spPr>
          <a:xfrm>
            <a:off x="698866" y="73979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One CPU, Two Kinds of Work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2F4280EA-9645-CBC0-8509-D96B4DDD2CD4}"/>
              </a:ext>
            </a:extLst>
          </p:cNvPr>
          <p:cNvSpPr/>
          <p:nvPr/>
        </p:nvSpPr>
        <p:spPr>
          <a:xfrm>
            <a:off x="589698" y="2003405"/>
            <a:ext cx="5108973" cy="2668311"/>
          </a:xfrm>
          <a:prstGeom prst="roundRect">
            <a:avLst>
              <a:gd name="adj" fmla="val 3529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6D6B9154-CE64-C283-6087-6C5931B2BC41}"/>
              </a:ext>
            </a:extLst>
          </p:cNvPr>
          <p:cNvSpPr/>
          <p:nvPr/>
        </p:nvSpPr>
        <p:spPr>
          <a:xfrm>
            <a:off x="1645376" y="2205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5E8C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Hard periodic tasks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273B06AD-1A9E-0D0C-9C37-B20C295BD539}"/>
              </a:ext>
            </a:extLst>
          </p:cNvPr>
          <p:cNvSpPr/>
          <p:nvPr/>
        </p:nvSpPr>
        <p:spPr>
          <a:xfrm>
            <a:off x="839835" y="3232871"/>
            <a:ext cx="4608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Deadlines verified offline by a worst-case test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Relative deadline = period; a miss is catastrophic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Control loops, signal processing, actuation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8FCED2E2-F5FE-87F2-7F0B-B464DD1E09CE}"/>
              </a:ext>
            </a:extLst>
          </p:cNvPr>
          <p:cNvSpPr/>
          <p:nvPr/>
        </p:nvSpPr>
        <p:spPr>
          <a:xfrm>
            <a:off x="6096000" y="2021692"/>
            <a:ext cx="5021577" cy="2668312"/>
          </a:xfrm>
          <a:prstGeom prst="roundRect">
            <a:avLst>
              <a:gd name="adj" fmla="val 3529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491584BF-C4A7-0738-3798-FB75957DE354}"/>
              </a:ext>
            </a:extLst>
          </p:cNvPr>
          <p:cNvSpPr/>
          <p:nvPr/>
        </p:nvSpPr>
        <p:spPr>
          <a:xfrm>
            <a:off x="7237479" y="2142867"/>
            <a:ext cx="3480026" cy="58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A9E5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Soft aperiodic events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C53D3B61-373A-512B-AF9D-9FCE028FED11}"/>
              </a:ext>
            </a:extLst>
          </p:cNvPr>
          <p:cNvSpPr/>
          <p:nvPr/>
        </p:nvSpPr>
        <p:spPr>
          <a:xfrm>
            <a:off x="6418080" y="2876433"/>
            <a:ext cx="4571049" cy="16365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Arrival times unknown beforehand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hard deadline but want the shortest response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Operator commands, alarms, mode changes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05C5D6D-4879-9424-0A92-0D3147326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481A1E-3F53-5D2E-1AB6-BC673E22D2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4366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0D91CE-63D7-2645-1B03-4C96AF9062D9}"/>
              </a:ext>
            </a:extLst>
          </p:cNvPr>
          <p:cNvSpPr txBox="1"/>
          <p:nvPr/>
        </p:nvSpPr>
        <p:spPr>
          <a:xfrm>
            <a:off x="3048000" y="1305342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“Here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basic</a:t>
            </a:r>
            <a:r>
              <a:rPr lang="de-DE" dirty="0"/>
              <a:t> </a:t>
            </a:r>
            <a:r>
              <a:rPr lang="de-DE" dirty="0" err="1"/>
              <a:t>setting</a:t>
            </a:r>
            <a:r>
              <a:rPr lang="de-DE" dirty="0"/>
              <a:t>.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CPU, so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processor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at a time. In </a:t>
            </a:r>
            <a:r>
              <a:rPr lang="de-DE" dirty="0" err="1"/>
              <a:t>this</a:t>
            </a:r>
            <a:r>
              <a:rPr lang="de-DE" dirty="0"/>
              <a:t> CPU,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kinds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. First,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hard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. These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repeat</a:t>
            </a:r>
            <a:r>
              <a:rPr lang="de-DE" dirty="0"/>
              <a:t> </a:t>
            </a:r>
            <a:r>
              <a:rPr lang="de-DE" dirty="0" err="1"/>
              <a:t>again</a:t>
            </a:r>
            <a:r>
              <a:rPr lang="de-DE" dirty="0"/>
              <a:t> and </a:t>
            </a:r>
            <a:r>
              <a:rPr lang="de-DE" dirty="0" err="1"/>
              <a:t>again</a:t>
            </a:r>
            <a:r>
              <a:rPr lang="de-DE" dirty="0"/>
              <a:t> after a </a:t>
            </a:r>
            <a:r>
              <a:rPr lang="de-DE" dirty="0" err="1"/>
              <a:t>fixed</a:t>
            </a:r>
            <a:r>
              <a:rPr lang="de-DE" dirty="0"/>
              <a:t> time.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reading</a:t>
            </a:r>
            <a:r>
              <a:rPr lang="de-DE" dirty="0"/>
              <a:t>, 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braking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and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. These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hard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deadline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dangerous</a:t>
            </a:r>
            <a:r>
              <a:rPr lang="de-DE" dirty="0"/>
              <a:t>.</a:t>
            </a:r>
          </a:p>
          <a:p>
            <a:pPr>
              <a:buNone/>
            </a:pPr>
            <a:r>
              <a:rPr lang="de-DE" dirty="0"/>
              <a:t>Second,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soft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events</a:t>
            </a:r>
            <a:r>
              <a:rPr lang="de-DE" dirty="0"/>
              <a:t>.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do not </a:t>
            </a: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will </a:t>
            </a:r>
            <a:r>
              <a:rPr lang="de-DE" dirty="0" err="1"/>
              <a:t>arrive</a:t>
            </a:r>
            <a:r>
              <a:rPr lang="de-DE" dirty="0"/>
              <a:t>. These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alarms</a:t>
            </a:r>
            <a:r>
              <a:rPr lang="de-DE" dirty="0"/>
              <a:t>, </a:t>
            </a:r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commands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mode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.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soft </a:t>
            </a:r>
            <a:r>
              <a:rPr lang="de-DE" dirty="0" err="1"/>
              <a:t>because</a:t>
            </a:r>
            <a:r>
              <a:rPr lang="de-DE" dirty="0"/>
              <a:t> a </a:t>
            </a:r>
            <a:r>
              <a:rPr lang="de-DE" dirty="0" err="1"/>
              <a:t>late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not </a:t>
            </a:r>
            <a:r>
              <a:rPr lang="de-DE" dirty="0" err="1"/>
              <a:t>destroy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, but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worse</a:t>
            </a:r>
            <a:r>
              <a:rPr lang="de-DE" dirty="0"/>
              <a:t>.</a:t>
            </a:r>
          </a:p>
          <a:p>
            <a:pPr>
              <a:buNone/>
            </a:pPr>
            <a:r>
              <a:rPr lang="de-DE" dirty="0"/>
              <a:t>So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: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unpredictable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events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fast </a:t>
            </a:r>
            <a:r>
              <a:rPr lang="de-DE" dirty="0" err="1"/>
              <a:t>as</a:t>
            </a:r>
            <a:r>
              <a:rPr lang="de-DE" dirty="0"/>
              <a:t> possible,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ever</a:t>
            </a:r>
            <a:r>
              <a:rPr lang="de-DE" dirty="0"/>
              <a:t> </a:t>
            </a:r>
            <a:r>
              <a:rPr lang="de-DE" dirty="0" err="1"/>
              <a:t>risking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hard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deadlines</a:t>
            </a:r>
            <a:r>
              <a:rPr lang="de-DE" dirty="0"/>
              <a:t>?”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A3E8598-E47D-59DD-E251-66DDAC0650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5A1B22-2F83-E185-5DE1-C4B7F0C25B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318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406BCF8C-D3FD-E574-70D7-F4BE9064734F}"/>
              </a:ext>
            </a:extLst>
          </p:cNvPr>
          <p:cNvSpPr/>
          <p:nvPr/>
        </p:nvSpPr>
        <p:spPr>
          <a:xfrm>
            <a:off x="443050" y="201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BASELINES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7BC39839-E168-6E0D-1A3D-D0C85BE3FE63}"/>
              </a:ext>
            </a:extLst>
          </p:cNvPr>
          <p:cNvSpPr/>
          <p:nvPr/>
        </p:nvSpPr>
        <p:spPr>
          <a:xfrm>
            <a:off x="573679" y="630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Two Naive Answers — Each Flawed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AA8C0771-AD62-26EE-482E-1D10EDAF69EE}"/>
              </a:ext>
            </a:extLst>
          </p:cNvPr>
          <p:cNvSpPr/>
          <p:nvPr/>
        </p:nvSpPr>
        <p:spPr>
          <a:xfrm>
            <a:off x="382752" y="1890979"/>
            <a:ext cx="4926651" cy="2916849"/>
          </a:xfrm>
          <a:prstGeom prst="roundRect">
            <a:avLst>
              <a:gd name="adj" fmla="val 3333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8AB985B-EC23-4A61-ED37-903B181D1691}"/>
              </a:ext>
            </a:extLst>
          </p:cNvPr>
          <p:cNvSpPr/>
          <p:nvPr/>
        </p:nvSpPr>
        <p:spPr>
          <a:xfrm>
            <a:off x="1035450" y="2022568"/>
            <a:ext cx="36173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Background scheduling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E5B40B5A-31D8-910E-A3C2-6E090388EA1C}"/>
              </a:ext>
            </a:extLst>
          </p:cNvPr>
          <p:cNvSpPr/>
          <p:nvPr/>
        </p:nvSpPr>
        <p:spPr>
          <a:xfrm>
            <a:off x="633768" y="2873003"/>
            <a:ext cx="4471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C8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Aperiodic work runs only when no periodic task is ready.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6AA6BBE-D81B-9D2C-E0C8-BB07F625A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415" y="3822192"/>
            <a:ext cx="201168" cy="201168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A6709726-75F6-CA74-D550-E646A16162A8}"/>
              </a:ext>
            </a:extLst>
          </p:cNvPr>
          <p:cNvSpPr/>
          <p:nvPr/>
        </p:nvSpPr>
        <p:spPr>
          <a:xfrm>
            <a:off x="1035450" y="3758924"/>
            <a:ext cx="39493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Never disturbs the periodic guarantee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E62FA065-8BA3-B786-1119-8F944627073A}"/>
              </a:ext>
            </a:extLst>
          </p:cNvPr>
          <p:cNvSpPr/>
          <p:nvPr/>
        </p:nvSpPr>
        <p:spPr>
          <a:xfrm>
            <a:off x="747415" y="4217213"/>
            <a:ext cx="201168" cy="201168"/>
          </a:xfrm>
          <a:prstGeom prst="ellipse">
            <a:avLst/>
          </a:prstGeom>
          <a:solidFill>
            <a:srgbClr val="C2563B"/>
          </a:solidFill>
          <a:ln/>
        </p:spPr>
        <p:txBody>
          <a:bodyPr/>
          <a:lstStyle/>
          <a:p>
            <a:endParaRPr lang="de-D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 3" descr="preencoded.png">
            <a:extLst>
              <a:ext uri="{FF2B5EF4-FFF2-40B4-BE49-F238E27FC236}">
                <a16:creationId xmlns:a16="http://schemas.microsoft.com/office/drawing/2014/main" id="{F5FD18EB-1C36-9D44-932A-1D309D7C5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750" y="4248260"/>
            <a:ext cx="137160" cy="137160"/>
          </a:xfrm>
          <a:prstGeom prst="rect">
            <a:avLst/>
          </a:prstGeom>
        </p:spPr>
      </p:pic>
      <p:sp>
        <p:nvSpPr>
          <p:cNvPr id="17" name="Text 9">
            <a:extLst>
              <a:ext uri="{FF2B5EF4-FFF2-40B4-BE49-F238E27FC236}">
                <a16:creationId xmlns:a16="http://schemas.microsoft.com/office/drawing/2014/main" id="{51DCBF9B-53C5-DED3-88AE-9BA4B60D72F9}"/>
              </a:ext>
            </a:extLst>
          </p:cNvPr>
          <p:cNvSpPr/>
          <p:nvPr/>
        </p:nvSpPr>
        <p:spPr>
          <a:xfrm>
            <a:off x="1035450" y="4124816"/>
            <a:ext cx="4146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Response time unbounded under high load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91363551-F305-8E3D-77CA-F7ADB385D2F4}"/>
              </a:ext>
            </a:extLst>
          </p:cNvPr>
          <p:cNvSpPr/>
          <p:nvPr/>
        </p:nvSpPr>
        <p:spPr>
          <a:xfrm>
            <a:off x="5523634" y="1890979"/>
            <a:ext cx="4926652" cy="2920507"/>
          </a:xfrm>
          <a:prstGeom prst="roundRect">
            <a:avLst>
              <a:gd name="adj" fmla="val 3333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A3A0D194-7424-2F12-CFAB-03C5AB248B62}"/>
              </a:ext>
            </a:extLst>
          </p:cNvPr>
          <p:cNvSpPr/>
          <p:nvPr/>
        </p:nvSpPr>
        <p:spPr>
          <a:xfrm>
            <a:off x="6644861" y="2031279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Polling server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CC06FECC-34F8-9938-DB17-1D7C5BA217F2}"/>
              </a:ext>
            </a:extLst>
          </p:cNvPr>
          <p:cNvSpPr/>
          <p:nvPr/>
        </p:nvSpPr>
        <p:spPr>
          <a:xfrm>
            <a:off x="5816242" y="2825496"/>
            <a:ext cx="458505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B7C8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 periodic task with reserved capacity dedicated to aperiodic service.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A59C7722-FF64-AD49-CB87-02123E4EF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42" y="3749040"/>
            <a:ext cx="201168" cy="201168"/>
          </a:xfrm>
          <a:prstGeom prst="rect">
            <a:avLst/>
          </a:prstGeom>
        </p:spPr>
      </p:pic>
      <p:sp>
        <p:nvSpPr>
          <p:cNvPr id="24" name="Text 14">
            <a:extLst>
              <a:ext uri="{FF2B5EF4-FFF2-40B4-BE49-F238E27FC236}">
                <a16:creationId xmlns:a16="http://schemas.microsoft.com/office/drawing/2014/main" id="{701EF0A5-B4F2-A32C-08B4-66788234CC58}"/>
              </a:ext>
            </a:extLst>
          </p:cNvPr>
          <p:cNvSpPr/>
          <p:nvPr/>
        </p:nvSpPr>
        <p:spPr>
          <a:xfrm>
            <a:off x="6090562" y="3657600"/>
            <a:ext cx="382088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Responsive when a request is waiting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29373A6B-E770-1749-074F-D979854425C0}"/>
              </a:ext>
            </a:extLst>
          </p:cNvPr>
          <p:cNvSpPr/>
          <p:nvPr/>
        </p:nvSpPr>
        <p:spPr>
          <a:xfrm>
            <a:off x="5816242" y="4147676"/>
            <a:ext cx="201168" cy="201168"/>
          </a:xfrm>
          <a:prstGeom prst="ellipse">
            <a:avLst/>
          </a:prstGeom>
          <a:solidFill>
            <a:srgbClr val="C2563B"/>
          </a:solidFill>
          <a:ln/>
        </p:spPr>
        <p:txBody>
          <a:bodyPr/>
          <a:lstStyle/>
          <a:p>
            <a:endParaRPr lang="de-D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Image 6" descr="preencoded.png">
            <a:extLst>
              <a:ext uri="{FF2B5EF4-FFF2-40B4-BE49-F238E27FC236}">
                <a16:creationId xmlns:a16="http://schemas.microsoft.com/office/drawing/2014/main" id="{CF444DC3-269C-453B-81DF-3C70CA2D9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246" y="4179680"/>
            <a:ext cx="137160" cy="137160"/>
          </a:xfrm>
          <a:prstGeom prst="rect">
            <a:avLst/>
          </a:prstGeom>
        </p:spPr>
      </p:pic>
      <p:sp>
        <p:nvSpPr>
          <p:cNvPr id="27" name="Text 16">
            <a:extLst>
              <a:ext uri="{FF2B5EF4-FFF2-40B4-BE49-F238E27FC236}">
                <a16:creationId xmlns:a16="http://schemas.microsoft.com/office/drawing/2014/main" id="{C6618ADD-116C-5DCD-E988-313C080CA974}"/>
              </a:ext>
            </a:extLst>
          </p:cNvPr>
          <p:cNvSpPr/>
          <p:nvPr/>
        </p:nvSpPr>
        <p:spPr>
          <a:xfrm>
            <a:off x="6090562" y="4171493"/>
            <a:ext cx="4093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Capacity discarded if none pending at the poll instant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4880982-9BD7-2A31-1B16-7DBBD0A8DF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C4CE0C-5F41-5934-3864-788D4264B7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9733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980EE03-F5F8-8325-0159-389BBB90E6B4}"/>
              </a:ext>
            </a:extLst>
          </p:cNvPr>
          <p:cNvSpPr txBox="1"/>
          <p:nvPr/>
        </p:nvSpPr>
        <p:spPr>
          <a:xfrm>
            <a:off x="3048000" y="1166843"/>
            <a:ext cx="609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“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Exchange,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simple </a:t>
            </a:r>
            <a:r>
              <a:rPr lang="de-DE" dirty="0" err="1"/>
              <a:t>solutions</a:t>
            </a:r>
            <a:r>
              <a:rPr lang="de-DE" dirty="0"/>
              <a:t>. The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 </a:t>
            </a:r>
            <a:r>
              <a:rPr lang="de-DE" dirty="0" err="1"/>
              <a:t>scheduling</a:t>
            </a:r>
            <a:r>
              <a:rPr lang="de-DE" dirty="0"/>
              <a:t>. Here,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ready</a:t>
            </a:r>
            <a:r>
              <a:rPr lang="de-DE" dirty="0"/>
              <a:t>. This </a:t>
            </a:r>
            <a:r>
              <a:rPr lang="de-DE" dirty="0" err="1"/>
              <a:t>is</a:t>
            </a:r>
            <a:r>
              <a:rPr lang="de-DE" dirty="0"/>
              <a:t> safe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disturbed</a:t>
            </a:r>
            <a:r>
              <a:rPr lang="de-DE" dirty="0"/>
              <a:t>. But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time.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load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high,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wait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long</a:t>
            </a:r>
            <a:r>
              <a:rPr lang="de-DE" dirty="0"/>
              <a:t> time.</a:t>
            </a:r>
          </a:p>
          <a:p>
            <a:pPr>
              <a:buNone/>
            </a:pPr>
            <a:r>
              <a:rPr lang="de-DE" dirty="0"/>
              <a:t>The </a:t>
            </a:r>
            <a:r>
              <a:rPr lang="de-DE" dirty="0" err="1"/>
              <a:t>second</a:t>
            </a:r>
            <a:r>
              <a:rPr lang="de-DE" dirty="0"/>
              <a:t> </a:t>
            </a:r>
            <a:r>
              <a:rPr lang="de-DE" dirty="0" err="1"/>
              <a:t>solution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polling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. A </a:t>
            </a:r>
            <a:r>
              <a:rPr lang="de-DE" dirty="0" err="1"/>
              <a:t>polling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reserves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CPU time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jobs</a:t>
            </a:r>
            <a:r>
              <a:rPr lang="de-DE" dirty="0"/>
              <a:t>. 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requests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served</a:t>
            </a:r>
            <a:r>
              <a:rPr lang="de-DE" dirty="0"/>
              <a:t> </a:t>
            </a:r>
            <a:r>
              <a:rPr lang="de-DE" dirty="0" err="1"/>
              <a:t>faster</a:t>
            </a:r>
            <a:r>
              <a:rPr lang="de-DE" dirty="0"/>
              <a:t>. But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big</a:t>
            </a:r>
            <a:r>
              <a:rPr lang="de-DE" dirty="0"/>
              <a:t> </a:t>
            </a:r>
            <a:r>
              <a:rPr lang="de-DE" dirty="0" err="1"/>
              <a:t>weakness</a:t>
            </a:r>
            <a:r>
              <a:rPr lang="de-DE" dirty="0"/>
              <a:t>.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active</a:t>
            </a:r>
            <a:r>
              <a:rPr lang="de-DE" dirty="0"/>
              <a:t> and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waiting</a:t>
            </a:r>
            <a:r>
              <a:rPr lang="de-DE" dirty="0"/>
              <a:t> at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exact</a:t>
            </a:r>
            <a:r>
              <a:rPr lang="de-DE" dirty="0"/>
              <a:t> time,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reserved</a:t>
            </a:r>
            <a:r>
              <a:rPr lang="de-DE" dirty="0"/>
              <a:t> </a:t>
            </a:r>
            <a:r>
              <a:rPr lang="de-DE" dirty="0" err="1"/>
              <a:t>capacity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thrown</a:t>
            </a:r>
            <a:r>
              <a:rPr lang="de-DE" dirty="0"/>
              <a:t> </a:t>
            </a:r>
            <a:r>
              <a:rPr lang="de-DE" dirty="0" err="1"/>
              <a:t>away</a:t>
            </a:r>
            <a:r>
              <a:rPr lang="de-DE" dirty="0"/>
              <a:t>. </a:t>
            </a:r>
            <a:r>
              <a:rPr lang="de-DE" dirty="0" err="1"/>
              <a:t>If</a:t>
            </a:r>
            <a:r>
              <a:rPr lang="de-DE" dirty="0"/>
              <a:t> a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arrives</a:t>
            </a:r>
            <a:r>
              <a:rPr lang="de-DE" dirty="0"/>
              <a:t> </a:t>
            </a:r>
            <a:r>
              <a:rPr lang="de-DE" dirty="0" err="1"/>
              <a:t>shortly</a:t>
            </a:r>
            <a:r>
              <a:rPr lang="de-DE" dirty="0"/>
              <a:t> after,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must</a:t>
            </a:r>
            <a:r>
              <a:rPr lang="de-DE" dirty="0"/>
              <a:t> </a:t>
            </a:r>
            <a:r>
              <a:rPr lang="de-DE" dirty="0" err="1"/>
              <a:t>wait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period</a:t>
            </a:r>
            <a:r>
              <a:rPr lang="de-DE" dirty="0"/>
              <a:t>.</a:t>
            </a:r>
          </a:p>
          <a:p>
            <a:pPr>
              <a:buNone/>
            </a:pPr>
            <a:r>
              <a:rPr lang="de-DE" dirty="0"/>
              <a:t>So </a:t>
            </a:r>
            <a:r>
              <a:rPr lang="de-DE" dirty="0" err="1"/>
              <a:t>background</a:t>
            </a:r>
            <a:r>
              <a:rPr lang="de-DE" dirty="0"/>
              <a:t>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safe but slow. Polling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faster</a:t>
            </a:r>
            <a:r>
              <a:rPr lang="de-DE" dirty="0"/>
              <a:t> but </a:t>
            </a:r>
            <a:r>
              <a:rPr lang="de-DE" dirty="0" err="1"/>
              <a:t>wastes</a:t>
            </a:r>
            <a:r>
              <a:rPr lang="de-DE" dirty="0"/>
              <a:t> </a:t>
            </a:r>
            <a:r>
              <a:rPr lang="de-DE" dirty="0" err="1"/>
              <a:t>capacity</a:t>
            </a:r>
            <a:r>
              <a:rPr lang="de-DE" dirty="0"/>
              <a:t>. </a:t>
            </a:r>
            <a:r>
              <a:rPr lang="de-DE" dirty="0" err="1"/>
              <a:t>Priority</a:t>
            </a:r>
            <a:r>
              <a:rPr lang="de-DE" dirty="0"/>
              <a:t> Exchange </a:t>
            </a:r>
            <a:r>
              <a:rPr lang="de-DE" dirty="0" err="1"/>
              <a:t>tries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waste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.”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5BD7278-6EE8-B99C-2A6C-87A800D883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664AD-01E2-A2CA-F7D7-9E2227254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5998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6AD9248-C12E-BCFE-FA03-8F788155358A}"/>
              </a:ext>
            </a:extLst>
          </p:cNvPr>
          <p:cNvSpPr/>
          <p:nvPr/>
        </p:nvSpPr>
        <p:spPr>
          <a:xfrm>
            <a:off x="449580" y="164592"/>
            <a:ext cx="60165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CORE IDEA - </a:t>
            </a:r>
            <a:r>
              <a:rPr lang="en-US" sz="2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Priority Exchange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D366D34-0519-7008-17EA-C23D88DA5AF8}"/>
              </a:ext>
            </a:extLst>
          </p:cNvPr>
          <p:cNvSpPr/>
          <p:nvPr/>
        </p:nvSpPr>
        <p:spPr>
          <a:xfrm>
            <a:off x="640080" y="896112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Don't hold the budget — trade it.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6CBB748-C1C3-A6BA-8E32-F95575EA4053}"/>
              </a:ext>
            </a:extLst>
          </p:cNvPr>
          <p:cNvSpPr/>
          <p:nvPr/>
        </p:nvSpPr>
        <p:spPr>
          <a:xfrm>
            <a:off x="6693408" y="2331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804B7D-77A1-BAA0-C0BD-E900044A9247}"/>
              </a:ext>
            </a:extLst>
          </p:cNvPr>
          <p:cNvSpPr/>
          <p:nvPr/>
        </p:nvSpPr>
        <p:spPr>
          <a:xfrm>
            <a:off x="3337805" y="5788021"/>
            <a:ext cx="62566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unused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down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 not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waste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7B6504C2-77DC-565D-8062-EE1BB6519609}"/>
              </a:ext>
            </a:extLst>
          </p:cNvPr>
          <p:cNvSpPr/>
          <p:nvPr/>
        </p:nvSpPr>
        <p:spPr>
          <a:xfrm>
            <a:off x="371866" y="2267712"/>
            <a:ext cx="8719040" cy="2916849"/>
          </a:xfrm>
          <a:prstGeom prst="roundRect">
            <a:avLst>
              <a:gd name="adj" fmla="val 3333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highest-priority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Exchange: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runs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earlier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equal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parked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task’s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Later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an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parked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SzPct val="100000"/>
              <a:buChar char="•"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discarded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when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CPU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idle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D8AE085-BF29-747B-9D8C-2AFA5AAFEC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5CC23C-BF8A-817A-668B-5C2B81DC4D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2816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587ABE-104A-272F-FBA3-D5C6E9DFCB92}"/>
              </a:ext>
            </a:extLst>
          </p:cNvPr>
          <p:cNvSpPr txBox="1"/>
          <p:nvPr/>
        </p:nvSpPr>
        <p:spPr>
          <a:xfrm>
            <a:off x="2710543" y="1166842"/>
            <a:ext cx="609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“This </a:t>
            </a:r>
            <a:r>
              <a:rPr lang="de-DE" dirty="0" err="1"/>
              <a:t>slide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heart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Exchange. The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: do not hold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 and do not </a:t>
            </a:r>
            <a:r>
              <a:rPr lang="de-DE" dirty="0" err="1"/>
              <a:t>immediately</a:t>
            </a:r>
            <a:r>
              <a:rPr lang="de-DE" dirty="0"/>
              <a:t> </a:t>
            </a:r>
            <a:r>
              <a:rPr lang="de-DE" dirty="0" err="1"/>
              <a:t>discard</a:t>
            </a:r>
            <a:r>
              <a:rPr lang="de-DE" dirty="0"/>
              <a:t> it. </a:t>
            </a:r>
            <a:r>
              <a:rPr lang="de-DE" dirty="0" err="1"/>
              <a:t>Instead</a:t>
            </a:r>
            <a:r>
              <a:rPr lang="de-DE" dirty="0"/>
              <a:t>, trade it.</a:t>
            </a:r>
          </a:p>
          <a:p>
            <a:r>
              <a:rPr lang="de-DE" dirty="0" err="1"/>
              <a:t>Suppose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PE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high-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, but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waiting</a:t>
            </a:r>
            <a:r>
              <a:rPr lang="de-DE" dirty="0"/>
              <a:t>. Then PE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highest-priority</a:t>
            </a:r>
            <a:r>
              <a:rPr lang="de-DE" dirty="0"/>
              <a:t> </a:t>
            </a:r>
            <a:r>
              <a:rPr lang="de-DE" dirty="0" err="1"/>
              <a:t>active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server’s</a:t>
            </a:r>
            <a:r>
              <a:rPr lang="de-DE" dirty="0"/>
              <a:t> high </a:t>
            </a:r>
            <a:r>
              <a:rPr lang="de-DE" dirty="0" err="1"/>
              <a:t>priority</a:t>
            </a:r>
            <a:r>
              <a:rPr lang="de-DE" dirty="0"/>
              <a:t>.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advanced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moved</a:t>
            </a:r>
            <a:r>
              <a:rPr lang="de-DE" dirty="0"/>
              <a:t> </a:t>
            </a:r>
            <a:r>
              <a:rPr lang="de-DE" dirty="0" err="1"/>
              <a:t>earlier</a:t>
            </a:r>
            <a:r>
              <a:rPr lang="de-DE" dirty="0"/>
              <a:t>. In </a:t>
            </a:r>
            <a:r>
              <a:rPr lang="de-DE" dirty="0" err="1"/>
              <a:t>exchange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amount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parked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.</a:t>
            </a:r>
          </a:p>
          <a:p>
            <a:r>
              <a:rPr lang="de-DE" dirty="0"/>
              <a:t>So </a:t>
            </a:r>
            <a:r>
              <a:rPr lang="de-DE" dirty="0" err="1"/>
              <a:t>nothing</a:t>
            </a:r>
            <a:r>
              <a:rPr lang="de-DE" dirty="0"/>
              <a:t> extra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.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positions</a:t>
            </a:r>
            <a:r>
              <a:rPr lang="de-DE" dirty="0"/>
              <a:t>.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 </a:t>
            </a:r>
            <a:r>
              <a:rPr lang="de-DE" dirty="0" err="1"/>
              <a:t>earlier</a:t>
            </a:r>
            <a:r>
              <a:rPr lang="de-DE" dirty="0"/>
              <a:t>,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reserved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capacity</a:t>
            </a:r>
            <a:r>
              <a:rPr lang="de-DE" dirty="0"/>
              <a:t> </a:t>
            </a:r>
            <a:r>
              <a:rPr lang="de-DE" dirty="0" err="1"/>
              <a:t>moves</a:t>
            </a:r>
            <a:r>
              <a:rPr lang="de-DE" dirty="0"/>
              <a:t> down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. Later, </a:t>
            </a:r>
            <a:r>
              <a:rPr lang="de-DE" dirty="0" err="1"/>
              <a:t>if</a:t>
            </a:r>
            <a:r>
              <a:rPr lang="de-DE" dirty="0"/>
              <a:t> an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arrives</a:t>
            </a:r>
            <a:r>
              <a:rPr lang="de-DE" dirty="0"/>
              <a:t>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still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parked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.</a:t>
            </a:r>
          </a:p>
          <a:p>
            <a:r>
              <a:rPr lang="de-DE" dirty="0"/>
              <a:t>The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slide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: </a:t>
            </a:r>
            <a:r>
              <a:rPr lang="de-DE" dirty="0" err="1"/>
              <a:t>reserved</a:t>
            </a:r>
            <a:r>
              <a:rPr lang="de-DE" dirty="0"/>
              <a:t> time </a:t>
            </a:r>
            <a:r>
              <a:rPr lang="de-DE" dirty="0" err="1"/>
              <a:t>moves</a:t>
            </a:r>
            <a:r>
              <a:rPr lang="de-DE" dirty="0"/>
              <a:t> down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being</a:t>
            </a:r>
            <a:r>
              <a:rPr lang="de-DE" dirty="0"/>
              <a:t> lost.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discarded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CPU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otherwise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idle</a:t>
            </a:r>
            <a:r>
              <a:rPr lang="de-DE" dirty="0"/>
              <a:t>.”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4DC5338-FF0B-F101-FA4B-A8DB83973A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B45744-1776-E535-94FF-76B7CC9D3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8959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4E212A26-8B49-520D-0F49-DAE339E14BB1}"/>
              </a:ext>
            </a:extLst>
          </p:cNvPr>
          <p:cNvSpPr/>
          <p:nvPr/>
        </p:nvSpPr>
        <p:spPr>
          <a:xfrm>
            <a:off x="491228" y="155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FOUNDATIONS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CA1C913-CB12-AD28-CD2A-3A8BD55211C9}"/>
              </a:ext>
            </a:extLst>
          </p:cNvPr>
          <p:cNvSpPr/>
          <p:nvPr/>
        </p:nvSpPr>
        <p:spPr>
          <a:xfrm>
            <a:off x="502920" y="630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System Model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C1B6114-1D1C-580D-E7C3-29354DAFCD15}"/>
              </a:ext>
            </a:extLst>
          </p:cNvPr>
          <p:cNvSpPr/>
          <p:nvPr/>
        </p:nvSpPr>
        <p:spPr>
          <a:xfrm>
            <a:off x="548640" y="1554480"/>
            <a:ext cx="6892028" cy="4057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spcAft>
                <a:spcPts val="1100"/>
              </a:spcAft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C57565E1-2A6F-4059-3A02-53D24F754156}"/>
              </a:ext>
            </a:extLst>
          </p:cNvPr>
          <p:cNvSpPr/>
          <p:nvPr/>
        </p:nvSpPr>
        <p:spPr>
          <a:xfrm>
            <a:off x="8008635" y="1572767"/>
            <a:ext cx="3247056" cy="1480787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792DAEEB-0D53-6DA3-1003-7E0A9A5F2CE1}"/>
              </a:ext>
            </a:extLst>
          </p:cNvPr>
          <p:cNvSpPr/>
          <p:nvPr/>
        </p:nvSpPr>
        <p:spPr>
          <a:xfrm>
            <a:off x="8191515" y="1737359"/>
            <a:ext cx="3064176" cy="293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PERIODIC UTILISATION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 1" descr="/home/claude/eq/up.png">
            <a:extLst>
              <a:ext uri="{FF2B5EF4-FFF2-40B4-BE49-F238E27FC236}">
                <a16:creationId xmlns:a16="http://schemas.microsoft.com/office/drawing/2014/main" id="{1121B24A-B2F7-A172-9998-9394FE884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938" y="2171444"/>
            <a:ext cx="1331202" cy="650917"/>
          </a:xfrm>
          <a:prstGeom prst="rect">
            <a:avLst/>
          </a:prstGeom>
        </p:spPr>
      </p:pic>
      <p:sp>
        <p:nvSpPr>
          <p:cNvPr id="12" name="Shape 6">
            <a:extLst>
              <a:ext uri="{FF2B5EF4-FFF2-40B4-BE49-F238E27FC236}">
                <a16:creationId xmlns:a16="http://schemas.microsoft.com/office/drawing/2014/main" id="{A3DFED06-7223-C5F1-50B2-BE16E3FD4EF3}"/>
              </a:ext>
            </a:extLst>
          </p:cNvPr>
          <p:cNvSpPr/>
          <p:nvPr/>
        </p:nvSpPr>
        <p:spPr>
          <a:xfrm>
            <a:off x="8063057" y="3381975"/>
            <a:ext cx="3192633" cy="1382493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81C1D71-DADA-049E-7089-E9C338D5CA7B}"/>
              </a:ext>
            </a:extLst>
          </p:cNvPr>
          <p:cNvSpPr/>
          <p:nvPr/>
        </p:nvSpPr>
        <p:spPr>
          <a:xfrm>
            <a:off x="8245938" y="3546567"/>
            <a:ext cx="3064176" cy="286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SERVER UTILISATION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Image 2" descr="/home/claude/eq/us.png">
            <a:extLst>
              <a:ext uri="{FF2B5EF4-FFF2-40B4-BE49-F238E27FC236}">
                <a16:creationId xmlns:a16="http://schemas.microsoft.com/office/drawing/2014/main" id="{D74A301C-D089-27C2-1E48-9EF1D7A23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767" y="4124795"/>
            <a:ext cx="1387214" cy="348183"/>
          </a:xfrm>
          <a:prstGeom prst="rect">
            <a:avLst/>
          </a:prstGeom>
        </p:spPr>
      </p:pic>
      <p:sp>
        <p:nvSpPr>
          <p:cNvPr id="15" name="Text 8">
            <a:extLst>
              <a:ext uri="{FF2B5EF4-FFF2-40B4-BE49-F238E27FC236}">
                <a16:creationId xmlns:a16="http://schemas.microsoft.com/office/drawing/2014/main" id="{096D90E8-0B0A-CAB6-B078-964D88AA2F1B}"/>
              </a:ext>
            </a:extLst>
          </p:cNvPr>
          <p:cNvSpPr/>
          <p:nvPr/>
        </p:nvSpPr>
        <p:spPr>
          <a:xfrm>
            <a:off x="8191515" y="5010211"/>
            <a:ext cx="2844800" cy="6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Server described by </a:t>
            </a:r>
            <a:b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capacity Cₛ and period Tₛ.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BE86C5-9D32-4AC1-9A55-DDFE1A4A0681}"/>
              </a:ext>
            </a:extLst>
          </p:cNvPr>
          <p:cNvSpPr/>
          <p:nvPr/>
        </p:nvSpPr>
        <p:spPr>
          <a:xfrm>
            <a:off x="316495" y="1538587"/>
            <a:ext cx="7343928" cy="3764933"/>
          </a:xfrm>
          <a:prstGeom prst="roundRect">
            <a:avLst>
              <a:gd name="adj" fmla="val 3333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pPr>
              <a:lnSpc>
                <a:spcPct val="150000"/>
              </a:lnSpc>
              <a:spcAft>
                <a:spcPts val="1100"/>
              </a:spcAft>
            </a:pP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Single processor; periodic set </a:t>
            </a:r>
            <a:r>
              <a:rPr lang="en-US" dirty="0">
                <a:solidFill>
                  <a:srgbClr val="2E5E8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Γ = {τ₁ … τₙ}</a:t>
            </a: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each task </a:t>
            </a:r>
            <a:r>
              <a:rPr lang="en-US" dirty="0">
                <a:solidFill>
                  <a:srgbClr val="2E5E8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(Cᵢ, Tᵢ)</a:t>
            </a: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with Dᵢ = Tᵢ.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Aft>
                <a:spcPts val="1100"/>
              </a:spcAft>
              <a:buSzPct val="10000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Fully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preemptive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Aft>
                <a:spcPts val="1100"/>
              </a:spcAft>
              <a:buSzPct val="100000"/>
              <a:buChar char="•"/>
            </a:pP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Priorities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assigned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Rate Monotonic</a:t>
            </a:r>
          </a:p>
          <a:p>
            <a:pPr marL="342900" indent="-342900">
              <a:lnSpc>
                <a:spcPct val="150000"/>
              </a:lnSpc>
              <a:spcAft>
                <a:spcPts val="1100"/>
              </a:spcAft>
              <a:buSzPct val="10000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highest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Aft>
                <a:spcPts val="1100"/>
              </a:spcAft>
              <a:buSzPct val="100000"/>
              <a:buChar char="•"/>
            </a:pP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jobs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arrive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unpredictably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spcAft>
                <a:spcPts val="1100"/>
              </a:spcAft>
              <a:buSzPct val="10000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Goal: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minimise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2E8CF9-7695-F0A1-2F24-55643A00C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BFEB11-18D5-8C92-9C11-072DACEC4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15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3749CA-A997-E36B-8A19-FB2BC68A0DA9}"/>
              </a:ext>
            </a:extLst>
          </p:cNvPr>
          <p:cNvSpPr txBox="1"/>
          <p:nvPr/>
        </p:nvSpPr>
        <p:spPr>
          <a:xfrm>
            <a:off x="3048000" y="889844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Priorities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Rate Monotonic </a:t>
            </a:r>
            <a:r>
              <a:rPr lang="de-DE" dirty="0" err="1"/>
              <a:t>scheduling</a:t>
            </a:r>
            <a:r>
              <a:rPr lang="de-DE" dirty="0"/>
              <a:t>. In simple </a:t>
            </a:r>
            <a:r>
              <a:rPr lang="de-DE" dirty="0" err="1"/>
              <a:t>words</a:t>
            </a:r>
            <a:r>
              <a:rPr lang="de-DE" dirty="0"/>
              <a:t>,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shorter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. The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placed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highest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so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fresh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requests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served</a:t>
            </a:r>
            <a:r>
              <a:rPr lang="de-DE" dirty="0"/>
              <a:t> </a:t>
            </a:r>
            <a:r>
              <a:rPr lang="de-DE" dirty="0" err="1"/>
              <a:t>quickly</a:t>
            </a:r>
            <a:r>
              <a:rPr lang="de-DE" dirty="0"/>
              <a:t>.”</a:t>
            </a:r>
          </a:p>
          <a:p>
            <a:pPr>
              <a:buNone/>
            </a:pPr>
            <a:endParaRPr lang="de-DE" dirty="0"/>
          </a:p>
          <a:p>
            <a:pPr>
              <a:buNone/>
            </a:pPr>
            <a:endParaRPr lang="de-DE" dirty="0"/>
          </a:p>
          <a:p>
            <a:pPr>
              <a:buNone/>
            </a:pPr>
            <a:r>
              <a:rPr lang="de-DE" dirty="0"/>
              <a:t>Task </a:t>
            </a:r>
            <a:r>
              <a:rPr lang="de-DE" dirty="0" err="1"/>
              <a:t>τi</a:t>
            </a:r>
            <a:r>
              <a:rPr lang="de-DE" dirty="0"/>
              <a:t> = (Ci, Ti):</a:t>
            </a:r>
            <a:br>
              <a:rPr lang="de-DE" dirty="0"/>
            </a:br>
            <a:r>
              <a:rPr lang="de-DE" dirty="0"/>
              <a:t>Ci = </a:t>
            </a:r>
            <a:r>
              <a:rPr lang="de-DE" dirty="0" err="1"/>
              <a:t>worst-case</a:t>
            </a:r>
            <a:r>
              <a:rPr lang="de-DE" dirty="0"/>
              <a:t> </a:t>
            </a:r>
            <a:r>
              <a:rPr lang="de-DE" dirty="0" err="1"/>
              <a:t>execution</a:t>
            </a:r>
            <a:r>
              <a:rPr lang="de-DE" dirty="0"/>
              <a:t> time.</a:t>
            </a:r>
            <a:br>
              <a:rPr lang="de-DE" dirty="0"/>
            </a:br>
            <a:r>
              <a:rPr lang="de-DE" dirty="0"/>
              <a:t>Ti = </a:t>
            </a:r>
            <a:r>
              <a:rPr lang="de-DE" dirty="0" err="1"/>
              <a:t>period</a:t>
            </a:r>
            <a:r>
              <a:rPr lang="de-DE" dirty="0"/>
              <a:t>.</a:t>
            </a:r>
            <a:br>
              <a:rPr lang="de-DE" dirty="0"/>
            </a:br>
            <a:r>
              <a:rPr lang="de-DE" dirty="0"/>
              <a:t>Di = </a:t>
            </a:r>
            <a:r>
              <a:rPr lang="de-DE" dirty="0" err="1"/>
              <a:t>deadline</a:t>
            </a:r>
            <a:r>
              <a:rPr lang="de-DE" dirty="0"/>
              <a:t>. Here Di = Ti.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84FFBF0-0989-66D0-1B66-6B164D8AF3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6E3B0-094B-5279-E107-7286E3DEA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6447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D5285CA5-656B-78A5-137E-57E6C10614F7}"/>
              </a:ext>
            </a:extLst>
          </p:cNvPr>
          <p:cNvSpPr/>
          <p:nvPr/>
        </p:nvSpPr>
        <p:spPr>
          <a:xfrm>
            <a:off x="377734" y="21945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HOW IT WORKS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3FA16C2-095A-CF6B-90F7-DD606DD71B4A}"/>
              </a:ext>
            </a:extLst>
          </p:cNvPr>
          <p:cNvSpPr/>
          <p:nvPr/>
        </p:nvSpPr>
        <p:spPr>
          <a:xfrm>
            <a:off x="502920" y="630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The Exchange Mechanism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19764F5-510B-A477-0B3F-28BC9DC2E5EF}"/>
              </a:ext>
            </a:extLst>
          </p:cNvPr>
          <p:cNvSpPr/>
          <p:nvPr/>
        </p:nvSpPr>
        <p:spPr>
          <a:xfrm>
            <a:off x="502920" y="1463040"/>
            <a:ext cx="10050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Replenish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(C_s)</a:t>
            </a: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FA5D97CE-E96F-66A7-CCA1-238FEF7CD4FD}"/>
              </a:ext>
            </a:extLst>
          </p:cNvPr>
          <p:cNvSpPr/>
          <p:nvPr/>
        </p:nvSpPr>
        <p:spPr>
          <a:xfrm>
            <a:off x="1417320" y="23957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E46939E-5879-475E-B452-6DF2B4B89E59}"/>
              </a:ext>
            </a:extLst>
          </p:cNvPr>
          <p:cNvSpPr/>
          <p:nvPr/>
        </p:nvSpPr>
        <p:spPr>
          <a:xfrm>
            <a:off x="822960" y="3035808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E9F8F5A2-E487-E15F-CE8E-84C967B26071}"/>
              </a:ext>
            </a:extLst>
          </p:cNvPr>
          <p:cNvSpPr/>
          <p:nvPr/>
        </p:nvSpPr>
        <p:spPr>
          <a:xfrm>
            <a:off x="5773075" y="2714568"/>
            <a:ext cx="5223945" cy="2075035"/>
          </a:xfrm>
          <a:prstGeom prst="roundRect">
            <a:avLst>
              <a:gd name="adj" fmla="val 4615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en-US" sz="2000" b="1" dirty="0">
                <a:solidFill>
                  <a:srgbClr val="2E5E8C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          CASE 2: Nothing pending</a:t>
            </a:r>
          </a:p>
          <a:p>
            <a:endParaRPr lang="en-US" b="1" dirty="0">
              <a:solidFill>
                <a:srgbClr val="2E5E8C"/>
              </a:solidFill>
              <a:latin typeface="Times New Roman" panose="02020603050405020304" pitchFamily="18" charset="0"/>
              <a:ea typeface="Cambria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highest-priority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equal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task’s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2D536530-3A54-52C0-76AB-1EE7E2801F77}"/>
              </a:ext>
            </a:extLst>
          </p:cNvPr>
          <p:cNvSpPr/>
          <p:nvPr/>
        </p:nvSpPr>
        <p:spPr>
          <a:xfrm>
            <a:off x="5605272" y="23957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4FE61B25-AEFF-EBDD-BFEC-B6347108FE4A}"/>
              </a:ext>
            </a:extLst>
          </p:cNvPr>
          <p:cNvSpPr/>
          <p:nvPr/>
        </p:nvSpPr>
        <p:spPr>
          <a:xfrm>
            <a:off x="2641307" y="5538211"/>
            <a:ext cx="6263535" cy="443156"/>
          </a:xfrm>
          <a:prstGeom prst="roundRect">
            <a:avLst>
              <a:gd name="adj" fmla="val 13846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F0D9A6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discarded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when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CPU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would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otherwise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idle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79FA31E3-E120-CF5A-3B34-0798F1C58160}"/>
              </a:ext>
            </a:extLst>
          </p:cNvPr>
          <p:cNvSpPr/>
          <p:nvPr/>
        </p:nvSpPr>
        <p:spPr>
          <a:xfrm>
            <a:off x="777240" y="411480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0F88946A-BABE-D8CE-525D-9CF39943AC7D}"/>
              </a:ext>
            </a:extLst>
          </p:cNvPr>
          <p:cNvSpPr/>
          <p:nvPr/>
        </p:nvSpPr>
        <p:spPr>
          <a:xfrm>
            <a:off x="268387" y="2714569"/>
            <a:ext cx="5223945" cy="2075035"/>
          </a:xfrm>
          <a:prstGeom prst="roundRect">
            <a:avLst>
              <a:gd name="adj" fmla="val 4615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en-US" b="1" dirty="0">
                <a:solidFill>
                  <a:srgbClr val="2E5E8C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          </a:t>
            </a:r>
            <a:r>
              <a:rPr lang="en-US" sz="2000" b="1" dirty="0">
                <a:solidFill>
                  <a:srgbClr val="00B050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CASE 1: </a:t>
            </a:r>
            <a:r>
              <a:rPr lang="de-DE" sz="2000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2000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r>
              <a:rPr lang="de-DE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2000" dirty="0" err="1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pending</a:t>
            </a:r>
            <a:endParaRPr lang="de-DE" sz="20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de-DE" sz="2000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Consume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available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6645D86-6269-60DB-C728-F8B00A63ED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DB8A11-2630-0119-700A-2BB797FFC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678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B77F15-D677-38DB-EC56-7B6D2AFA8703}"/>
              </a:ext>
            </a:extLst>
          </p:cNvPr>
          <p:cNvSpPr txBox="1"/>
          <p:nvPr/>
        </p:nvSpPr>
        <p:spPr>
          <a:xfrm>
            <a:off x="2329543" y="964364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beginning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period</a:t>
            </a:r>
            <a:r>
              <a:rPr lang="de-DE" dirty="0"/>
              <a:t>, </a:t>
            </a:r>
            <a:r>
              <a:rPr lang="de-DE" dirty="0" err="1"/>
              <a:t>capacity</a:t>
            </a:r>
            <a:r>
              <a:rPr lang="de-DE" dirty="0"/>
              <a:t> Cs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replenished</a:t>
            </a:r>
            <a:r>
              <a:rPr lang="de-DE" dirty="0"/>
              <a:t>.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scheduling</a:t>
            </a:r>
            <a:r>
              <a:rPr lang="de-DE" dirty="0"/>
              <a:t> instant,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scheduler</a:t>
            </a:r>
            <a:r>
              <a:rPr lang="de-DE" dirty="0"/>
              <a:t> </a:t>
            </a:r>
            <a:r>
              <a:rPr lang="de-DE" dirty="0" err="1"/>
              <a:t>chooses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highest-priority</a:t>
            </a:r>
            <a:r>
              <a:rPr lang="de-DE" dirty="0"/>
              <a:t> </a:t>
            </a:r>
            <a:r>
              <a:rPr lang="de-DE" dirty="0" err="1"/>
              <a:t>ready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Case 1: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pending</a:t>
            </a:r>
            <a:r>
              <a:rPr lang="de-DE" dirty="0"/>
              <a:t>, </a:t>
            </a:r>
            <a:r>
              <a:rPr lang="de-DE" dirty="0" err="1"/>
              <a:t>serve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highest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Case 2: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pending</a:t>
            </a:r>
            <a:r>
              <a:rPr lang="de-DE" dirty="0"/>
              <a:t>,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highest-priority</a:t>
            </a:r>
            <a:r>
              <a:rPr lang="de-DE" dirty="0"/>
              <a:t> </a:t>
            </a:r>
            <a:r>
              <a:rPr lang="de-DE" dirty="0" err="1"/>
              <a:t>active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.</a:t>
            </a:r>
          </a:p>
          <a:p>
            <a:endParaRPr lang="de-DE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B293185-6378-0935-7448-EF2E63FE95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7580E-E460-7D3A-A2CC-277A2219AE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25566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E638680-C523-180A-865D-5D755AD10293}"/>
              </a:ext>
            </a:extLst>
          </p:cNvPr>
          <p:cNvSpPr/>
          <p:nvPr/>
        </p:nvSpPr>
        <p:spPr>
          <a:xfrm>
            <a:off x="410392" y="2103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WORKED EXAMPLE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C0BD45A-4D66-3162-857B-B5DB7206B26A}"/>
              </a:ext>
            </a:extLst>
          </p:cNvPr>
          <p:cNvSpPr/>
          <p:nvPr/>
        </p:nvSpPr>
        <p:spPr>
          <a:xfrm>
            <a:off x="777240" y="7315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Setup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412C2D86-4145-A229-D756-9620E7F0DDEB}"/>
              </a:ext>
            </a:extLst>
          </p:cNvPr>
          <p:cNvSpPr/>
          <p:nvPr/>
        </p:nvSpPr>
        <p:spPr>
          <a:xfrm>
            <a:off x="5875020" y="2172789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5E8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Up = 0.5</a:t>
            </a:r>
            <a:r>
              <a:rPr lang="en-US" sz="1800" dirty="0">
                <a:solidFill>
                  <a:srgbClr val="6B7C8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 ·  </a:t>
            </a:r>
            <a:r>
              <a:rPr lang="en-US" sz="1800" b="1" dirty="0">
                <a:solidFill>
                  <a:srgbClr val="E8A3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 = 0.2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CAEAD774-9DAF-5E11-E64F-76FDD7AA2A96}"/>
              </a:ext>
            </a:extLst>
          </p:cNvPr>
          <p:cNvSpPr/>
          <p:nvPr/>
        </p:nvSpPr>
        <p:spPr>
          <a:xfrm>
            <a:off x="7359832" y="4974118"/>
            <a:ext cx="3703320" cy="1234440"/>
          </a:xfrm>
          <a:prstGeom prst="roundRect">
            <a:avLst>
              <a:gd name="adj" fmla="val 6667"/>
            </a:avLst>
          </a:prstGeom>
          <a:solidFill>
            <a:srgbClr val="EEF4FB"/>
          </a:solidFill>
          <a:ln w="12700">
            <a:solidFill>
              <a:srgbClr val="CFE0F2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en-US" b="1" dirty="0">
                <a:solidFill>
                  <a:srgbClr val="2E5E8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question.  </a:t>
            </a:r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Can PE serve both jobs quickly while τ₁ and τ₂ still meet every deadline?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A61320F7-FEFD-D1A8-8FA7-F37E082F4A1E}"/>
              </a:ext>
            </a:extLst>
          </p:cNvPr>
          <p:cNvSpPr/>
          <p:nvPr/>
        </p:nvSpPr>
        <p:spPr>
          <a:xfrm>
            <a:off x="905474" y="2009394"/>
            <a:ext cx="4727883" cy="3040379"/>
          </a:xfrm>
          <a:prstGeom prst="roundRect">
            <a:avLst>
              <a:gd name="adj" fmla="val 2951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en-US" b="1" kern="0" spc="150" dirty="0">
                <a:solidFill>
                  <a:srgbClr val="6B7C8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CONFIGURATION</a:t>
            </a:r>
          </a:p>
          <a:p>
            <a:endParaRPr lang="en-US" b="1" kern="0" spc="150" dirty="0">
              <a:solidFill>
                <a:srgbClr val="6B7C8E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 server   </a:t>
            </a:r>
            <a:r>
              <a:rPr lang="en-US" b="1" dirty="0">
                <a:solidFill>
                  <a:srgbClr val="E8A3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Cₛ = 1,  Tₛ = 5   →   Uₛ = 0.2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Task τ₁   </a:t>
            </a:r>
            <a:r>
              <a:rPr lang="en-US" b="1" dirty="0">
                <a:solidFill>
                  <a:srgbClr val="2E5E8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C₁ = 2,  T₁ = 10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Task τ₂   </a:t>
            </a:r>
            <a:r>
              <a:rPr lang="en-US" b="1" dirty="0">
                <a:solidFill>
                  <a:srgbClr val="C256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C₂ = 6,  T₂ = 20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Arrivals   </a:t>
            </a:r>
            <a:r>
              <a:rPr lang="en-US" b="1" dirty="0">
                <a:solidFill>
                  <a:srgbClr val="3A9E5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J₁ @ t=5,  J₂ @ t=12  (1 unit each)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AA78AE8-4026-5F0A-CF0E-3CB8ABD2CD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252683-B437-BF5F-9E21-0947D5CFA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194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E9AF966-B097-A0D2-915A-056AE1B5EA5A}"/>
              </a:ext>
            </a:extLst>
          </p:cNvPr>
          <p:cNvSpPr txBox="1"/>
          <p:nvPr/>
        </p:nvSpPr>
        <p:spPr>
          <a:xfrm>
            <a:off x="3048000" y="1582341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“</a:t>
            </a:r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concrete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. The PE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capacity</a:t>
            </a:r>
            <a:r>
              <a:rPr lang="de-DE" dirty="0"/>
              <a:t> C s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1 and </a:t>
            </a:r>
            <a:r>
              <a:rPr lang="de-DE" dirty="0" err="1"/>
              <a:t>period</a:t>
            </a:r>
            <a:r>
              <a:rPr lang="de-DE" dirty="0"/>
              <a:t> T s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5.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5 time </a:t>
            </a:r>
            <a:r>
              <a:rPr lang="de-DE" dirty="0" err="1"/>
              <a:t>units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gets</a:t>
            </a:r>
            <a:r>
              <a:rPr lang="de-DE" dirty="0"/>
              <a:t> 1 time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. So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utilization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1 </a:t>
            </a:r>
            <a:r>
              <a:rPr lang="de-DE" dirty="0" err="1"/>
              <a:t>divided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5,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0.2.</a:t>
            </a:r>
          </a:p>
          <a:p>
            <a:pPr>
              <a:buNone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. Tau 1 </a:t>
            </a:r>
            <a:r>
              <a:rPr lang="de-DE" dirty="0" err="1"/>
              <a:t>needs</a:t>
            </a:r>
            <a:r>
              <a:rPr lang="de-DE" dirty="0"/>
              <a:t> 2 </a:t>
            </a:r>
            <a:r>
              <a:rPr lang="de-DE" dirty="0" err="1"/>
              <a:t>units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execution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10 time </a:t>
            </a:r>
            <a:r>
              <a:rPr lang="de-DE" dirty="0" err="1"/>
              <a:t>units</a:t>
            </a:r>
            <a:r>
              <a:rPr lang="de-DE" dirty="0"/>
              <a:t>. So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utilization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2 </a:t>
            </a:r>
            <a:r>
              <a:rPr lang="de-DE" dirty="0" err="1"/>
              <a:t>divided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10,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0.2. Tau 2 </a:t>
            </a:r>
            <a:r>
              <a:rPr lang="de-DE" dirty="0" err="1"/>
              <a:t>needs</a:t>
            </a:r>
            <a:r>
              <a:rPr lang="de-DE" dirty="0"/>
              <a:t> 6 </a:t>
            </a:r>
            <a:r>
              <a:rPr lang="de-DE" dirty="0" err="1"/>
              <a:t>units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20 time </a:t>
            </a:r>
            <a:r>
              <a:rPr lang="de-DE" dirty="0" err="1"/>
              <a:t>units</a:t>
            </a:r>
            <a:r>
              <a:rPr lang="de-DE" dirty="0"/>
              <a:t>. So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utilization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6 </a:t>
            </a:r>
            <a:r>
              <a:rPr lang="de-DE" dirty="0" err="1"/>
              <a:t>divided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20,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0.3. The total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utilization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0.5.</a:t>
            </a:r>
          </a:p>
          <a:p>
            <a:pPr>
              <a:buNone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also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jobs</a:t>
            </a:r>
            <a:r>
              <a:rPr lang="de-DE" dirty="0"/>
              <a:t>. J1 </a:t>
            </a:r>
            <a:r>
              <a:rPr lang="de-DE" dirty="0" err="1"/>
              <a:t>arrives</a:t>
            </a:r>
            <a:r>
              <a:rPr lang="de-DE" dirty="0"/>
              <a:t> at time 5 and J2 </a:t>
            </a:r>
            <a:r>
              <a:rPr lang="de-DE" dirty="0" err="1"/>
              <a:t>arrives</a:t>
            </a:r>
            <a:r>
              <a:rPr lang="de-DE" dirty="0"/>
              <a:t> at time 12.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needs</a:t>
            </a:r>
            <a:r>
              <a:rPr lang="de-DE" dirty="0"/>
              <a:t> 1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execution</a:t>
            </a:r>
            <a:r>
              <a:rPr lang="de-DE" dirty="0"/>
              <a:t>.</a:t>
            </a:r>
          </a:p>
          <a:p>
            <a:pPr>
              <a:buNone/>
            </a:pPr>
            <a:r>
              <a:rPr lang="de-DE" dirty="0"/>
              <a:t>So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: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Exchange </a:t>
            </a:r>
            <a:r>
              <a:rPr lang="de-DE" dirty="0" err="1"/>
              <a:t>serve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jobs</a:t>
            </a:r>
            <a:r>
              <a:rPr lang="de-DE" dirty="0"/>
              <a:t> </a:t>
            </a:r>
            <a:r>
              <a:rPr lang="de-DE" dirty="0" err="1"/>
              <a:t>quickly</a:t>
            </a:r>
            <a:r>
              <a:rPr lang="de-DE" dirty="0"/>
              <a:t>, </a:t>
            </a:r>
            <a:r>
              <a:rPr lang="de-DE" dirty="0" err="1"/>
              <a:t>while</a:t>
            </a:r>
            <a:r>
              <a:rPr lang="de-DE" dirty="0"/>
              <a:t> tau 1 and tau 2 still </a:t>
            </a:r>
            <a:r>
              <a:rPr lang="de-DE" dirty="0" err="1"/>
              <a:t>meet</a:t>
            </a:r>
            <a:r>
              <a:rPr lang="de-DE" dirty="0"/>
              <a:t> all </a:t>
            </a:r>
            <a:r>
              <a:rPr lang="de-DE" dirty="0" err="1"/>
              <a:t>deadlines</a:t>
            </a:r>
            <a:r>
              <a:rPr lang="de-DE" dirty="0"/>
              <a:t>?”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355B56-1794-9C1D-3110-D201DF2354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3E382D-8407-C256-4C1D-4356D2323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5918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44BB11AD-57DE-1A6D-3AB1-F1045138748E}"/>
              </a:ext>
            </a:extLst>
          </p:cNvPr>
          <p:cNvSpPr/>
          <p:nvPr/>
        </p:nvSpPr>
        <p:spPr>
          <a:xfrm>
            <a:off x="409303" y="1600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WORKED EXAMPLE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AB2F114-E2CF-0C1D-A730-F148E709D714}"/>
              </a:ext>
            </a:extLst>
          </p:cNvPr>
          <p:cNvSpPr/>
          <p:nvPr/>
        </p:nvSpPr>
        <p:spPr>
          <a:xfrm>
            <a:off x="564721" y="685364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The Schedule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Image 1" descr="/home/claude/schedule.png">
            <a:extLst>
              <a:ext uri="{FF2B5EF4-FFF2-40B4-BE49-F238E27FC236}">
                <a16:creationId xmlns:a16="http://schemas.microsoft.com/office/drawing/2014/main" id="{EEBF1A9F-F9AE-BBC1-9D0B-8CBE5AC62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21" y="1394460"/>
            <a:ext cx="10415699" cy="3922775"/>
          </a:xfrm>
          <a:prstGeom prst="rect">
            <a:avLst/>
          </a:prstGeom>
        </p:spPr>
      </p:pic>
      <p:sp>
        <p:nvSpPr>
          <p:cNvPr id="9" name="Shape 3">
            <a:extLst>
              <a:ext uri="{FF2B5EF4-FFF2-40B4-BE49-F238E27FC236}">
                <a16:creationId xmlns:a16="http://schemas.microsoft.com/office/drawing/2014/main" id="{B59C7361-EA9B-ADDC-BDDF-0F0ACFB252DD}"/>
              </a:ext>
            </a:extLst>
          </p:cNvPr>
          <p:cNvSpPr/>
          <p:nvPr/>
        </p:nvSpPr>
        <p:spPr>
          <a:xfrm>
            <a:off x="576606" y="5682560"/>
            <a:ext cx="3391238" cy="384048"/>
          </a:xfrm>
          <a:prstGeom prst="roundRect">
            <a:avLst>
              <a:gd name="adj" fmla="val 14286"/>
            </a:avLst>
          </a:prstGeom>
          <a:solidFill>
            <a:srgbClr val="3A9E5B"/>
          </a:solidFill>
          <a:ln/>
        </p:spPr>
        <p:txBody>
          <a:bodyPr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J₁ → instant top-priority service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3E6468D1-7DC3-E09C-7258-F9D0BBF9017B}"/>
              </a:ext>
            </a:extLst>
          </p:cNvPr>
          <p:cNvSpPr/>
          <p:nvPr/>
        </p:nvSpPr>
        <p:spPr>
          <a:xfrm>
            <a:off x="4049487" y="5682560"/>
            <a:ext cx="3205842" cy="384048"/>
          </a:xfrm>
          <a:prstGeom prst="roundRect">
            <a:avLst>
              <a:gd name="adj" fmla="val 14286"/>
            </a:avLst>
          </a:prstGeom>
          <a:solidFill>
            <a:srgbClr val="2E5E8C"/>
          </a:solidFill>
          <a:ln/>
        </p:spPr>
        <p:txBody>
          <a:bodyPr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J₂ → reclaimed parked budget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D9FB25E2-9117-EF12-A5B7-4A025AA3C56C}"/>
              </a:ext>
            </a:extLst>
          </p:cNvPr>
          <p:cNvSpPr/>
          <p:nvPr/>
        </p:nvSpPr>
        <p:spPr>
          <a:xfrm>
            <a:off x="7452360" y="5682560"/>
            <a:ext cx="3528060" cy="384048"/>
          </a:xfrm>
          <a:prstGeom prst="roundRect">
            <a:avLst>
              <a:gd name="adj" fmla="val 14286"/>
            </a:avLst>
          </a:prstGeom>
          <a:solidFill>
            <a:srgbClr val="C2563B"/>
          </a:solidFill>
          <a:ln/>
        </p:spPr>
        <p:txBody>
          <a:bodyPr/>
          <a:lstStyle/>
          <a:p>
            <a:pPr algn="ctr"/>
            <a:r>
              <a:rPr lang="en-US" b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Budget lost only at idle (t = 9, 15)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A7CF832-7400-B4F2-9C3F-2BAB00EEA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16A634-9C1F-C564-0232-886A7E05C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7787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AE527-ECC9-5A7B-C601-67C4762CD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de-DE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441D9D-BAA3-493F-AD97-A6BC18432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>
                <a:latin typeface="Times New Roman" panose="02020603050405020304" pitchFamily="18" charset="0"/>
                <a:cs typeface="Times New Roman" panose="02020603050405020304" pitchFamily="18" charset="0"/>
              </a:rPr>
              <a:t>HSHL-Real Time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56366-A66F-CE07-25A5-EB1FAE1831BF}"/>
              </a:ext>
            </a:extLst>
          </p:cNvPr>
          <p:cNvSpPr txBox="1"/>
          <p:nvPr/>
        </p:nvSpPr>
        <p:spPr>
          <a:xfrm>
            <a:off x="502920" y="164592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12F258-07D1-5730-8929-7EE1747021BD}"/>
              </a:ext>
            </a:extLst>
          </p:cNvPr>
          <p:cNvSpPr txBox="1"/>
          <p:nvPr/>
        </p:nvSpPr>
        <p:spPr>
          <a:xfrm>
            <a:off x="502920" y="796014"/>
            <a:ext cx="1060704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discrete, unit-time, fixed-priority simulator configured to the exact worked example (Cs=1, Ts=5,  τ1=(2,10),  τ2=(6,20),  J@5, J@12).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A6D0CF32-4E2A-9072-838C-924E6871FBDA}"/>
              </a:ext>
            </a:extLst>
          </p:cNvPr>
          <p:cNvSpPr/>
          <p:nvPr/>
        </p:nvSpPr>
        <p:spPr>
          <a:xfrm>
            <a:off x="212972" y="1874519"/>
            <a:ext cx="5532120" cy="4160520"/>
          </a:xfrm>
          <a:prstGeom prst="roundRect">
            <a:avLst>
              <a:gd name="adj" fmla="val 4500"/>
            </a:avLst>
          </a:prstGeom>
          <a:solidFill>
            <a:srgbClr val="EEF3F8"/>
          </a:solidFill>
          <a:ln w="12700">
            <a:solidFill>
              <a:srgbClr val="DBE4EF"/>
            </a:solidFill>
          </a:ln>
          <a:effectLst>
            <a:outerShdw blurRad="40000" dist="25000" dir="5400000" rotWithShape="0">
              <a:srgbClr val="9AA7B4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39B92-920E-BB11-1B53-73B411F5349A}"/>
              </a:ext>
            </a:extLst>
          </p:cNvPr>
          <p:cNvSpPr txBox="1"/>
          <p:nvPr/>
        </p:nvSpPr>
        <p:spPr>
          <a:xfrm>
            <a:off x="514724" y="2084831"/>
            <a:ext cx="50292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the simulator enforces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40C8892-4B93-83A4-1B96-4144CBB1182D}"/>
              </a:ext>
            </a:extLst>
          </p:cNvPr>
          <p:cNvSpPr/>
          <p:nvPr/>
        </p:nvSpPr>
        <p:spPr>
          <a:xfrm>
            <a:off x="514724" y="2660904"/>
            <a:ext cx="146304" cy="14630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8E8F34-1FDF-827A-C533-4F98C7161E2A}"/>
              </a:ext>
            </a:extLst>
          </p:cNvPr>
          <p:cNvSpPr txBox="1"/>
          <p:nvPr/>
        </p:nvSpPr>
        <p:spPr>
          <a:xfrm>
            <a:off x="789044" y="2569464"/>
            <a:ext cx="4800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 Replenish  </a:t>
            </a:r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  server gains Cₛ budget every Tₛ.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F269660-9B4B-1888-676A-571C50F8A38A}"/>
              </a:ext>
            </a:extLst>
          </p:cNvPr>
          <p:cNvSpPr/>
          <p:nvPr/>
        </p:nvSpPr>
        <p:spPr>
          <a:xfrm>
            <a:off x="524463" y="3236975"/>
            <a:ext cx="146304" cy="146304"/>
          </a:xfrm>
          <a:prstGeom prst="ellipse">
            <a:avLst/>
          </a:prstGeom>
          <a:solidFill>
            <a:srgbClr val="3A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E9C7FD-2199-4722-6DEC-8051A0C8776A}"/>
              </a:ext>
            </a:extLst>
          </p:cNvPr>
          <p:cNvSpPr txBox="1"/>
          <p:nvPr/>
        </p:nvSpPr>
        <p:spPr>
          <a:xfrm>
            <a:off x="789044" y="3150759"/>
            <a:ext cx="480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  Serve  </a:t>
            </a:r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  aperiodic pending → consume highest-priority budget.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7B6E349-2905-A0E9-DBFD-E5DF542A68A3}"/>
              </a:ext>
            </a:extLst>
          </p:cNvPr>
          <p:cNvSpPr/>
          <p:nvPr/>
        </p:nvSpPr>
        <p:spPr>
          <a:xfrm>
            <a:off x="514724" y="3977639"/>
            <a:ext cx="146304" cy="146304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521D7A-0F3F-B2A2-A241-4C8DEBA3A224}"/>
              </a:ext>
            </a:extLst>
          </p:cNvPr>
          <p:cNvSpPr txBox="1"/>
          <p:nvPr/>
        </p:nvSpPr>
        <p:spPr>
          <a:xfrm>
            <a:off x="789044" y="3886200"/>
            <a:ext cx="480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 Exchange  </a:t>
            </a:r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  else advance the top ready periodic task.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FC0C72-7D76-E913-79AB-B351176D5795}"/>
              </a:ext>
            </a:extLst>
          </p:cNvPr>
          <p:cNvSpPr/>
          <p:nvPr/>
        </p:nvSpPr>
        <p:spPr>
          <a:xfrm>
            <a:off x="514724" y="4636007"/>
            <a:ext cx="146304" cy="146304"/>
          </a:xfrm>
          <a:prstGeom prst="ellipse">
            <a:avLst/>
          </a:prstGeom>
          <a:solidFill>
            <a:srgbClr val="C25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F5F2F7-A254-7AA7-F75A-BF2132F56AA9}"/>
              </a:ext>
            </a:extLst>
          </p:cNvPr>
          <p:cNvSpPr txBox="1"/>
          <p:nvPr/>
        </p:nvSpPr>
        <p:spPr>
          <a:xfrm>
            <a:off x="789044" y="4544568"/>
            <a:ext cx="480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  Park  </a:t>
            </a:r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  drop the equal budget to that task’s priority.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0953119-A0B2-B7AF-AD09-F84862AF8996}"/>
              </a:ext>
            </a:extLst>
          </p:cNvPr>
          <p:cNvSpPr/>
          <p:nvPr/>
        </p:nvSpPr>
        <p:spPr>
          <a:xfrm>
            <a:off x="514724" y="5294375"/>
            <a:ext cx="146304" cy="146304"/>
          </a:xfrm>
          <a:prstGeom prst="ellipse">
            <a:avLst/>
          </a:prstGeom>
          <a:solidFill>
            <a:srgbClr val="6B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D42E1E-FC22-88FE-F860-24DE34FD45CD}"/>
              </a:ext>
            </a:extLst>
          </p:cNvPr>
          <p:cNvSpPr txBox="1"/>
          <p:nvPr/>
        </p:nvSpPr>
        <p:spPr>
          <a:xfrm>
            <a:off x="789044" y="5202936"/>
            <a:ext cx="480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dirty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  Discard  </a:t>
            </a:r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  only when the CPU would otherwise idle.</a:t>
            </a:r>
          </a:p>
        </p:txBody>
      </p:sp>
      <p:sp>
        <p:nvSpPr>
          <p:cNvPr id="21" name="Rounded Rectangle 16">
            <a:extLst>
              <a:ext uri="{FF2B5EF4-FFF2-40B4-BE49-F238E27FC236}">
                <a16:creationId xmlns:a16="http://schemas.microsoft.com/office/drawing/2014/main" id="{541F9D04-0373-5636-A98E-FB43A361F4A9}"/>
              </a:ext>
            </a:extLst>
          </p:cNvPr>
          <p:cNvSpPr/>
          <p:nvPr/>
        </p:nvSpPr>
        <p:spPr>
          <a:xfrm>
            <a:off x="6001124" y="1874519"/>
            <a:ext cx="5212080" cy="4160520"/>
          </a:xfrm>
          <a:prstGeom prst="roundRect">
            <a:avLst>
              <a:gd name="adj" fmla="val 3500"/>
            </a:avLst>
          </a:prstGeom>
          <a:solidFill>
            <a:srgbClr val="172130"/>
          </a:solidFill>
          <a:ln w="12700">
            <a:solidFill>
              <a:srgbClr val="172130"/>
            </a:solidFill>
          </a:ln>
          <a:effectLst>
            <a:outerShdw blurRad="40000" dist="25000" dir="5400000" rotWithShape="0">
              <a:srgbClr val="9AA7B4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C33FA-A282-FD60-AA4D-C09B5B3E64A2}"/>
              </a:ext>
            </a:extLst>
          </p:cNvPr>
          <p:cNvSpPr txBox="1"/>
          <p:nvPr/>
        </p:nvSpPr>
        <p:spPr>
          <a:xfrm>
            <a:off x="6275444" y="2066543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9FB2C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decision  (each tick, choose what runs in [t, t+1) 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A7300B-7164-544E-3447-746F44E187C9}"/>
              </a:ext>
            </a:extLst>
          </p:cNvPr>
          <p:cNvSpPr txBox="1"/>
          <p:nvPr/>
        </p:nvSpPr>
        <p:spPr>
          <a:xfrm>
            <a:off x="6275444" y="2542032"/>
            <a:ext cx="4800600" cy="3461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 % Ts == 0) cap[0] += Cs;</a:t>
            </a:r>
            <a:r>
              <a:rPr sz="1600" b="0" i="0" dirty="0">
                <a:solidFill>
                  <a:srgbClr val="8A9B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// replenish</a:t>
            </a:r>
          </a:p>
          <a:p>
            <a:pPr>
              <a:lnSpc>
                <a:spcPct val="118000"/>
              </a:lnSpc>
            </a:pPr>
            <a:endParaRPr sz="1600" b="0" i="0" dirty="0">
              <a:solidFill>
                <a:srgbClr val="8A9BA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600" b="0" i="0" dirty="0" err="1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aperiodic_pending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  <a:r>
              <a:rPr sz="1600" b="0" i="0" dirty="0">
                <a:solidFill>
                  <a:srgbClr val="8A9B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 CASE 1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serve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(job, </a:t>
            </a:r>
            <a:r>
              <a:rPr sz="1600" b="0" i="0" dirty="0" err="1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top_budget_lvl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r>
              <a:rPr sz="1600" b="0" i="0" dirty="0">
                <a:solidFill>
                  <a:srgbClr val="8A9B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// consume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
</a:t>
            </a:r>
            <a:r>
              <a:rPr sz="1600" b="0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 if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sz="1600" b="0" i="0" dirty="0" err="1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periodic_ready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  <a:r>
              <a:rPr sz="1600" b="0" i="0" dirty="0">
                <a:solidFill>
                  <a:srgbClr val="8A9B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// CASE 2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exchange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sz="1600" b="0" i="0" dirty="0" err="1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budget_lvl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task);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park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(budget, </a:t>
            </a:r>
            <a:r>
              <a:rPr sz="1600" b="0" i="0" dirty="0" err="1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task.level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r>
              <a:rPr sz="1600" b="0" i="0" dirty="0">
                <a:solidFill>
                  <a:srgbClr val="8A9B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// degrade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
</a:t>
            </a:r>
            <a:r>
              <a:rPr sz="1600" b="0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  <a:r>
              <a:rPr sz="1600" b="0" i="0" dirty="0">
                <a:solidFill>
                  <a:srgbClr val="8A9BA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// idle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discard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sz="1600" b="0" i="0" dirty="0" err="1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top_budget_lvl</a:t>
            </a: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>
              <a:lnSpc>
                <a:spcPct val="118000"/>
              </a:lnSpc>
            </a:pPr>
            <a:r>
              <a:rPr sz="1600" b="0" i="0" dirty="0">
                <a:solidFill>
                  <a:srgbClr val="DBE3E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697139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2DAA4-8454-6988-69DD-D8A127B943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FD5D02-679E-D7B5-6B52-1198C0C215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863019-8CFF-7ADE-38B5-C4CD98C2520B}"/>
                  </a:ext>
                </a:extLst>
              </p:cNvPr>
              <p:cNvSpPr txBox="1"/>
              <p:nvPr/>
            </p:nvSpPr>
            <p:spPr>
              <a:xfrm>
                <a:off x="617958" y="680402"/>
                <a:ext cx="4974630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de-DE" dirty="0" err="1"/>
                  <a:t>Meaning</a:t>
                </a:r>
                <a:r>
                  <a:rPr lang="de-DE" dirty="0"/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de-DE" dirty="0">
                    <a:latin typeface="Courier New" panose="02070309020205020404" pitchFamily="49" charset="0"/>
                  </a:rPr>
                  <a:t>t</a:t>
                </a:r>
                <a:r>
                  <a:rPr lang="de-DE" dirty="0"/>
                  <a:t> = 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simulation</a:t>
                </a:r>
                <a:r>
                  <a:rPr lang="de-DE" dirty="0"/>
                  <a:t> time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de-DE" dirty="0" err="1">
                    <a:latin typeface="Courier New" panose="02070309020205020404" pitchFamily="49" charset="0"/>
                  </a:rPr>
                  <a:t>Ts</a:t>
                </a:r>
                <a:r>
                  <a:rPr lang="de-DE" dirty="0"/>
                  <a:t> = </a:t>
                </a:r>
                <a:r>
                  <a:rPr lang="de-DE" dirty="0" err="1"/>
                  <a:t>server</a:t>
                </a:r>
                <a:r>
                  <a:rPr lang="de-DE" dirty="0"/>
                  <a:t> </a:t>
                </a:r>
                <a:r>
                  <a:rPr lang="de-DE" dirty="0" err="1"/>
                  <a:t>period</a:t>
                </a:r>
                <a:r>
                  <a:rPr lang="de-DE" dirty="0"/>
                  <a:t>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de-DE" dirty="0">
                    <a:latin typeface="Courier New" panose="02070309020205020404" pitchFamily="49" charset="0"/>
                  </a:rPr>
                  <a:t>Cs</a:t>
                </a:r>
                <a:r>
                  <a:rPr lang="de-DE" dirty="0"/>
                  <a:t> = </a:t>
                </a:r>
                <a:r>
                  <a:rPr lang="de-DE" dirty="0" err="1"/>
                  <a:t>server</a:t>
                </a:r>
                <a:r>
                  <a:rPr lang="de-DE" dirty="0"/>
                  <a:t> </a:t>
                </a:r>
                <a:r>
                  <a:rPr lang="de-DE" dirty="0" err="1"/>
                  <a:t>capacity</a:t>
                </a:r>
                <a:r>
                  <a:rPr lang="de-DE" dirty="0"/>
                  <a:t>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de-DE" dirty="0" err="1">
                    <a:latin typeface="Courier New" panose="02070309020205020404" pitchFamily="49" charset="0"/>
                  </a:rPr>
                  <a:t>cap</a:t>
                </a:r>
                <a:r>
                  <a:rPr lang="de-DE" dirty="0">
                    <a:latin typeface="Courier New" panose="02070309020205020404" pitchFamily="49" charset="0"/>
                  </a:rPr>
                  <a:t>[0]</a:t>
                </a:r>
                <a:r>
                  <a:rPr lang="de-DE" dirty="0"/>
                  <a:t> = </a:t>
                </a:r>
                <a:r>
                  <a:rPr lang="de-DE" dirty="0" err="1"/>
                  <a:t>fresh</a:t>
                </a:r>
                <a:r>
                  <a:rPr lang="de-DE" dirty="0"/>
                  <a:t> </a:t>
                </a:r>
                <a:r>
                  <a:rPr lang="de-DE" dirty="0" err="1"/>
                  <a:t>budget</a:t>
                </a:r>
                <a:r>
                  <a:rPr lang="de-DE" dirty="0"/>
                  <a:t> at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highest</a:t>
                </a:r>
                <a:r>
                  <a:rPr lang="de-DE" dirty="0"/>
                  <a:t> PE </a:t>
                </a:r>
                <a:r>
                  <a:rPr lang="de-DE" dirty="0" err="1"/>
                  <a:t>priority</a:t>
                </a:r>
                <a:r>
                  <a:rPr lang="de-DE" dirty="0"/>
                  <a:t>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de-DE" dirty="0">
                    <a:latin typeface="Courier New" panose="02070309020205020404" pitchFamily="49" charset="0"/>
                  </a:rPr>
                  <a:t>+=</a:t>
                </a:r>
                <a:r>
                  <a:rPr lang="de-DE" dirty="0"/>
                  <a:t> =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existing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br>
                  <a:rPr lang="de-DE" dirty="0"/>
                </a:br>
                <a:endParaRPr lang="de-DE" dirty="0"/>
              </a:p>
              <a:p>
                <a:pPr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i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de-DE" i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: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863019-8CFF-7ADE-38B5-C4CD98C25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958" y="680402"/>
                <a:ext cx="4974630" cy="2308324"/>
              </a:xfrm>
              <a:prstGeom prst="rect">
                <a:avLst/>
              </a:prstGeom>
              <a:blipFill>
                <a:blip r:embed="rId2"/>
                <a:stretch>
                  <a:fillRect l="-980" t="-1587" b="-343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A1071A6-2233-BB06-D3B4-D8BA8039D5FF}"/>
              </a:ext>
            </a:extLst>
          </p:cNvPr>
          <p:cNvSpPr txBox="1"/>
          <p:nvPr/>
        </p:nvSpPr>
        <p:spPr>
          <a:xfrm>
            <a:off x="494071" y="3933490"/>
            <a:ext cx="60969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Meaning</a:t>
            </a:r>
            <a:r>
              <a:rPr lang="de-DE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Check </a:t>
            </a:r>
            <a:r>
              <a:rPr lang="de-DE" dirty="0" err="1"/>
              <a:t>whether</a:t>
            </a:r>
            <a:r>
              <a:rPr lang="de-DE" dirty="0"/>
              <a:t> an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waiting</a:t>
            </a:r>
            <a:r>
              <a:rPr lang="de-DE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highest-priority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Use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</a:t>
            </a:r>
            <a:r>
              <a:rPr lang="de-DE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597BE4-23AC-5216-F00E-9C04CF2314B3}"/>
              </a:ext>
            </a:extLst>
          </p:cNvPr>
          <p:cNvSpPr txBox="1"/>
          <p:nvPr/>
        </p:nvSpPr>
        <p:spPr>
          <a:xfrm>
            <a:off x="5420033" y="783235"/>
            <a:ext cx="60969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currently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. A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ready</a:t>
            </a:r>
            <a:r>
              <a:rPr lang="de-DE" dirty="0"/>
              <a:t>. The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budget’s</a:t>
            </a:r>
            <a:r>
              <a:rPr lang="de-DE" dirty="0"/>
              <a:t>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.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capacity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parked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task’s</a:t>
            </a:r>
            <a:r>
              <a:rPr lang="de-DE" dirty="0"/>
              <a:t> own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18E30B-1B99-ED1D-1820-84DB15CF2FE3}"/>
              </a:ext>
            </a:extLst>
          </p:cNvPr>
          <p:cNvSpPr txBox="1"/>
          <p:nvPr/>
        </p:nvSpPr>
        <p:spPr>
          <a:xfrm>
            <a:off x="5477060" y="2196481"/>
            <a:ext cx="6096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aperiodic</a:t>
            </a:r>
            <a:r>
              <a:rPr lang="de-DE" dirty="0"/>
              <a:t> </a:t>
            </a:r>
            <a:r>
              <a:rPr lang="de-DE" dirty="0" err="1"/>
              <a:t>job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being</a:t>
            </a:r>
            <a:r>
              <a:rPr lang="de-DE" dirty="0"/>
              <a:t> </a:t>
            </a:r>
            <a:r>
              <a:rPr lang="de-DE" dirty="0" err="1"/>
              <a:t>served</a:t>
            </a:r>
            <a:r>
              <a:rPr lang="de-DE" dirty="0"/>
              <a:t>.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ready</a:t>
            </a:r>
            <a:r>
              <a:rPr lang="de-DE" dirty="0"/>
              <a:t>. The CPU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. Any </a:t>
            </a:r>
            <a:r>
              <a:rPr lang="de-DE" dirty="0" err="1"/>
              <a:t>remaining</a:t>
            </a:r>
            <a:r>
              <a:rPr lang="de-DE" dirty="0"/>
              <a:t> </a:t>
            </a:r>
            <a:r>
              <a:rPr lang="de-DE" dirty="0" err="1"/>
              <a:t>budget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discarded</a:t>
            </a:r>
            <a:r>
              <a:rPr lang="de-DE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9AE48-9D72-5297-F60B-0616F53AF24A}"/>
              </a:ext>
            </a:extLst>
          </p:cNvPr>
          <p:cNvSpPr txBox="1"/>
          <p:nvPr/>
        </p:nvSpPr>
        <p:spPr>
          <a:xfrm>
            <a:off x="6346232" y="2963993"/>
            <a:ext cx="471505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b="1" dirty="0"/>
              <a:t>Methods </a:t>
            </a:r>
            <a:r>
              <a:rPr lang="de-DE" b="1" dirty="0" err="1"/>
              <a:t>Used</a:t>
            </a:r>
            <a:endParaRPr lang="de-DE" b="1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Discrete</a:t>
            </a:r>
            <a:r>
              <a:rPr lang="de-DE" dirty="0"/>
              <a:t> Unit-Time Simulation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Preemptive</a:t>
            </a:r>
            <a:r>
              <a:rPr lang="de-DE" dirty="0"/>
              <a:t> Fixed-</a:t>
            </a:r>
            <a:r>
              <a:rPr lang="de-DE" dirty="0" err="1"/>
              <a:t>Priority</a:t>
            </a:r>
            <a:r>
              <a:rPr lang="de-DE" dirty="0"/>
              <a:t> Scheduling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Rate Monotonic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Assignment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Priority</a:t>
            </a:r>
            <a:r>
              <a:rPr lang="de-DE" dirty="0"/>
              <a:t>-Level Budget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FIFO </a:t>
            </a:r>
            <a:r>
              <a:rPr lang="de-DE" dirty="0" err="1"/>
              <a:t>Aperiodic</a:t>
            </a:r>
            <a:r>
              <a:rPr lang="de-DE" dirty="0"/>
              <a:t> Job Queue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Periodic</a:t>
            </a:r>
            <a:r>
              <a:rPr lang="de-DE" dirty="0"/>
              <a:t> Server </a:t>
            </a:r>
            <a:r>
              <a:rPr lang="de-DE" dirty="0" err="1"/>
              <a:t>Replenishment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Decision-Based</a:t>
            </a:r>
            <a:r>
              <a:rPr lang="de-DE" dirty="0"/>
              <a:t> Scheduling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Deadline Monitoring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Response-Time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Theory-</a:t>
            </a:r>
            <a:r>
              <a:rPr lang="de-DE" dirty="0" err="1"/>
              <a:t>to</a:t>
            </a:r>
            <a:r>
              <a:rPr lang="de-DE" dirty="0"/>
              <a:t>-Simulation Validation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A1CD2B-1819-A9D5-0A13-A30CE603184E}"/>
              </a:ext>
            </a:extLst>
          </p:cNvPr>
          <p:cNvSpPr txBox="1"/>
          <p:nvPr/>
        </p:nvSpPr>
        <p:spPr>
          <a:xfrm>
            <a:off x="371661" y="5428434"/>
            <a:ext cx="6096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where</a:t>
            </a:r>
            <a:r>
              <a:rPr lang="de-DE" dirty="0"/>
              <a:t> a high-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involuntarily</a:t>
            </a:r>
            <a:r>
              <a:rPr lang="de-DE" dirty="0"/>
              <a:t> </a:t>
            </a:r>
            <a:r>
              <a:rPr lang="de-DE" dirty="0" err="1"/>
              <a:t>interrupts</a:t>
            </a:r>
            <a:r>
              <a:rPr lang="de-DE" dirty="0"/>
              <a:t> a </a:t>
            </a:r>
            <a:r>
              <a:rPr lang="de-DE" dirty="0" err="1"/>
              <a:t>currently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lower-priority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CPU. </a:t>
            </a:r>
          </a:p>
        </p:txBody>
      </p:sp>
    </p:spTree>
    <p:extLst>
      <p:ext uri="{BB962C8B-B14F-4D97-AF65-F5344CB8AC3E}">
        <p14:creationId xmlns:p14="http://schemas.microsoft.com/office/powerpoint/2010/main" val="1250256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2628FD-9586-1D98-5D87-8029BF34F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17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BB39D-C110-455B-66E8-E38B4BA936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C643A8-D527-B059-8D68-98CA3A6E688F}"/>
              </a:ext>
            </a:extLst>
          </p:cNvPr>
          <p:cNvSpPr txBox="1"/>
          <p:nvPr/>
        </p:nvSpPr>
        <p:spPr>
          <a:xfrm>
            <a:off x="502920" y="164592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Simulated Trace - Tick by Tick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F5148D-CE40-F3D7-E156-F6FF46DABDB6}"/>
              </a:ext>
            </a:extLst>
          </p:cNvPr>
          <p:cNvSpPr txBox="1"/>
          <p:nvPr/>
        </p:nvSpPr>
        <p:spPr>
          <a:xfrm>
            <a:off x="580790" y="878771"/>
            <a:ext cx="106070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 scheduling decision the simulator made over [0, 20).  </a:t>
            </a:r>
            <a:r>
              <a:rPr b="1" i="0" dirty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</a:t>
            </a:r>
            <a:r>
              <a:rPr b="0" i="0" dirty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b="1" i="0" dirty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Discard</a:t>
            </a:r>
            <a:r>
              <a:rPr b="0" i="0" dirty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instants are highlighted.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82C716A8-17D2-BA3B-47A4-964956A3768B}"/>
              </a:ext>
            </a:extLst>
          </p:cNvPr>
          <p:cNvSpPr/>
          <p:nvPr/>
        </p:nvSpPr>
        <p:spPr>
          <a:xfrm>
            <a:off x="566928" y="1847088"/>
            <a:ext cx="10835640" cy="365760"/>
          </a:xfrm>
          <a:prstGeom prst="roundRect">
            <a:avLst>
              <a:gd name="adj" fmla="val 8000"/>
            </a:avLst>
          </a:prstGeom>
          <a:solidFill>
            <a:srgbClr val="16263D"/>
          </a:solidFill>
          <a:ln w="12700">
            <a:solidFill>
              <a:srgbClr val="16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01DFC2-A678-475B-1E43-CAFBC1BBA53F}"/>
              </a:ext>
            </a:extLst>
          </p:cNvPr>
          <p:cNvSpPr txBox="1"/>
          <p:nvPr/>
        </p:nvSpPr>
        <p:spPr>
          <a:xfrm>
            <a:off x="566928" y="1876080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6582AB-22AC-7BD0-100C-8AE2AC7624CF}"/>
              </a:ext>
            </a:extLst>
          </p:cNvPr>
          <p:cNvSpPr txBox="1"/>
          <p:nvPr/>
        </p:nvSpPr>
        <p:spPr>
          <a:xfrm>
            <a:off x="1728216" y="1876080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6734F7-0EC2-D4DB-0FDA-CBC7C8DF8D97}"/>
              </a:ext>
            </a:extLst>
          </p:cNvPr>
          <p:cNvSpPr txBox="1"/>
          <p:nvPr/>
        </p:nvSpPr>
        <p:spPr>
          <a:xfrm>
            <a:off x="3008376" y="1876080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 decision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56FCBC-3724-DD16-4696-3F6D9AF60503}"/>
              </a:ext>
            </a:extLst>
          </p:cNvPr>
          <p:cNvSpPr txBox="1"/>
          <p:nvPr/>
        </p:nvSpPr>
        <p:spPr>
          <a:xfrm>
            <a:off x="8951976" y="1876080"/>
            <a:ext cx="245059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Budget after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EDBCE028-A3C4-5F93-8E7F-BEC02BFB9BA5}"/>
              </a:ext>
            </a:extLst>
          </p:cNvPr>
          <p:cNvSpPr/>
          <p:nvPr/>
        </p:nvSpPr>
        <p:spPr>
          <a:xfrm>
            <a:off x="566928" y="2212848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25D348-DBCB-C558-7F5A-1DD2C396C201}"/>
              </a:ext>
            </a:extLst>
          </p:cNvPr>
          <p:cNvSpPr txBox="1"/>
          <p:nvPr/>
        </p:nvSpPr>
        <p:spPr>
          <a:xfrm>
            <a:off x="566928" y="2216694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4A60D2-890E-2BC0-D019-669A4B15F573}"/>
              </a:ext>
            </a:extLst>
          </p:cNvPr>
          <p:cNvSpPr txBox="1"/>
          <p:nvPr/>
        </p:nvSpPr>
        <p:spPr>
          <a:xfrm>
            <a:off x="1728216" y="2216694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τ₁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076F47-BADC-9699-984C-E9F81527E73C}"/>
              </a:ext>
            </a:extLst>
          </p:cNvPr>
          <p:cNvSpPr txBox="1"/>
          <p:nvPr/>
        </p:nvSpPr>
        <p:spPr>
          <a:xfrm>
            <a:off x="3008376" y="2216694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EXCHANGE → run τ₁, park @τ₁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FF5B10-EB05-1C9C-C6E8-B582ED950404}"/>
              </a:ext>
            </a:extLst>
          </p:cNvPr>
          <p:cNvSpPr txBox="1"/>
          <p:nvPr/>
        </p:nvSpPr>
        <p:spPr>
          <a:xfrm>
            <a:off x="8951976" y="2232083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[τ₁:1]</a:t>
            </a:r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B59B75E0-D7D8-367E-FBBD-285E6358DC33}"/>
              </a:ext>
            </a:extLst>
          </p:cNvPr>
          <p:cNvSpPr/>
          <p:nvPr/>
        </p:nvSpPr>
        <p:spPr>
          <a:xfrm>
            <a:off x="566928" y="2528315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CED981-D224-CADC-4352-866A1B0FD76F}"/>
              </a:ext>
            </a:extLst>
          </p:cNvPr>
          <p:cNvSpPr txBox="1"/>
          <p:nvPr/>
        </p:nvSpPr>
        <p:spPr>
          <a:xfrm>
            <a:off x="566928" y="2532161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6DB8D4-16FD-CB35-1F0E-4B20D576C1A7}"/>
              </a:ext>
            </a:extLst>
          </p:cNvPr>
          <p:cNvSpPr txBox="1"/>
          <p:nvPr/>
        </p:nvSpPr>
        <p:spPr>
          <a:xfrm>
            <a:off x="1728216" y="2532161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τ₁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F87EF9-46D8-E904-9B4E-AFE70A69194B}"/>
              </a:ext>
            </a:extLst>
          </p:cNvPr>
          <p:cNvSpPr txBox="1"/>
          <p:nvPr/>
        </p:nvSpPr>
        <p:spPr>
          <a:xfrm>
            <a:off x="3008376" y="2532161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τ₁ normally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C60889-E8B3-D08C-7374-0613679B77CC}"/>
              </a:ext>
            </a:extLst>
          </p:cNvPr>
          <p:cNvSpPr txBox="1"/>
          <p:nvPr/>
        </p:nvSpPr>
        <p:spPr>
          <a:xfrm>
            <a:off x="8951976" y="2547550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[τ₁:1]</a:t>
            </a:r>
          </a:p>
        </p:txBody>
      </p:sp>
      <p:sp>
        <p:nvSpPr>
          <p:cNvPr id="24" name="Rounded Rectangle 19">
            <a:extLst>
              <a:ext uri="{FF2B5EF4-FFF2-40B4-BE49-F238E27FC236}">
                <a16:creationId xmlns:a16="http://schemas.microsoft.com/office/drawing/2014/main" id="{67FAB6C6-56F0-44E3-A1CB-077AAD7335D1}"/>
              </a:ext>
            </a:extLst>
          </p:cNvPr>
          <p:cNvSpPr/>
          <p:nvPr/>
        </p:nvSpPr>
        <p:spPr>
          <a:xfrm>
            <a:off x="566928" y="2843783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510197-2187-4B58-FCA5-31F09A8C8128}"/>
              </a:ext>
            </a:extLst>
          </p:cNvPr>
          <p:cNvSpPr txBox="1"/>
          <p:nvPr/>
        </p:nvSpPr>
        <p:spPr>
          <a:xfrm>
            <a:off x="566928" y="2847629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C193EC-4F8F-350C-A844-79291E3FF1E5}"/>
              </a:ext>
            </a:extLst>
          </p:cNvPr>
          <p:cNvSpPr txBox="1"/>
          <p:nvPr/>
        </p:nvSpPr>
        <p:spPr>
          <a:xfrm>
            <a:off x="1728216" y="2847629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τ₂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604A6-09F7-CC39-20FE-6EF4298E2248}"/>
              </a:ext>
            </a:extLst>
          </p:cNvPr>
          <p:cNvSpPr txBox="1"/>
          <p:nvPr/>
        </p:nvSpPr>
        <p:spPr>
          <a:xfrm>
            <a:off x="3008376" y="2847629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EXCHANGE → run τ₂, park @τ₂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E8156D-3EB8-93A2-42DA-4E8967D664C4}"/>
              </a:ext>
            </a:extLst>
          </p:cNvPr>
          <p:cNvSpPr txBox="1"/>
          <p:nvPr/>
        </p:nvSpPr>
        <p:spPr>
          <a:xfrm>
            <a:off x="8951976" y="2863018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[τ₂:1]</a:t>
            </a:r>
          </a:p>
        </p:txBody>
      </p:sp>
      <p:sp>
        <p:nvSpPr>
          <p:cNvPr id="29" name="Rounded Rectangle 24">
            <a:extLst>
              <a:ext uri="{FF2B5EF4-FFF2-40B4-BE49-F238E27FC236}">
                <a16:creationId xmlns:a16="http://schemas.microsoft.com/office/drawing/2014/main" id="{CE2DEF3D-3287-A782-5A76-DD9EC219F137}"/>
              </a:ext>
            </a:extLst>
          </p:cNvPr>
          <p:cNvSpPr/>
          <p:nvPr/>
        </p:nvSpPr>
        <p:spPr>
          <a:xfrm>
            <a:off x="566928" y="3159251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11C28B-05EB-587B-5615-53F95A51DDD8}"/>
              </a:ext>
            </a:extLst>
          </p:cNvPr>
          <p:cNvSpPr txBox="1"/>
          <p:nvPr/>
        </p:nvSpPr>
        <p:spPr>
          <a:xfrm>
            <a:off x="566928" y="3163097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3–4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68934-BF19-B016-A322-6D0D66588821}"/>
              </a:ext>
            </a:extLst>
          </p:cNvPr>
          <p:cNvSpPr txBox="1"/>
          <p:nvPr/>
        </p:nvSpPr>
        <p:spPr>
          <a:xfrm>
            <a:off x="1728216" y="3163097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τ₂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5E0832-B1DE-1026-DDC0-F665A2AF89EF}"/>
              </a:ext>
            </a:extLst>
          </p:cNvPr>
          <p:cNvSpPr txBox="1"/>
          <p:nvPr/>
        </p:nvSpPr>
        <p:spPr>
          <a:xfrm>
            <a:off x="3008376" y="3163097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τ₂ normally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6FEF35-E15C-805B-485C-CF621C4A8CD6}"/>
              </a:ext>
            </a:extLst>
          </p:cNvPr>
          <p:cNvSpPr txBox="1"/>
          <p:nvPr/>
        </p:nvSpPr>
        <p:spPr>
          <a:xfrm>
            <a:off x="8951976" y="3178486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[τ₂:1]</a:t>
            </a:r>
          </a:p>
        </p:txBody>
      </p:sp>
      <p:sp>
        <p:nvSpPr>
          <p:cNvPr id="34" name="Rounded Rectangle 29">
            <a:extLst>
              <a:ext uri="{FF2B5EF4-FFF2-40B4-BE49-F238E27FC236}">
                <a16:creationId xmlns:a16="http://schemas.microsoft.com/office/drawing/2014/main" id="{3A2D14FE-72C0-2794-0B8D-4800B21CD4BF}"/>
              </a:ext>
            </a:extLst>
          </p:cNvPr>
          <p:cNvSpPr/>
          <p:nvPr/>
        </p:nvSpPr>
        <p:spPr>
          <a:xfrm>
            <a:off x="566928" y="3474719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ECF6F0"/>
          </a:solidFill>
          <a:ln w="6350">
            <a:solidFill>
              <a:srgbClr val="CBE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469F2-A25E-3D0C-1617-00027CE88383}"/>
              </a:ext>
            </a:extLst>
          </p:cNvPr>
          <p:cNvSpPr txBox="1"/>
          <p:nvPr/>
        </p:nvSpPr>
        <p:spPr>
          <a:xfrm>
            <a:off x="566928" y="3478565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948D2F-1D5D-27DC-131A-2134DF52822B}"/>
              </a:ext>
            </a:extLst>
          </p:cNvPr>
          <p:cNvSpPr txBox="1"/>
          <p:nvPr/>
        </p:nvSpPr>
        <p:spPr>
          <a:xfrm>
            <a:off x="1728216" y="3478565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J₁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E0DC5-5EC1-9E54-CFE4-0470ECCB75A1}"/>
              </a:ext>
            </a:extLst>
          </p:cNvPr>
          <p:cNvSpPr txBox="1"/>
          <p:nvPr/>
        </p:nvSpPr>
        <p:spPr>
          <a:xfrm>
            <a:off x="3008376" y="3478565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 J₁  (fresh top budget)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8668DF-C740-53C8-9F1E-0806E152E5DF}"/>
              </a:ext>
            </a:extLst>
          </p:cNvPr>
          <p:cNvSpPr txBox="1"/>
          <p:nvPr/>
        </p:nvSpPr>
        <p:spPr>
          <a:xfrm>
            <a:off x="8951976" y="3493954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[τ₂:1]</a:t>
            </a:r>
          </a:p>
        </p:txBody>
      </p:sp>
      <p:sp>
        <p:nvSpPr>
          <p:cNvPr id="39" name="Rounded Rectangle 34">
            <a:extLst>
              <a:ext uri="{FF2B5EF4-FFF2-40B4-BE49-F238E27FC236}">
                <a16:creationId xmlns:a16="http://schemas.microsoft.com/office/drawing/2014/main" id="{673A8986-DC18-C24C-6DB2-47C2229306AE}"/>
              </a:ext>
            </a:extLst>
          </p:cNvPr>
          <p:cNvSpPr/>
          <p:nvPr/>
        </p:nvSpPr>
        <p:spPr>
          <a:xfrm>
            <a:off x="566928" y="3790187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263234-8F40-EF6F-2BF0-2AC091AC1DDC}"/>
              </a:ext>
            </a:extLst>
          </p:cNvPr>
          <p:cNvSpPr txBox="1"/>
          <p:nvPr/>
        </p:nvSpPr>
        <p:spPr>
          <a:xfrm>
            <a:off x="566928" y="3794033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6–8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004801-3C81-508C-165C-0D6BCB95C8E3}"/>
              </a:ext>
            </a:extLst>
          </p:cNvPr>
          <p:cNvSpPr txBox="1"/>
          <p:nvPr/>
        </p:nvSpPr>
        <p:spPr>
          <a:xfrm>
            <a:off x="1728216" y="3794033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τ₂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63FEA5-85A0-9841-D2F2-D915EFFE9A5F}"/>
              </a:ext>
            </a:extLst>
          </p:cNvPr>
          <p:cNvSpPr txBox="1"/>
          <p:nvPr/>
        </p:nvSpPr>
        <p:spPr>
          <a:xfrm>
            <a:off x="3008376" y="3794033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τ₂ normally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66A15C-4545-0560-951B-F1209AD06305}"/>
              </a:ext>
            </a:extLst>
          </p:cNvPr>
          <p:cNvSpPr txBox="1"/>
          <p:nvPr/>
        </p:nvSpPr>
        <p:spPr>
          <a:xfrm>
            <a:off x="8951976" y="3809422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[τ₂:1]</a:t>
            </a:r>
          </a:p>
        </p:txBody>
      </p:sp>
      <p:sp>
        <p:nvSpPr>
          <p:cNvPr id="44" name="Rounded Rectangle 39">
            <a:extLst>
              <a:ext uri="{FF2B5EF4-FFF2-40B4-BE49-F238E27FC236}">
                <a16:creationId xmlns:a16="http://schemas.microsoft.com/office/drawing/2014/main" id="{6176D99C-7E45-191D-18E5-F77356B43D8E}"/>
              </a:ext>
            </a:extLst>
          </p:cNvPr>
          <p:cNvSpPr/>
          <p:nvPr/>
        </p:nvSpPr>
        <p:spPr>
          <a:xfrm>
            <a:off x="566928" y="4105655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AEEEA"/>
          </a:solidFill>
          <a:ln w="6350">
            <a:solidFill>
              <a:srgbClr val="EED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B7741A-45CD-1469-2DA2-A3EDA4F6728B}"/>
              </a:ext>
            </a:extLst>
          </p:cNvPr>
          <p:cNvSpPr txBox="1"/>
          <p:nvPr/>
        </p:nvSpPr>
        <p:spPr>
          <a:xfrm>
            <a:off x="566928" y="4109501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472A36-8B52-B974-20B9-8850ADAF49ED}"/>
              </a:ext>
            </a:extLst>
          </p:cNvPr>
          <p:cNvSpPr txBox="1"/>
          <p:nvPr/>
        </p:nvSpPr>
        <p:spPr>
          <a:xfrm>
            <a:off x="1728216" y="4109501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AAE790-421A-60E3-9281-E13A2D720A53}"/>
              </a:ext>
            </a:extLst>
          </p:cNvPr>
          <p:cNvSpPr txBox="1"/>
          <p:nvPr/>
        </p:nvSpPr>
        <p:spPr>
          <a:xfrm>
            <a:off x="3008376" y="4109501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DISCARD @ idle (lose parked)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3F1381-5DB2-B4EE-F5AB-DE63E5329907}"/>
              </a:ext>
            </a:extLst>
          </p:cNvPr>
          <p:cNvSpPr txBox="1"/>
          <p:nvPr/>
        </p:nvSpPr>
        <p:spPr>
          <a:xfrm>
            <a:off x="8951976" y="4124890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empty ]</a:t>
            </a:r>
          </a:p>
        </p:txBody>
      </p:sp>
      <p:sp>
        <p:nvSpPr>
          <p:cNvPr id="49" name="Rounded Rectangle 44">
            <a:extLst>
              <a:ext uri="{FF2B5EF4-FFF2-40B4-BE49-F238E27FC236}">
                <a16:creationId xmlns:a16="http://schemas.microsoft.com/office/drawing/2014/main" id="{A6CB06FB-FE97-1778-E83B-0E0EF09D535F}"/>
              </a:ext>
            </a:extLst>
          </p:cNvPr>
          <p:cNvSpPr/>
          <p:nvPr/>
        </p:nvSpPr>
        <p:spPr>
          <a:xfrm>
            <a:off x="566928" y="4421123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EE5A52-526C-7035-F4EE-BE9380A1DCFB}"/>
              </a:ext>
            </a:extLst>
          </p:cNvPr>
          <p:cNvSpPr txBox="1"/>
          <p:nvPr/>
        </p:nvSpPr>
        <p:spPr>
          <a:xfrm>
            <a:off x="566928" y="4424969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CB7D64-4333-311E-B89C-60BDCB5E972B}"/>
              </a:ext>
            </a:extLst>
          </p:cNvPr>
          <p:cNvSpPr txBox="1"/>
          <p:nvPr/>
        </p:nvSpPr>
        <p:spPr>
          <a:xfrm>
            <a:off x="1728216" y="4424969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τ₁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1001AB-47D9-0963-007F-D4D9577F64C2}"/>
              </a:ext>
            </a:extLst>
          </p:cNvPr>
          <p:cNvSpPr txBox="1"/>
          <p:nvPr/>
        </p:nvSpPr>
        <p:spPr>
          <a:xfrm>
            <a:off x="3008376" y="4424969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EXCHANGE → run τ₁, park @τ₁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E2287E-B537-3DA9-FB37-3349AEED52E3}"/>
              </a:ext>
            </a:extLst>
          </p:cNvPr>
          <p:cNvSpPr txBox="1"/>
          <p:nvPr/>
        </p:nvSpPr>
        <p:spPr>
          <a:xfrm>
            <a:off x="8951976" y="4440358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[τ₁:1]</a:t>
            </a:r>
          </a:p>
        </p:txBody>
      </p:sp>
      <p:sp>
        <p:nvSpPr>
          <p:cNvPr id="54" name="Rounded Rectangle 49">
            <a:extLst>
              <a:ext uri="{FF2B5EF4-FFF2-40B4-BE49-F238E27FC236}">
                <a16:creationId xmlns:a16="http://schemas.microsoft.com/office/drawing/2014/main" id="{403756D4-3165-F52E-361D-82D44BEFB036}"/>
              </a:ext>
            </a:extLst>
          </p:cNvPr>
          <p:cNvSpPr/>
          <p:nvPr/>
        </p:nvSpPr>
        <p:spPr>
          <a:xfrm>
            <a:off x="566928" y="4736591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CCBEB0-8686-77FB-346B-20B8CEB938C9}"/>
              </a:ext>
            </a:extLst>
          </p:cNvPr>
          <p:cNvSpPr txBox="1"/>
          <p:nvPr/>
        </p:nvSpPr>
        <p:spPr>
          <a:xfrm>
            <a:off x="566928" y="4740437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0AB83D-A57C-37C3-1663-DECD1A81F15D}"/>
              </a:ext>
            </a:extLst>
          </p:cNvPr>
          <p:cNvSpPr txBox="1"/>
          <p:nvPr/>
        </p:nvSpPr>
        <p:spPr>
          <a:xfrm>
            <a:off x="1728216" y="4740437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21E90D-13A3-40F3-289D-0AD5B602F193}"/>
              </a:ext>
            </a:extLst>
          </p:cNvPr>
          <p:cNvSpPr txBox="1"/>
          <p:nvPr/>
        </p:nvSpPr>
        <p:spPr>
          <a:xfrm>
            <a:off x="3008376" y="4740437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τ₁ normally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E38762-E615-D01C-41D6-5B1BF26777AF}"/>
              </a:ext>
            </a:extLst>
          </p:cNvPr>
          <p:cNvSpPr txBox="1"/>
          <p:nvPr/>
        </p:nvSpPr>
        <p:spPr>
          <a:xfrm>
            <a:off x="8951976" y="4755826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[τ₁:1]</a:t>
            </a:r>
          </a:p>
        </p:txBody>
      </p:sp>
      <p:sp>
        <p:nvSpPr>
          <p:cNvPr id="59" name="Rounded Rectangle 54">
            <a:extLst>
              <a:ext uri="{FF2B5EF4-FFF2-40B4-BE49-F238E27FC236}">
                <a16:creationId xmlns:a16="http://schemas.microsoft.com/office/drawing/2014/main" id="{9CB83110-77CD-C0F9-8AA7-486F40BF81AB}"/>
              </a:ext>
            </a:extLst>
          </p:cNvPr>
          <p:cNvSpPr/>
          <p:nvPr/>
        </p:nvSpPr>
        <p:spPr>
          <a:xfrm>
            <a:off x="566928" y="5052059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ECF6F0"/>
          </a:solidFill>
          <a:ln w="6350">
            <a:solidFill>
              <a:srgbClr val="CBE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B6A7BEE-ABE2-1611-EFC7-F18D1D82A48B}"/>
              </a:ext>
            </a:extLst>
          </p:cNvPr>
          <p:cNvSpPr txBox="1"/>
          <p:nvPr/>
        </p:nvSpPr>
        <p:spPr>
          <a:xfrm>
            <a:off x="566928" y="5055905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18AA3E-083F-C942-9019-8261B00F46BC}"/>
              </a:ext>
            </a:extLst>
          </p:cNvPr>
          <p:cNvSpPr txBox="1"/>
          <p:nvPr/>
        </p:nvSpPr>
        <p:spPr>
          <a:xfrm>
            <a:off x="1728216" y="5055905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J₂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64405C-6533-A6E0-507D-1881E49F004E}"/>
              </a:ext>
            </a:extLst>
          </p:cNvPr>
          <p:cNvSpPr txBox="1"/>
          <p:nvPr/>
        </p:nvSpPr>
        <p:spPr>
          <a:xfrm>
            <a:off x="3008376" y="5055905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 J₂  (reclaimed budget)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74573E-DDEC-9009-06DA-9F9885282DA9}"/>
              </a:ext>
            </a:extLst>
          </p:cNvPr>
          <p:cNvSpPr txBox="1"/>
          <p:nvPr/>
        </p:nvSpPr>
        <p:spPr>
          <a:xfrm>
            <a:off x="8951976" y="5071294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empty ]</a:t>
            </a:r>
          </a:p>
        </p:txBody>
      </p:sp>
      <p:sp>
        <p:nvSpPr>
          <p:cNvPr id="64" name="Rounded Rectangle 59">
            <a:extLst>
              <a:ext uri="{FF2B5EF4-FFF2-40B4-BE49-F238E27FC236}">
                <a16:creationId xmlns:a16="http://schemas.microsoft.com/office/drawing/2014/main" id="{8807FB46-AC50-894A-7BA4-FE7133C3A809}"/>
              </a:ext>
            </a:extLst>
          </p:cNvPr>
          <p:cNvSpPr/>
          <p:nvPr/>
        </p:nvSpPr>
        <p:spPr>
          <a:xfrm>
            <a:off x="566928" y="5367527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6704C20-9E6F-9967-BA3D-E8D3F6FF1B54}"/>
              </a:ext>
            </a:extLst>
          </p:cNvPr>
          <p:cNvSpPr txBox="1"/>
          <p:nvPr/>
        </p:nvSpPr>
        <p:spPr>
          <a:xfrm>
            <a:off x="566928" y="5371373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13–14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06BD1A-7668-737A-1825-3FE5267D36F9}"/>
              </a:ext>
            </a:extLst>
          </p:cNvPr>
          <p:cNvSpPr txBox="1"/>
          <p:nvPr/>
        </p:nvSpPr>
        <p:spPr>
          <a:xfrm>
            <a:off x="1728216" y="5371373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6AD8F2-3C66-C4C5-C000-4ACCA9C5EB81}"/>
              </a:ext>
            </a:extLst>
          </p:cNvPr>
          <p:cNvSpPr txBox="1"/>
          <p:nvPr/>
        </p:nvSpPr>
        <p:spPr>
          <a:xfrm>
            <a:off x="3008376" y="5371373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idle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CD2D4E-2021-3ECA-963C-A65348348161}"/>
              </a:ext>
            </a:extLst>
          </p:cNvPr>
          <p:cNvSpPr txBox="1"/>
          <p:nvPr/>
        </p:nvSpPr>
        <p:spPr>
          <a:xfrm>
            <a:off x="8951976" y="5386762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empty ]</a:t>
            </a:r>
          </a:p>
        </p:txBody>
      </p:sp>
      <p:sp>
        <p:nvSpPr>
          <p:cNvPr id="69" name="Rounded Rectangle 64">
            <a:extLst>
              <a:ext uri="{FF2B5EF4-FFF2-40B4-BE49-F238E27FC236}">
                <a16:creationId xmlns:a16="http://schemas.microsoft.com/office/drawing/2014/main" id="{7D9BF014-CEA8-53FD-279A-6AA1051E4ECC}"/>
              </a:ext>
            </a:extLst>
          </p:cNvPr>
          <p:cNvSpPr/>
          <p:nvPr/>
        </p:nvSpPr>
        <p:spPr>
          <a:xfrm>
            <a:off x="566928" y="5682995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AEEEA"/>
          </a:solidFill>
          <a:ln w="6350">
            <a:solidFill>
              <a:srgbClr val="EED2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DDBC4A1-371B-C6EE-E46F-30D107C486F8}"/>
              </a:ext>
            </a:extLst>
          </p:cNvPr>
          <p:cNvSpPr txBox="1"/>
          <p:nvPr/>
        </p:nvSpPr>
        <p:spPr>
          <a:xfrm>
            <a:off x="566928" y="5686841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F6FE770-A087-27B5-62FC-85144298962E}"/>
              </a:ext>
            </a:extLst>
          </p:cNvPr>
          <p:cNvSpPr txBox="1"/>
          <p:nvPr/>
        </p:nvSpPr>
        <p:spPr>
          <a:xfrm>
            <a:off x="1728216" y="5686841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A4D0847-B7E4-7681-B29F-4056C5EA6C9F}"/>
              </a:ext>
            </a:extLst>
          </p:cNvPr>
          <p:cNvSpPr txBox="1"/>
          <p:nvPr/>
        </p:nvSpPr>
        <p:spPr>
          <a:xfrm>
            <a:off x="3008376" y="5686841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DISCARD @ idle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CA8114B-B2ED-5767-4179-07418311B829}"/>
              </a:ext>
            </a:extLst>
          </p:cNvPr>
          <p:cNvSpPr txBox="1"/>
          <p:nvPr/>
        </p:nvSpPr>
        <p:spPr>
          <a:xfrm>
            <a:off x="8951976" y="5702230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empty ]</a:t>
            </a:r>
          </a:p>
        </p:txBody>
      </p:sp>
      <p:sp>
        <p:nvSpPr>
          <p:cNvPr id="74" name="Rounded Rectangle 69">
            <a:extLst>
              <a:ext uri="{FF2B5EF4-FFF2-40B4-BE49-F238E27FC236}">
                <a16:creationId xmlns:a16="http://schemas.microsoft.com/office/drawing/2014/main" id="{981A316D-8ACC-0EE2-9D57-3D6170382D5E}"/>
              </a:ext>
            </a:extLst>
          </p:cNvPr>
          <p:cNvSpPr/>
          <p:nvPr/>
        </p:nvSpPr>
        <p:spPr>
          <a:xfrm>
            <a:off x="566928" y="5998463"/>
            <a:ext cx="10835640" cy="315468"/>
          </a:xfrm>
          <a:prstGeom prst="roundRect">
            <a:avLst>
              <a:gd name="adj" fmla="val 10000"/>
            </a:avLst>
          </a:prstGeom>
          <a:solidFill>
            <a:srgbClr val="FBFCFD"/>
          </a:solidFill>
          <a:ln w="6350">
            <a:solidFill>
              <a:srgbClr val="E6E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2C6CCA9-3DD3-0B5E-CD8C-68EE7AEB32DC}"/>
              </a:ext>
            </a:extLst>
          </p:cNvPr>
          <p:cNvSpPr txBox="1"/>
          <p:nvPr/>
        </p:nvSpPr>
        <p:spPr>
          <a:xfrm>
            <a:off x="566928" y="6002309"/>
            <a:ext cx="1051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16–19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120ACA9-FBDF-9CE6-1E58-D34973B4B07B}"/>
              </a:ext>
            </a:extLst>
          </p:cNvPr>
          <p:cNvSpPr txBox="1"/>
          <p:nvPr/>
        </p:nvSpPr>
        <p:spPr>
          <a:xfrm>
            <a:off x="1728216" y="6002309"/>
            <a:ext cx="117043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—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C15821B-222B-A4C7-2482-002CB008328B}"/>
              </a:ext>
            </a:extLst>
          </p:cNvPr>
          <p:cNvSpPr txBox="1"/>
          <p:nvPr/>
        </p:nvSpPr>
        <p:spPr>
          <a:xfrm>
            <a:off x="3008376" y="6002309"/>
            <a:ext cx="583387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idle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FA5533-740C-8309-2189-F4C8A8B963DD}"/>
              </a:ext>
            </a:extLst>
          </p:cNvPr>
          <p:cNvSpPr txBox="1"/>
          <p:nvPr/>
        </p:nvSpPr>
        <p:spPr>
          <a:xfrm>
            <a:off x="8951976" y="6017698"/>
            <a:ext cx="2450591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empty ]</a:t>
            </a:r>
          </a:p>
        </p:txBody>
      </p:sp>
    </p:spTree>
    <p:extLst>
      <p:ext uri="{BB962C8B-B14F-4D97-AF65-F5344CB8AC3E}">
        <p14:creationId xmlns:p14="http://schemas.microsoft.com/office/powerpoint/2010/main" val="3237612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E54D8-B217-2998-C1BD-D72C3A5E3C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de-DE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EE98-AA6F-D0C0-0D42-79879FDB9F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>
                <a:latin typeface="Times New Roman" panose="02020603050405020304" pitchFamily="18" charset="0"/>
                <a:cs typeface="Times New Roman" panose="02020603050405020304" pitchFamily="18" charset="0"/>
              </a:rPr>
              <a:t>HSHL-Real Time System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BDB399-CDE3-8115-FD05-85AAF4EDC6FC}"/>
              </a:ext>
            </a:extLst>
          </p:cNvPr>
          <p:cNvSpPr txBox="1"/>
          <p:nvPr/>
        </p:nvSpPr>
        <p:spPr>
          <a:xfrm>
            <a:off x="502920" y="164592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BB8F9-278E-1798-F989-D195568B0748}"/>
              </a:ext>
            </a:extLst>
          </p:cNvPr>
          <p:cNvSpPr txBox="1"/>
          <p:nvPr/>
        </p:nvSpPr>
        <p:spPr>
          <a:xfrm>
            <a:off x="566928" y="945958"/>
            <a:ext cx="6594889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Theory Confirmed by the Simulator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F67C7FD1-8CA1-6AD1-61F6-07E5D9FFAF9B}"/>
              </a:ext>
            </a:extLst>
          </p:cNvPr>
          <p:cNvSpPr/>
          <p:nvPr/>
        </p:nvSpPr>
        <p:spPr>
          <a:xfrm>
            <a:off x="265475" y="1965960"/>
            <a:ext cx="3456432" cy="2743200"/>
          </a:xfrm>
          <a:prstGeom prst="roundRect">
            <a:avLst>
              <a:gd name="adj" fmla="val 5000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CBE6D6"/>
            </a:solidFill>
          </a:ln>
          <a:effectLst>
            <a:outerShdw blurRad="40000" dist="25000" dir="5400000" rotWithShape="0">
              <a:srgbClr val="9AA7B4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976A68-8C92-3EC7-A983-0A2991C774E6}"/>
              </a:ext>
            </a:extLst>
          </p:cNvPr>
          <p:cNvSpPr txBox="1"/>
          <p:nvPr/>
        </p:nvSpPr>
        <p:spPr>
          <a:xfrm>
            <a:off x="423972" y="2193318"/>
            <a:ext cx="335378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spc="200" dirty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APERIODIC RESPONSE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279123-DEB5-FF44-7D55-E9F8978B858A}"/>
              </a:ext>
            </a:extLst>
          </p:cNvPr>
          <p:cNvSpPr txBox="1"/>
          <p:nvPr/>
        </p:nvSpPr>
        <p:spPr>
          <a:xfrm>
            <a:off x="539795" y="2679191"/>
            <a:ext cx="294436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J₁</a:t>
            </a:r>
            <a:r>
              <a:rPr sz="3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4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8376E5-48A2-2012-FC61-D7AFE4D8A454}"/>
              </a:ext>
            </a:extLst>
          </p:cNvPr>
          <p:cNvSpPr txBox="1"/>
          <p:nvPr/>
        </p:nvSpPr>
        <p:spPr>
          <a:xfrm>
            <a:off x="539795" y="3447288"/>
            <a:ext cx="294436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J₂</a:t>
            </a:r>
            <a:r>
              <a:rPr sz="3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4000" b="1" i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C84E4-AD92-1031-A052-88170C40936B}"/>
              </a:ext>
            </a:extLst>
          </p:cNvPr>
          <p:cNvSpPr txBox="1"/>
          <p:nvPr/>
        </p:nvSpPr>
        <p:spPr>
          <a:xfrm>
            <a:off x="539795" y="4206240"/>
            <a:ext cx="29443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Both served immediately.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0C216101-8974-034C-069B-0A8D3FB96B4A}"/>
              </a:ext>
            </a:extLst>
          </p:cNvPr>
          <p:cNvSpPr/>
          <p:nvPr/>
        </p:nvSpPr>
        <p:spPr>
          <a:xfrm>
            <a:off x="4014515" y="1965960"/>
            <a:ext cx="3456432" cy="2743200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2700">
            <a:solidFill>
              <a:srgbClr val="DBE4EF"/>
            </a:solidFill>
          </a:ln>
          <a:effectLst>
            <a:outerShdw blurRad="40000" dist="25000" dir="5400000" rotWithShape="0">
              <a:srgbClr val="9AA7B4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BD3B9F-1484-5B0F-3D4D-E85D67B76576}"/>
              </a:ext>
            </a:extLst>
          </p:cNvPr>
          <p:cNvSpPr txBox="1"/>
          <p:nvPr/>
        </p:nvSpPr>
        <p:spPr>
          <a:xfrm>
            <a:off x="4270547" y="2203704"/>
            <a:ext cx="29443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spc="200" dirty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DEADLINE MISSES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00B197-601B-2DA5-E317-940246405FFE}"/>
              </a:ext>
            </a:extLst>
          </p:cNvPr>
          <p:cNvSpPr txBox="1"/>
          <p:nvPr/>
        </p:nvSpPr>
        <p:spPr>
          <a:xfrm>
            <a:off x="4270547" y="2679191"/>
            <a:ext cx="294436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τ₁</a:t>
            </a:r>
            <a:r>
              <a:rPr sz="3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4000" b="1" i="0">
                <a:solidFill>
                  <a:srgbClr val="2E5E8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D9343B-7D65-384F-5085-559F4CFF6225}"/>
              </a:ext>
            </a:extLst>
          </p:cNvPr>
          <p:cNvSpPr txBox="1"/>
          <p:nvPr/>
        </p:nvSpPr>
        <p:spPr>
          <a:xfrm>
            <a:off x="4270547" y="3447288"/>
            <a:ext cx="294436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τ₂</a:t>
            </a:r>
            <a:r>
              <a:rPr sz="3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4000" b="1" i="0">
                <a:solidFill>
                  <a:srgbClr val="C256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DA0863-F8FF-6EA4-7464-2A1C8F1AF628}"/>
              </a:ext>
            </a:extLst>
          </p:cNvPr>
          <p:cNvSpPr txBox="1"/>
          <p:nvPr/>
        </p:nvSpPr>
        <p:spPr>
          <a:xfrm>
            <a:off x="4270547" y="4206240"/>
            <a:ext cx="29443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 periodic deadline met.</a:t>
            </a:r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3B87D22C-EFBA-8574-E448-E3340600F849}"/>
              </a:ext>
            </a:extLst>
          </p:cNvPr>
          <p:cNvSpPr/>
          <p:nvPr/>
        </p:nvSpPr>
        <p:spPr>
          <a:xfrm>
            <a:off x="7745266" y="1965960"/>
            <a:ext cx="3456432" cy="274320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0D9A6"/>
            </a:solidFill>
          </a:ln>
          <a:effectLst>
            <a:outerShdw blurRad="40000" dist="25000" dir="5400000" rotWithShape="0">
              <a:srgbClr val="9AA7B4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7EEFB8-131E-E8F3-BDBE-F42EF13840AA}"/>
              </a:ext>
            </a:extLst>
          </p:cNvPr>
          <p:cNvSpPr txBox="1"/>
          <p:nvPr/>
        </p:nvSpPr>
        <p:spPr>
          <a:xfrm>
            <a:off x="8001298" y="2203704"/>
            <a:ext cx="29443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spc="20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BUDGET DISCARDED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76BEB6-9F53-ED84-425E-3114DF34FAF3}"/>
              </a:ext>
            </a:extLst>
          </p:cNvPr>
          <p:cNvSpPr txBox="1"/>
          <p:nvPr/>
        </p:nvSpPr>
        <p:spPr>
          <a:xfrm>
            <a:off x="8001298" y="2679191"/>
            <a:ext cx="294436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sz="3000" b="1" i="0" dirty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4000" b="1" i="0" dirty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6AC251-BA36-F68B-7265-E50FE816523D}"/>
              </a:ext>
            </a:extLst>
          </p:cNvPr>
          <p:cNvSpPr txBox="1"/>
          <p:nvPr/>
        </p:nvSpPr>
        <p:spPr>
          <a:xfrm>
            <a:off x="8001298" y="3447288"/>
            <a:ext cx="2944368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00" b="1" i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sz="3000" b="1" i="0">
                <a:solidFill>
                  <a:srgbClr val="6B7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sz="4000" b="1" i="0">
                <a:solidFill>
                  <a:srgbClr val="E8A3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AEF431-B6BD-2FC3-3E79-118AFC5CF4CF}"/>
              </a:ext>
            </a:extLst>
          </p:cNvPr>
          <p:cNvSpPr txBox="1"/>
          <p:nvPr/>
        </p:nvSpPr>
        <p:spPr>
          <a:xfrm>
            <a:off x="8001298" y="4206240"/>
            <a:ext cx="294436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Only at idle — no early waste.</a:t>
            </a:r>
          </a:p>
        </p:txBody>
      </p:sp>
      <p:sp>
        <p:nvSpPr>
          <p:cNvPr id="24" name="Rounded Rectangle 19">
            <a:extLst>
              <a:ext uri="{FF2B5EF4-FFF2-40B4-BE49-F238E27FC236}">
                <a16:creationId xmlns:a16="http://schemas.microsoft.com/office/drawing/2014/main" id="{E854B7B3-3E7D-EE91-E72D-159E29039F72}"/>
              </a:ext>
            </a:extLst>
          </p:cNvPr>
          <p:cNvSpPr/>
          <p:nvPr/>
        </p:nvSpPr>
        <p:spPr>
          <a:xfrm>
            <a:off x="1663913" y="5163134"/>
            <a:ext cx="8193614" cy="827974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F0D9A6"/>
            </a:solidFill>
          </a:ln>
          <a:effectLst>
            <a:outerShdw blurRad="40000" dist="25000" dir="5400000" rotWithShape="0">
              <a:srgbClr val="9AA7B4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752F6A-3BC1-7C1C-9ED8-6CAC7553726B}"/>
              </a:ext>
            </a:extLst>
          </p:cNvPr>
          <p:cNvSpPr txBox="1"/>
          <p:nvPr/>
        </p:nvSpPr>
        <p:spPr>
          <a:xfrm>
            <a:off x="2091911" y="5414649"/>
            <a:ext cx="7557074" cy="2759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 = 0.5  &lt;  0.582  (RM bound for n = 2)</a:t>
            </a:r>
            <a:r>
              <a:rPr b="0" i="0" dirty="0">
                <a:solidFill>
                  <a:srgbClr val="16263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→   the simulator shows </a:t>
            </a:r>
            <a:r>
              <a:rPr b="1" i="0" dirty="0">
                <a:solidFill>
                  <a:srgbClr val="3A9E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misses</a:t>
            </a:r>
            <a:endParaRPr b="0" i="0" dirty="0">
              <a:solidFill>
                <a:srgbClr val="16263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0218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76CB989-823F-583C-D8BE-686C10AD859F}"/>
              </a:ext>
            </a:extLst>
          </p:cNvPr>
          <p:cNvSpPr/>
          <p:nvPr/>
        </p:nvSpPr>
        <p:spPr>
          <a:xfrm>
            <a:off x="378823" y="1485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GUARANTEE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78C15D7-0004-A7A4-9E75-ABE4B773DB60}"/>
              </a:ext>
            </a:extLst>
          </p:cNvPr>
          <p:cNvSpPr/>
          <p:nvPr/>
        </p:nvSpPr>
        <p:spPr>
          <a:xfrm>
            <a:off x="518160" y="870204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Why It Works + </a:t>
            </a:r>
            <a:r>
              <a:rPr lang="de-D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Schedulability</a:t>
            </a:r>
            <a:r>
              <a:rPr lang="en-US" sz="2400" b="1" dirty="0">
                <a:solidFill>
                  <a:srgbClr val="16263D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 Bound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56A1D82-8722-D5C7-368F-9700175A94BB}"/>
              </a:ext>
            </a:extLst>
          </p:cNvPr>
          <p:cNvSpPr/>
          <p:nvPr/>
        </p:nvSpPr>
        <p:spPr>
          <a:xfrm>
            <a:off x="518160" y="1862328"/>
            <a:ext cx="605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their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deadlines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4FD3544-6F3A-8712-D10D-217B9F480353}"/>
              </a:ext>
            </a:extLst>
          </p:cNvPr>
          <p:cNvSpPr/>
          <p:nvPr/>
        </p:nvSpPr>
        <p:spPr>
          <a:xfrm>
            <a:off x="395150" y="3685844"/>
            <a:ext cx="3837210" cy="868680"/>
          </a:xfrm>
          <a:prstGeom prst="roundRect">
            <a:avLst>
              <a:gd name="adj" fmla="val 9474"/>
            </a:avLst>
          </a:prstGeom>
          <a:solidFill>
            <a:srgbClr val="EEF4FB"/>
          </a:solidFill>
          <a:ln w="12700">
            <a:solidFill>
              <a:srgbClr val="CFE0F2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0EF06715-F35A-0396-309E-F716A14D44A1}"/>
              </a:ext>
            </a:extLst>
          </p:cNvPr>
          <p:cNvSpPr/>
          <p:nvPr/>
        </p:nvSpPr>
        <p:spPr>
          <a:xfrm>
            <a:off x="570628" y="3733365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00" dirty="0">
                <a:solidFill>
                  <a:srgbClr val="6B7C8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RM guarantee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 1" descr="/home/claude/eq/bound.png">
            <a:extLst>
              <a:ext uri="{FF2B5EF4-FFF2-40B4-BE49-F238E27FC236}">
                <a16:creationId xmlns:a16="http://schemas.microsoft.com/office/drawing/2014/main" id="{265D1F8B-88F4-1C0C-D8A3-FEA576190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60" y="4066032"/>
            <a:ext cx="2598175" cy="420624"/>
          </a:xfrm>
          <a:prstGeom prst="rect">
            <a:avLst/>
          </a:prstGeom>
        </p:spPr>
      </p:pic>
      <p:sp>
        <p:nvSpPr>
          <p:cNvPr id="12" name="Shape 6">
            <a:extLst>
              <a:ext uri="{FF2B5EF4-FFF2-40B4-BE49-F238E27FC236}">
                <a16:creationId xmlns:a16="http://schemas.microsoft.com/office/drawing/2014/main" id="{DCFA33BF-C0C7-D1A9-7977-1D30B147D7DC}"/>
              </a:ext>
            </a:extLst>
          </p:cNvPr>
          <p:cNvSpPr/>
          <p:nvPr/>
        </p:nvSpPr>
        <p:spPr>
          <a:xfrm>
            <a:off x="395150" y="4805272"/>
            <a:ext cx="5353594" cy="1417320"/>
          </a:xfrm>
          <a:prstGeom prst="roundRect">
            <a:avLst>
              <a:gd name="adj" fmla="val 8182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BFE3CD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endParaRPr lang="de-DE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1ABD3517-D445-3C5C-921F-ED5BA3D6F4E2}"/>
              </a:ext>
            </a:extLst>
          </p:cNvPr>
          <p:cNvSpPr/>
          <p:nvPr/>
        </p:nvSpPr>
        <p:spPr>
          <a:xfrm>
            <a:off x="562536" y="4934712"/>
            <a:ext cx="3858446" cy="386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9E5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Applied to this example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5BD5FE3F-7AC1-0557-6719-891004754B34}"/>
              </a:ext>
            </a:extLst>
          </p:cNvPr>
          <p:cNvSpPr/>
          <p:nvPr/>
        </p:nvSpPr>
        <p:spPr>
          <a:xfrm>
            <a:off x="518160" y="5593076"/>
            <a:ext cx="5500139" cy="48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Up = 0.5 &lt; 0.582 → guaranteed (matches zero misses).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5ECC9A57-2999-D39B-6913-24F813FD493F}"/>
              </a:ext>
            </a:extLst>
          </p:cNvPr>
          <p:cNvSpPr/>
          <p:nvPr/>
        </p:nvSpPr>
        <p:spPr>
          <a:xfrm>
            <a:off x="7883441" y="1157696"/>
            <a:ext cx="3307079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8A3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TWO LIMITING CASES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8FEA5142-91B8-C2B1-A43C-261660D1F604}"/>
              </a:ext>
            </a:extLst>
          </p:cNvPr>
          <p:cNvSpPr/>
          <p:nvPr/>
        </p:nvSpPr>
        <p:spPr>
          <a:xfrm>
            <a:off x="7883441" y="1862328"/>
            <a:ext cx="2743200" cy="822960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en-US" b="1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 → 0  (server vanishes)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Image 4" descr="/home/claude/eq/ll.png">
            <a:extLst>
              <a:ext uri="{FF2B5EF4-FFF2-40B4-BE49-F238E27FC236}">
                <a16:creationId xmlns:a16="http://schemas.microsoft.com/office/drawing/2014/main" id="{ABDBBE3B-8F23-79B5-741F-C85EE56E5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3251" y="2273808"/>
            <a:ext cx="2101645" cy="274320"/>
          </a:xfrm>
          <a:prstGeom prst="rect">
            <a:avLst/>
          </a:prstGeom>
        </p:spPr>
      </p:pic>
      <p:sp>
        <p:nvSpPr>
          <p:cNvPr id="22" name="Shape 13">
            <a:extLst>
              <a:ext uri="{FF2B5EF4-FFF2-40B4-BE49-F238E27FC236}">
                <a16:creationId xmlns:a16="http://schemas.microsoft.com/office/drawing/2014/main" id="{1D069FF2-2472-FC75-40E3-55AFF628DA29}"/>
              </a:ext>
            </a:extLst>
          </p:cNvPr>
          <p:cNvSpPr/>
          <p:nvPr/>
        </p:nvSpPr>
        <p:spPr>
          <a:xfrm>
            <a:off x="7883441" y="2983557"/>
            <a:ext cx="2743200" cy="1005840"/>
          </a:xfrm>
          <a:prstGeom prst="roundRect">
            <a:avLst>
              <a:gd name="adj" fmla="val 6667"/>
            </a:avLst>
          </a:prstGeom>
          <a:solidFill>
            <a:srgbClr val="EEF3F8"/>
          </a:solidFill>
          <a:ln w="12700">
            <a:solidFill>
              <a:srgbClr val="DBE4EF"/>
            </a:solidFill>
            <a:prstDash val="solid"/>
          </a:ln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r>
              <a:rPr lang="en-US" b="1" dirty="0">
                <a:solidFill>
                  <a:srgbClr val="16263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 → ∞  (large task set)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 5" descr="/home/claude/eq/ninf.png">
            <a:extLst>
              <a:ext uri="{FF2B5EF4-FFF2-40B4-BE49-F238E27FC236}">
                <a16:creationId xmlns:a16="http://schemas.microsoft.com/office/drawing/2014/main" id="{E4CEA837-43AC-15B6-D6F1-7D2407C8BF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5963" y="3548684"/>
            <a:ext cx="2558156" cy="2743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681B91-9A82-9DE0-05B8-741162C33E73}"/>
              </a:ext>
            </a:extLst>
          </p:cNvPr>
          <p:cNvSpPr txBox="1"/>
          <p:nvPr/>
        </p:nvSpPr>
        <p:spPr>
          <a:xfrm>
            <a:off x="7883441" y="4397924"/>
            <a:ext cx="3902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Worst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behaves</a:t>
            </a:r>
            <a:r>
              <a:rPr lang="de-DE" dirty="0"/>
              <a:t> like an </a:t>
            </a:r>
            <a:r>
              <a:rPr lang="de-DE" dirty="0" err="1"/>
              <a:t>ordinary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FE2BD-8926-8A25-E4D3-29FD8072A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9B9583-7BDA-3434-F522-5C03A7098B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9194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F93B2-409C-DF97-A8AB-524C9444E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20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A3267-4FDC-8C65-6F07-86B22A3B1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43A09C-03F7-017E-257E-640E13F74319}"/>
              </a:ext>
            </a:extLst>
          </p:cNvPr>
          <p:cNvSpPr txBox="1"/>
          <p:nvPr/>
        </p:nvSpPr>
        <p:spPr>
          <a:xfrm>
            <a:off x="96355" y="900845"/>
            <a:ext cx="11377889" cy="5450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High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bookkeeping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overhead</a:t>
            </a:r>
            <a:b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scheduler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must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track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unused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every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-task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level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Overhead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grows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b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mean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more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levels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more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exchange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maintain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always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immediate</a:t>
            </a:r>
            <a:b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Parked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budget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have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moved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lower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so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higher-priority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delay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guarantee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jobs</a:t>
            </a:r>
            <a:b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improves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soft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but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guarantee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their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deadlines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Based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restrictive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assumptions</a:t>
            </a:r>
            <a:b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assumes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processor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preemptable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independent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negligible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scheduling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overhead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Less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attractive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modern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implementations</a:t>
            </a:r>
            <a:b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Sporadic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usually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provides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similar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-task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guarantee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simpler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runtime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management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5E7297-B903-1E29-6101-A7AB7DD5F50D}"/>
              </a:ext>
            </a:extLst>
          </p:cNvPr>
          <p:cNvSpPr txBox="1"/>
          <p:nvPr/>
        </p:nvSpPr>
        <p:spPr>
          <a:xfrm>
            <a:off x="293494" y="136972"/>
            <a:ext cx="60969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1801708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A791CF6C-F0D8-7F06-28C2-F71149F5E12F}"/>
              </a:ext>
            </a:extLst>
          </p:cNvPr>
          <p:cNvSpPr/>
          <p:nvPr/>
        </p:nvSpPr>
        <p:spPr>
          <a:xfrm>
            <a:off x="3263" y="948149"/>
            <a:ext cx="3749040" cy="621792"/>
          </a:xfrm>
          <a:prstGeom prst="rect">
            <a:avLst/>
          </a:prstGeom>
          <a:solidFill>
            <a:srgbClr val="132238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  Algorithm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89B4212-2087-A3D7-E06F-6FFB81603608}"/>
              </a:ext>
            </a:extLst>
          </p:cNvPr>
          <p:cNvSpPr/>
          <p:nvPr/>
        </p:nvSpPr>
        <p:spPr>
          <a:xfrm>
            <a:off x="3752303" y="948149"/>
            <a:ext cx="1920240" cy="621792"/>
          </a:xfrm>
          <a:prstGeom prst="rect">
            <a:avLst/>
          </a:prstGeom>
          <a:solidFill>
            <a:srgbClr val="132238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Priority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CC9E60D0-5FBE-0539-9ED6-BA24375B28FC}"/>
              </a:ext>
            </a:extLst>
          </p:cNvPr>
          <p:cNvSpPr/>
          <p:nvPr/>
        </p:nvSpPr>
        <p:spPr>
          <a:xfrm>
            <a:off x="5672543" y="948149"/>
            <a:ext cx="3246120" cy="621792"/>
          </a:xfrm>
          <a:prstGeom prst="rect">
            <a:avLst/>
          </a:prstGeom>
          <a:solidFill>
            <a:srgbClr val="132238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Periodic bound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3BDDA857-34FE-81AC-88C4-296E55730648}"/>
              </a:ext>
            </a:extLst>
          </p:cNvPr>
          <p:cNvSpPr/>
          <p:nvPr/>
        </p:nvSpPr>
        <p:spPr>
          <a:xfrm>
            <a:off x="8918663" y="948149"/>
            <a:ext cx="2468880" cy="621792"/>
          </a:xfrm>
          <a:prstGeom prst="rect">
            <a:avLst/>
          </a:prstGeom>
          <a:solidFill>
            <a:srgbClr val="132238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Aperiodic response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B95F2B9-5847-5429-A282-9EB308F47290}"/>
              </a:ext>
            </a:extLst>
          </p:cNvPr>
          <p:cNvSpPr/>
          <p:nvPr/>
        </p:nvSpPr>
        <p:spPr>
          <a:xfrm>
            <a:off x="3263" y="1569941"/>
            <a:ext cx="37490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 Background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AB1BF34-74AD-B664-B69D-65269D8FC334}"/>
              </a:ext>
            </a:extLst>
          </p:cNvPr>
          <p:cNvSpPr/>
          <p:nvPr/>
        </p:nvSpPr>
        <p:spPr>
          <a:xfrm>
            <a:off x="3752303" y="1569941"/>
            <a:ext cx="19202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any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21995F5C-44E6-57E3-C19D-1A197CEC1385}"/>
              </a:ext>
            </a:extLst>
          </p:cNvPr>
          <p:cNvSpPr/>
          <p:nvPr/>
        </p:nvSpPr>
        <p:spPr>
          <a:xfrm>
            <a:off x="5672543" y="1569941"/>
            <a:ext cx="324612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none reserved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4A95025A-B6C0-CB6E-A4BE-C73AB629BC22}"/>
              </a:ext>
            </a:extLst>
          </p:cNvPr>
          <p:cNvSpPr/>
          <p:nvPr/>
        </p:nvSpPr>
        <p:spPr>
          <a:xfrm>
            <a:off x="8918663" y="1569941"/>
            <a:ext cx="246888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very poor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58FF845C-B732-6AD5-DE95-7C2B917C3992}"/>
              </a:ext>
            </a:extLst>
          </p:cNvPr>
          <p:cNvSpPr/>
          <p:nvPr/>
        </p:nvSpPr>
        <p:spPr>
          <a:xfrm>
            <a:off x="3263" y="2136869"/>
            <a:ext cx="374904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 Polling Server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0DBE1EA-A9F9-F3A5-DB0E-C50EC01A3F52}"/>
              </a:ext>
            </a:extLst>
          </p:cNvPr>
          <p:cNvSpPr/>
          <p:nvPr/>
        </p:nvSpPr>
        <p:spPr>
          <a:xfrm>
            <a:off x="3752303" y="2136869"/>
            <a:ext cx="192024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RM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1B2C3BC-62E3-4F4F-897E-5ECB845F93A6}"/>
              </a:ext>
            </a:extLst>
          </p:cNvPr>
          <p:cNvSpPr/>
          <p:nvPr/>
        </p:nvSpPr>
        <p:spPr>
          <a:xfrm>
            <a:off x="5672543" y="2136869"/>
            <a:ext cx="324612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periodic-task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8578B30-E222-5D28-A1A6-45D76A216CAC}"/>
              </a:ext>
            </a:extLst>
          </p:cNvPr>
          <p:cNvSpPr/>
          <p:nvPr/>
        </p:nvSpPr>
        <p:spPr>
          <a:xfrm>
            <a:off x="8918663" y="2136869"/>
            <a:ext cx="246888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moderate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C9EAEF7C-EED3-D845-A0BD-3E3068FF5536}"/>
              </a:ext>
            </a:extLst>
          </p:cNvPr>
          <p:cNvSpPr/>
          <p:nvPr/>
        </p:nvSpPr>
        <p:spPr>
          <a:xfrm>
            <a:off x="3263" y="2703797"/>
            <a:ext cx="37490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Deferrable Server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DCA3C93F-FDC8-2E91-9EE9-A9A765A608F2}"/>
              </a:ext>
            </a:extLst>
          </p:cNvPr>
          <p:cNvSpPr/>
          <p:nvPr/>
        </p:nvSpPr>
        <p:spPr>
          <a:xfrm>
            <a:off x="3752303" y="2703797"/>
            <a:ext cx="19202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RM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6C1FFD58-95AA-36A8-76FE-C2778191D280}"/>
              </a:ext>
            </a:extLst>
          </p:cNvPr>
          <p:cNvSpPr/>
          <p:nvPr/>
        </p:nvSpPr>
        <p:spPr>
          <a:xfrm>
            <a:off x="5672543" y="2703797"/>
            <a:ext cx="324612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weaker than PE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B4C6F059-48A4-3AD4-9B34-6E24CD9E6538}"/>
              </a:ext>
            </a:extLst>
          </p:cNvPr>
          <p:cNvSpPr/>
          <p:nvPr/>
        </p:nvSpPr>
        <p:spPr>
          <a:xfrm>
            <a:off x="8918663" y="2703797"/>
            <a:ext cx="246888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good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B131D7C6-40BC-E719-EE8F-03BA16E13CB4}"/>
              </a:ext>
            </a:extLst>
          </p:cNvPr>
          <p:cNvSpPr/>
          <p:nvPr/>
        </p:nvSpPr>
        <p:spPr>
          <a:xfrm>
            <a:off x="3263" y="3270725"/>
            <a:ext cx="3749040" cy="566928"/>
          </a:xfrm>
          <a:prstGeom prst="rect">
            <a:avLst/>
          </a:prstGeom>
          <a:solidFill>
            <a:srgbClr val="FFF2D9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B97814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Priority Exchange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760D9238-4656-C996-7688-DD48BEA4C972}"/>
              </a:ext>
            </a:extLst>
          </p:cNvPr>
          <p:cNvSpPr/>
          <p:nvPr/>
        </p:nvSpPr>
        <p:spPr>
          <a:xfrm>
            <a:off x="3752303" y="3270725"/>
            <a:ext cx="1920240" cy="566928"/>
          </a:xfrm>
          <a:prstGeom prst="rect">
            <a:avLst/>
          </a:prstGeom>
          <a:solidFill>
            <a:srgbClr val="FFF2D9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RM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E03172AF-7978-E7B4-C47C-1E7D8A2D2F0B}"/>
              </a:ext>
            </a:extLst>
          </p:cNvPr>
          <p:cNvSpPr/>
          <p:nvPr/>
        </p:nvSpPr>
        <p:spPr>
          <a:xfrm>
            <a:off x="5672543" y="3270725"/>
            <a:ext cx="3246120" cy="566928"/>
          </a:xfrm>
          <a:prstGeom prst="rect">
            <a:avLst/>
          </a:prstGeom>
          <a:solidFill>
            <a:srgbClr val="FFF2D9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periodic-task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29D3E55-AEE4-2A75-9053-D5C45116CE3C}"/>
              </a:ext>
            </a:extLst>
          </p:cNvPr>
          <p:cNvSpPr/>
          <p:nvPr/>
        </p:nvSpPr>
        <p:spPr>
          <a:xfrm>
            <a:off x="8918663" y="3270725"/>
            <a:ext cx="2468880" cy="566928"/>
          </a:xfrm>
          <a:prstGeom prst="rect">
            <a:avLst/>
          </a:prstGeom>
          <a:solidFill>
            <a:srgbClr val="FFF2D9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good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E5A603A-F0B3-686A-165C-11F8DC7F222B}"/>
              </a:ext>
            </a:extLst>
          </p:cNvPr>
          <p:cNvSpPr/>
          <p:nvPr/>
        </p:nvSpPr>
        <p:spPr>
          <a:xfrm>
            <a:off x="3263" y="3837653"/>
            <a:ext cx="37490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Sporadic Server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F30A3C8E-E2E4-B24F-430F-B63D5B092929}"/>
              </a:ext>
            </a:extLst>
          </p:cNvPr>
          <p:cNvSpPr/>
          <p:nvPr/>
        </p:nvSpPr>
        <p:spPr>
          <a:xfrm>
            <a:off x="3752303" y="3837653"/>
            <a:ext cx="19202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RM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BBC67A9A-A96A-F216-1878-39F9AEAB1C49}"/>
              </a:ext>
            </a:extLst>
          </p:cNvPr>
          <p:cNvSpPr/>
          <p:nvPr/>
        </p:nvSpPr>
        <p:spPr>
          <a:xfrm>
            <a:off x="5672543" y="3837653"/>
            <a:ext cx="324612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periodic-task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473BB159-474A-AE1D-F58A-F7419B65A2F1}"/>
              </a:ext>
            </a:extLst>
          </p:cNvPr>
          <p:cNvSpPr/>
          <p:nvPr/>
        </p:nvSpPr>
        <p:spPr>
          <a:xfrm>
            <a:off x="8918663" y="3837653"/>
            <a:ext cx="246888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good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D949C73C-EDCD-14E0-F471-7423EB26EC2F}"/>
              </a:ext>
            </a:extLst>
          </p:cNvPr>
          <p:cNvSpPr/>
          <p:nvPr/>
        </p:nvSpPr>
        <p:spPr>
          <a:xfrm>
            <a:off x="3263" y="4404581"/>
            <a:ext cx="374904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Dynamic Prio. Exch.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68B522C4-66CE-BA0E-BC2A-6B177026764A}"/>
              </a:ext>
            </a:extLst>
          </p:cNvPr>
          <p:cNvSpPr/>
          <p:nvPr/>
        </p:nvSpPr>
        <p:spPr>
          <a:xfrm>
            <a:off x="3752303" y="4404581"/>
            <a:ext cx="192024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EDF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E49DF94F-D509-1D6A-FFB4-997E4BD40C3E}"/>
              </a:ext>
            </a:extLst>
          </p:cNvPr>
          <p:cNvSpPr/>
          <p:nvPr/>
        </p:nvSpPr>
        <p:spPr>
          <a:xfrm>
            <a:off x="5672543" y="4404581"/>
            <a:ext cx="324612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Up + Us ≤ 1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0C1C998E-2B66-8BBA-0402-8FD164EE9682}"/>
              </a:ext>
            </a:extLst>
          </p:cNvPr>
          <p:cNvSpPr/>
          <p:nvPr/>
        </p:nvSpPr>
        <p:spPr>
          <a:xfrm>
            <a:off x="8918663" y="4404581"/>
            <a:ext cx="246888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very good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37E096C4-2B08-B48B-7393-C25630DCA852}"/>
              </a:ext>
            </a:extLst>
          </p:cNvPr>
          <p:cNvSpPr/>
          <p:nvPr/>
        </p:nvSpPr>
        <p:spPr>
          <a:xfrm>
            <a:off x="3263" y="4971509"/>
            <a:ext cx="37490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Improved Prio. Exch.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D0DD734-4590-52AF-C024-DAA58A96F2F2}"/>
              </a:ext>
            </a:extLst>
          </p:cNvPr>
          <p:cNvSpPr/>
          <p:nvPr/>
        </p:nvSpPr>
        <p:spPr>
          <a:xfrm>
            <a:off x="3752303" y="4971509"/>
            <a:ext cx="192024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EDF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71A48A6-A4C7-8C42-77C5-39BDA308640A}"/>
              </a:ext>
            </a:extLst>
          </p:cNvPr>
          <p:cNvSpPr/>
          <p:nvPr/>
        </p:nvSpPr>
        <p:spPr>
          <a:xfrm>
            <a:off x="5672543" y="4971509"/>
            <a:ext cx="324612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Up ≤ 1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3A330AD3-17A7-2308-92DB-D169B4F84558}"/>
              </a:ext>
            </a:extLst>
          </p:cNvPr>
          <p:cNvSpPr/>
          <p:nvPr/>
        </p:nvSpPr>
        <p:spPr>
          <a:xfrm>
            <a:off x="8918663" y="4971509"/>
            <a:ext cx="2468880" cy="566928"/>
          </a:xfrm>
          <a:prstGeom prst="rect">
            <a:avLst/>
          </a:prstGeom>
          <a:solidFill>
            <a:srgbClr val="F3F6FA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near-optimal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F92BA568-A0E4-BD63-9E79-B221E1DACE3D}"/>
              </a:ext>
            </a:extLst>
          </p:cNvPr>
          <p:cNvSpPr/>
          <p:nvPr/>
        </p:nvSpPr>
        <p:spPr>
          <a:xfrm>
            <a:off x="3263" y="5538437"/>
            <a:ext cx="374904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2286" rIns="2286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   EDL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2340B49A-4256-7F26-20C7-7F0DAEA2FD70}"/>
              </a:ext>
            </a:extLst>
          </p:cNvPr>
          <p:cNvSpPr/>
          <p:nvPr/>
        </p:nvSpPr>
        <p:spPr>
          <a:xfrm>
            <a:off x="3752303" y="5538437"/>
            <a:ext cx="192024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EDF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239BBA6F-14D7-3E96-7835-B52622A589AD}"/>
              </a:ext>
            </a:extLst>
          </p:cNvPr>
          <p:cNvSpPr/>
          <p:nvPr/>
        </p:nvSpPr>
        <p:spPr>
          <a:xfrm>
            <a:off x="5672543" y="5538437"/>
            <a:ext cx="324612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Up ≤ 1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0BCA6EA1-3085-48F2-BE71-24ABC268C22F}"/>
              </a:ext>
            </a:extLst>
          </p:cNvPr>
          <p:cNvSpPr/>
          <p:nvPr/>
        </p:nvSpPr>
        <p:spPr>
          <a:xfrm>
            <a:off x="8918663" y="5538437"/>
            <a:ext cx="2468880" cy="566928"/>
          </a:xfrm>
          <a:prstGeom prst="rect">
            <a:avLst/>
          </a:prstGeom>
          <a:solidFill>
            <a:srgbClr val="FFFFFF"/>
          </a:solidFill>
          <a:ln w="13970">
            <a:solidFill>
              <a:srgbClr val="E3E9F0"/>
            </a:solidFill>
          </a:ln>
        </p:spPr>
        <p:txBody>
          <a:bodyPr wrap="square" lIns="889" tIns="1016" rIns="1016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7263D"/>
                </a:solidFill>
                <a:latin typeface="Times New Roman" panose="02020603050405020304" pitchFamily="18" charset="0"/>
                <a:ea typeface="Aptos" pitchFamily="34" charset="-122"/>
                <a:cs typeface="Times New Roman" panose="02020603050405020304" pitchFamily="18" charset="0"/>
              </a:rPr>
              <a:t>optimal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 1">
            <a:extLst>
              <a:ext uri="{FF2B5EF4-FFF2-40B4-BE49-F238E27FC236}">
                <a16:creationId xmlns:a16="http://schemas.microsoft.com/office/drawing/2014/main" id="{51D6B066-52EA-C011-4394-171DBD36EBFF}"/>
              </a:ext>
            </a:extLst>
          </p:cNvPr>
          <p:cNvSpPr/>
          <p:nvPr/>
        </p:nvSpPr>
        <p:spPr>
          <a:xfrm>
            <a:off x="214449" y="70325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Where PE Sits Among the Servers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D3E89AB-593B-4948-2FEB-A63828D689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9DDAA4-BA7C-4524-BF37-5AD4ED1680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78702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1">
            <a:extLst>
              <a:ext uri="{FF2B5EF4-FFF2-40B4-BE49-F238E27FC236}">
                <a16:creationId xmlns:a16="http://schemas.microsoft.com/office/drawing/2014/main" id="{934AB7E5-41DE-7840-1433-833807FD1F84}"/>
              </a:ext>
            </a:extLst>
          </p:cNvPr>
          <p:cNvSpPr/>
          <p:nvPr/>
        </p:nvSpPr>
        <p:spPr>
          <a:xfrm>
            <a:off x="536666" y="150053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3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01E37CA-D377-EC7E-0DD1-8EE90B8A9F45}"/>
              </a:ext>
            </a:extLst>
          </p:cNvPr>
          <p:cNvSpPr/>
          <p:nvPr/>
        </p:nvSpPr>
        <p:spPr>
          <a:xfrm>
            <a:off x="640080" y="914400"/>
            <a:ext cx="90754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Preserve budget by trading it, not holding it.</a:t>
            </a: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D0ED5FF-B47D-80A8-BB95-88B646B06FD0}"/>
              </a:ext>
            </a:extLst>
          </p:cNvPr>
          <p:cNvSpPr/>
          <p:nvPr/>
        </p:nvSpPr>
        <p:spPr>
          <a:xfrm>
            <a:off x="157734" y="2596072"/>
            <a:ext cx="3189732" cy="2636655"/>
          </a:xfrm>
          <a:prstGeom prst="roundRect">
            <a:avLst>
              <a:gd name="adj" fmla="val 4390"/>
            </a:avLst>
          </a:prstGeom>
          <a:solidFill>
            <a:schemeClr val="bg1">
              <a:lumMod val="95000"/>
            </a:schemeClr>
          </a:solidFill>
          <a:ln/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guarantee</a:t>
            </a:r>
            <a:endParaRPr lang="de-DE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b="1" dirty="0">
              <a:latin typeface="Times New Roman" panose="02020603050405020304" pitchFamily="18" charset="0"/>
              <a:ea typeface="Cambria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schedulability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bound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task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guarantee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Deferrable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</a:t>
            </a:r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4C6948C8-9E9E-8CFF-F3B6-B7BF23053413}"/>
              </a:ext>
            </a:extLst>
          </p:cNvPr>
          <p:cNvSpPr/>
          <p:nvPr/>
        </p:nvSpPr>
        <p:spPr>
          <a:xfrm>
            <a:off x="1336765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84A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Reference: G. C. Buttazzo, Hard Real-Time Computing Systems, 3rd ed., Springer, 2011.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D431D2E5-A91A-5CE0-C899-DBA9CED40C45}"/>
              </a:ext>
            </a:extLst>
          </p:cNvPr>
          <p:cNvSpPr/>
          <p:nvPr/>
        </p:nvSpPr>
        <p:spPr>
          <a:xfrm>
            <a:off x="3673819" y="2596073"/>
            <a:ext cx="3189732" cy="2636654"/>
          </a:xfrm>
          <a:prstGeom prst="roundRect">
            <a:avLst>
              <a:gd name="adj" fmla="val 4390"/>
            </a:avLst>
          </a:prstGeom>
          <a:solidFill>
            <a:schemeClr val="bg1">
              <a:lumMod val="95000"/>
            </a:schemeClr>
          </a:solidFill>
          <a:ln/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early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waste</a:t>
            </a:r>
            <a:endParaRPr lang="de-DE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b="1" dirty="0">
              <a:latin typeface="Times New Roman" panose="02020603050405020304" pitchFamily="18" charset="0"/>
              <a:ea typeface="Cambria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moves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lower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priorities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Discarded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when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CPU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idle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9E8AA301-480B-3EE9-6D24-D9172275CD02}"/>
              </a:ext>
            </a:extLst>
          </p:cNvPr>
          <p:cNvSpPr/>
          <p:nvPr/>
        </p:nvSpPr>
        <p:spPr>
          <a:xfrm>
            <a:off x="7249670" y="2596073"/>
            <a:ext cx="3189732" cy="2636654"/>
          </a:xfrm>
          <a:prstGeom prst="roundRect">
            <a:avLst>
              <a:gd name="adj" fmla="val 4390"/>
            </a:avLst>
          </a:prstGeom>
          <a:solidFill>
            <a:schemeClr val="bg1">
              <a:lumMod val="95000"/>
            </a:schemeClr>
          </a:solidFill>
          <a:ln/>
          <a:effectLst>
            <a:outerShdw blurRad="88900" dist="38100" dir="5400000" algn="bl" rotWithShape="0">
              <a:srgbClr val="16263D">
                <a:alpha val="11000"/>
              </a:srgbClr>
            </a:outerShdw>
          </a:effectLst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Extends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de-D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EDF</a:t>
            </a:r>
          </a:p>
          <a:p>
            <a:pPr>
              <a:lnSpc>
                <a:spcPct val="150000"/>
              </a:lnSpc>
            </a:pPr>
            <a:endParaRPr lang="en-US" b="1" dirty="0">
              <a:latin typeface="Times New Roman" panose="02020603050405020304" pitchFamily="18" charset="0"/>
              <a:ea typeface="Cambria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Leads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DPE and IPE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very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good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aperiodic</a:t>
            </a:r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E09772-3554-BE22-F1C6-7F545B6472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35DE49-BA4F-9F4A-3C1A-A3E7354C3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725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9ADBA1-4D3C-779E-10B6-A1C3AF8CA215}"/>
              </a:ext>
            </a:extLst>
          </p:cNvPr>
          <p:cNvSpPr txBox="1"/>
          <p:nvPr/>
        </p:nvSpPr>
        <p:spPr>
          <a:xfrm>
            <a:off x="2993570" y="2400300"/>
            <a:ext cx="57803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de-DE" sz="8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ACC082B-0898-F9AE-7D2B-88B10793A4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HSHL-Real Time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4C71B-BD36-EA09-E64B-481D846E0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27882D2-76ED-40F5-9AA8-D6B4E564DC54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8798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ki-ProjektMeeting.potx" id="{E3380594-1F68-41BF-B00D-D278C55573EE}" vid="{1F2C3E56-6124-438B-95EF-9390E48F94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</Template>
  <TotalTime>0</TotalTime>
  <Words>2365</Words>
  <Application>Microsoft Office PowerPoint</Application>
  <PresentationFormat>Widescreen</PresentationFormat>
  <Paragraphs>332</Paragraphs>
  <Slides>23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Arial</vt:lpstr>
      <vt:lpstr>Calibri</vt:lpstr>
      <vt:lpstr>Cambria Math</vt:lpstr>
      <vt:lpstr>Courier New</vt:lpstr>
      <vt:lpstr>Source Sans Pro</vt:lpstr>
      <vt:lpstr>Times New Roman</vt:lpstr>
      <vt:lpstr>Office-Design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Scalora, Giuseppe</dc:creator>
  <cp:lastModifiedBy>Jubair Salehin</cp:lastModifiedBy>
  <cp:revision>23</cp:revision>
  <dcterms:created xsi:type="dcterms:W3CDTF">2025-03-17T09:02:15Z</dcterms:created>
  <dcterms:modified xsi:type="dcterms:W3CDTF">2026-06-21T21:33:34Z</dcterms:modified>
</cp:coreProperties>
</file>