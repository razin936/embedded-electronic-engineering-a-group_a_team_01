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70" r:id="rId5"/>
    <p:sldId id="261" r:id="rId6"/>
    <p:sldId id="268" r:id="rId7"/>
    <p:sldId id="259" r:id="rId8"/>
    <p:sldId id="262" r:id="rId9"/>
    <p:sldId id="263" r:id="rId10"/>
    <p:sldId id="271" r:id="rId11"/>
    <p:sldId id="266" r:id="rId12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8" d="100"/>
          <a:sy n="78" d="100"/>
        </p:scale>
        <p:origin x="1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1437-38C9-49D7-BF1F-52D025A8A10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ED7CA-C018-4451-99B4-CCA7BAE9E5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65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0B50B0B5-0DED-413B-AF51-FB9D71FBF7AA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D0FCEC1-B8BD-4A20-812F-E27B8A44C79E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7AB-6EBB-49E0-B8DC-8932D7E839B3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F766-B5E8-4624-BA81-CF0894EE3908}" type="datetime1">
              <a:rPr lang="de-DE" smtClean="0"/>
              <a:t>12.06.2026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8ADB-9074-4C24-9C2B-44108BC80599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7A25E-89BD-4D43-B24A-3BE77234CF82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4457C-AB71-4356-A6F0-C0B60ADDCC6A}" type="datetime1">
              <a:rPr lang="de-DE" smtClean="0"/>
              <a:t>12.06.2026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7BD945E9-714F-42D0-B5F7-7874AB569EFF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1477B-FD96-211F-BE39-BA7B2055194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892903C-AC60-4DFD-AE17-05EC9D986A29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6C54-9015-8E35-C669-A590AF8CF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24F6C-577F-FE9A-ACDE-17D2EAB718D4}"/>
              </a:ext>
            </a:extLst>
          </p:cNvPr>
          <p:cNvSpPr txBox="1"/>
          <p:nvPr/>
        </p:nvSpPr>
        <p:spPr>
          <a:xfrm>
            <a:off x="127590" y="627322"/>
            <a:ext cx="111003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Deferrable Server for Aperiodic Task Handling in Fixed-Priority Real-Time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AFD46-6666-BCA0-B466-DE62C98FE928}"/>
              </a:ext>
            </a:extLst>
          </p:cNvPr>
          <p:cNvSpPr txBox="1"/>
          <p:nvPr/>
        </p:nvSpPr>
        <p:spPr>
          <a:xfrm>
            <a:off x="7972840" y="3687901"/>
            <a:ext cx="46357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Presenter:</a:t>
            </a:r>
            <a:br>
              <a:rPr lang="en-US" sz="4000" dirty="0"/>
            </a:br>
            <a:r>
              <a:rPr lang="en-US" sz="4000" dirty="0"/>
              <a:t>MD Rafiul Islam</a:t>
            </a:r>
          </a:p>
          <a:p>
            <a:r>
              <a:rPr lang="en-US" sz="4000" b="1" dirty="0"/>
              <a:t>Student ID:</a:t>
            </a:r>
            <a:br>
              <a:rPr lang="en-US" sz="4000" dirty="0"/>
            </a:br>
            <a:r>
              <a:rPr lang="en-US" sz="4000" dirty="0"/>
              <a:t>1232714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9801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03D52C-407E-4B83-A01D-1A867750C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2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1854A7-7918-C531-477B-39E1203A3EAE}"/>
              </a:ext>
            </a:extLst>
          </p:cNvPr>
          <p:cNvSpPr txBox="1"/>
          <p:nvPr/>
        </p:nvSpPr>
        <p:spPr>
          <a:xfrm>
            <a:off x="152400" y="71120"/>
            <a:ext cx="5074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What Is a Real-Time System?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D95DF-A6E5-AF55-0CD3-9ABB14697627}"/>
              </a:ext>
            </a:extLst>
          </p:cNvPr>
          <p:cNvSpPr txBox="1"/>
          <p:nvPr/>
        </p:nvSpPr>
        <p:spPr>
          <a:xfrm>
            <a:off x="152400" y="792480"/>
            <a:ext cx="5145448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Type of computer system where: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output must be correct.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output must be produced at the correct time.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F22E79-F394-CCA1-E3A2-B5376C588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307" y="732628"/>
            <a:ext cx="4754880" cy="26746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CD66DD-009B-6641-596A-3F5D4D1D3A70}"/>
              </a:ext>
            </a:extLst>
          </p:cNvPr>
          <p:cNvSpPr txBox="1"/>
          <p:nvPr/>
        </p:nvSpPr>
        <p:spPr>
          <a:xfrm>
            <a:off x="245202" y="3204320"/>
            <a:ext cx="8753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Task:</a:t>
            </a:r>
            <a:br>
              <a:rPr lang="en-US" dirty="0"/>
            </a:br>
            <a:r>
              <a:rPr lang="en-US" dirty="0"/>
              <a:t>A task is a unit of CPU work that must be scheduled and executed within timing constraints.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17DFCC-39D5-9B37-8A84-74029B2C4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872" y="3807270"/>
            <a:ext cx="4361275" cy="2453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02E5C5-38E6-3E87-765F-D861818D2D44}"/>
              </a:ext>
            </a:extLst>
          </p:cNvPr>
          <p:cNvSpPr txBox="1"/>
          <p:nvPr/>
        </p:nvSpPr>
        <p:spPr>
          <a:xfrm>
            <a:off x="6533307" y="3191761"/>
            <a:ext cx="31935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Author-created diagram based on </a:t>
            </a:r>
            <a:r>
              <a:rPr lang="en-US" sz="1050" dirty="0" err="1"/>
              <a:t>Buttazzo</a:t>
            </a:r>
            <a:r>
              <a:rPr lang="en-US" sz="1050" dirty="0"/>
              <a:t> [1].</a:t>
            </a:r>
          </a:p>
          <a:p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441336-0CCC-C588-0F71-C35EE783CEDB}"/>
              </a:ext>
            </a:extLst>
          </p:cNvPr>
          <p:cNvSpPr txBox="1"/>
          <p:nvPr/>
        </p:nvSpPr>
        <p:spPr>
          <a:xfrm>
            <a:off x="3177872" y="6065520"/>
            <a:ext cx="31935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Author-created diagram based on </a:t>
            </a:r>
            <a:r>
              <a:rPr lang="en-US" sz="1050" dirty="0" err="1"/>
              <a:t>Buttazzo</a:t>
            </a:r>
            <a:r>
              <a:rPr lang="en-US" sz="1050" dirty="0"/>
              <a:t> [1].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1679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47571-EE78-DFB0-2090-BB323CA6B8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551E0A-009E-4FF4-8C20-9BFFE1E6505D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F28D-7631-6660-BEF3-75A3C9DC4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3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70D37-EAF0-783A-34B8-86772C8BB579}"/>
              </a:ext>
            </a:extLst>
          </p:cNvPr>
          <p:cNvSpPr txBox="1"/>
          <p:nvPr/>
        </p:nvSpPr>
        <p:spPr>
          <a:xfrm>
            <a:off x="435429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Origin of Server Concept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2E3B7-FA6F-A0DB-7512-A9CBB887686D}"/>
              </a:ext>
            </a:extLst>
          </p:cNvPr>
          <p:cNvSpPr txBox="1"/>
          <p:nvPr/>
        </p:nvSpPr>
        <p:spPr>
          <a:xfrm>
            <a:off x="172720" y="822960"/>
            <a:ext cx="257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CPU scheduling problem: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0C93A-5C44-03FC-22F6-99863CCD2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69" y="646331"/>
            <a:ext cx="4603931" cy="25897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96D11E-5312-CD7A-89BC-9FEB04961BC1}"/>
                  </a:ext>
                </a:extLst>
              </p:cNvPr>
              <p:cNvSpPr txBox="1"/>
              <p:nvPr/>
            </p:nvSpPr>
            <p:spPr>
              <a:xfrm>
                <a:off x="69917" y="1434124"/>
                <a:ext cx="6461512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Server concept: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server is a scheduled entity responsible for handling aperiodic</a:t>
                </a:r>
              </a:p>
              <a:p>
                <a:r>
                  <a:rPr lang="en-US" dirty="0"/>
                  <a:t> jobs.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It gives aperiodic jobs limited CPU time. </a:t>
                </a:r>
              </a:p>
              <a:p>
                <a:endParaRPr lang="en-US" dirty="0"/>
              </a:p>
              <a:p>
                <a:r>
                  <a:rPr lang="en-US" b="1" dirty="0"/>
                  <a:t>Main parameters: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Capacity/Budget: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𝐶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Period: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Utilization: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𝑈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𝐶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  <m:r>
                      <a:rPr lang="en-US"/>
                      <m:t>/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96D11E-5312-CD7A-89BC-9FEB0496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7" y="1434124"/>
                <a:ext cx="6461512" cy="2862322"/>
              </a:xfrm>
              <a:prstGeom prst="rect">
                <a:avLst/>
              </a:prstGeom>
              <a:blipFill>
                <a:blip r:embed="rId3"/>
                <a:stretch>
                  <a:fillRect l="-755" t="-1064" r="-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A2AA9E1-FB33-589F-42B3-12A6CE38CF51}"/>
              </a:ext>
            </a:extLst>
          </p:cNvPr>
          <p:cNvSpPr txBox="1"/>
          <p:nvPr/>
        </p:nvSpPr>
        <p:spPr>
          <a:xfrm>
            <a:off x="121117" y="4296446"/>
            <a:ext cx="21725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Types of servers: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Polling Server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Deferrable Server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Priority Exchange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Sporadic Server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Slack Stealing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ECBD93-7492-509B-4763-42883BCB2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69" y="3279060"/>
            <a:ext cx="5419931" cy="30487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850DAF-FAFA-715A-A923-B29388F973CF}"/>
              </a:ext>
            </a:extLst>
          </p:cNvPr>
          <p:cNvSpPr txBox="1"/>
          <p:nvPr/>
        </p:nvSpPr>
        <p:spPr>
          <a:xfrm>
            <a:off x="6727821" y="3002061"/>
            <a:ext cx="3332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Author-created diagram based on </a:t>
            </a:r>
            <a:r>
              <a:rPr lang="en-US" sz="1100" dirty="0" err="1"/>
              <a:t>Buttazzo</a:t>
            </a:r>
            <a:r>
              <a:rPr lang="en-US" sz="1100" dirty="0"/>
              <a:t> [1].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2DA344-59A9-F831-5850-82FAACEF2478}"/>
              </a:ext>
            </a:extLst>
          </p:cNvPr>
          <p:cNvSpPr txBox="1"/>
          <p:nvPr/>
        </p:nvSpPr>
        <p:spPr>
          <a:xfrm>
            <a:off x="6867282" y="6121800"/>
            <a:ext cx="31935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Author-created diagram based on </a:t>
            </a:r>
            <a:r>
              <a:rPr lang="en-US" sz="1050" dirty="0" err="1"/>
              <a:t>Buttazzo</a:t>
            </a:r>
            <a:r>
              <a:rPr lang="en-US" sz="1050" dirty="0"/>
              <a:t> [1].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3486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80734-E39A-CED2-15F7-24C033929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4</a:t>
            </a:fld>
            <a:endParaRPr lang="de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74D721-C900-3469-16CA-59DF28CAEB9B}"/>
              </a:ext>
            </a:extLst>
          </p:cNvPr>
          <p:cNvSpPr txBox="1"/>
          <p:nvPr/>
        </p:nvSpPr>
        <p:spPr>
          <a:xfrm>
            <a:off x="435429" y="0"/>
            <a:ext cx="743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Deferrable Server</a:t>
            </a:r>
            <a:endParaRPr lang="de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4D557D-4C4E-E74D-7B64-E08411833EC3}"/>
              </a:ext>
            </a:extLst>
          </p:cNvPr>
          <p:cNvSpPr txBox="1"/>
          <p:nvPr/>
        </p:nvSpPr>
        <p:spPr>
          <a:xfrm>
            <a:off x="142240" y="762000"/>
            <a:ext cx="607198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Deferrable Server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fixed-priority server for handling aperiodic jobs.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Reserves CPU budget for aperiodic jobs.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Preserves unused budget until the end of the server period.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62FCC6-C363-2353-E75C-11329917DBF9}"/>
                  </a:ext>
                </a:extLst>
              </p:cNvPr>
              <p:cNvSpPr txBox="1"/>
              <p:nvPr/>
            </p:nvSpPr>
            <p:spPr>
              <a:xfrm>
                <a:off x="167706" y="2897982"/>
                <a:ext cx="398519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characteristics: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Fixed period: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Limited budget/capacity: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𝐶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Budget replenished every period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Unused budget is temporarily saved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Fast response for short aperiodic jobs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62FCC6-C363-2353-E75C-11329917D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06" y="2897982"/>
                <a:ext cx="3985194" cy="2031325"/>
              </a:xfrm>
              <a:prstGeom prst="rect">
                <a:avLst/>
              </a:prstGeom>
              <a:blipFill>
                <a:blip r:embed="rId2"/>
                <a:stretch>
                  <a:fillRect l="-1378" t="-1497" r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36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14F1FC-C77A-A823-9A72-78FD9D0DF242}"/>
              </a:ext>
            </a:extLst>
          </p:cNvPr>
          <p:cNvSpPr txBox="1"/>
          <p:nvPr/>
        </p:nvSpPr>
        <p:spPr>
          <a:xfrm>
            <a:off x="150949" y="81280"/>
            <a:ext cx="7434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UPPAAL Model Task Overview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6770D-8016-0520-F854-C37CE61F90E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ADD2F43-9CDB-47B7-B5FD-CB136DFB9E2D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5B00B5-7D1C-B2E0-8F8B-76777DB61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5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0B6BD2-220C-B5B0-F022-CDB3B10C67B1}"/>
                  </a:ext>
                </a:extLst>
              </p:cNvPr>
              <p:cNvSpPr txBox="1"/>
              <p:nvPr/>
            </p:nvSpPr>
            <p:spPr>
              <a:xfrm>
                <a:off x="142342" y="611491"/>
                <a:ext cx="393986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Parameter setup: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Server period: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  <m:r>
                      <a:rPr lang="en-US"/>
                      <m:t>=10</m:t>
                    </m:r>
                  </m:oMath>
                </a14:m>
                <a:r>
                  <a:rPr lang="en-US" dirty="0" err="1"/>
                  <a:t>ms</a:t>
                </a:r>
                <a:r>
                  <a:rPr lang="en-US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Server capacity/budget: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𝐶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  <m:r>
                      <a:rPr lang="en-US"/>
                      <m:t>=2</m:t>
                    </m:r>
                  </m:oMath>
                </a14:m>
                <a:r>
                  <a:rPr lang="en-US" dirty="0" err="1"/>
                  <a:t>ms</a:t>
                </a:r>
                <a:r>
                  <a:rPr lang="en-US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Aperiodic job arrival: </a:t>
                </a:r>
                <a14:m>
                  <m:oMath xmlns:m="http://schemas.openxmlformats.org/officeDocument/2006/math">
                    <m:r>
                      <a:rPr lang="en-US" i="1"/>
                      <m:t>𝐴𝑅𝑅</m:t>
                    </m:r>
                    <m:r>
                      <a:rPr lang="en-US"/>
                      <m:t>=6</m:t>
                    </m:r>
                  </m:oMath>
                </a14:m>
                <a:r>
                  <a:rPr lang="en-US" dirty="0" err="1"/>
                  <a:t>ms</a:t>
                </a:r>
                <a:r>
                  <a:rPr lang="en-US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Aperiodic execution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𝐶</m:t>
                        </m:r>
                      </m:e>
                      <m:sub>
                        <m:r>
                          <a:rPr lang="en-US" i="1"/>
                          <m:t>𝐴</m:t>
                        </m:r>
                      </m:sub>
                    </m:sSub>
                    <m:r>
                      <a:rPr lang="en-US"/>
                      <m:t>=2</m:t>
                    </m:r>
                  </m:oMath>
                </a14:m>
                <a:r>
                  <a:rPr lang="en-US" dirty="0" err="1"/>
                  <a:t>ms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0B6BD2-220C-B5B0-F022-CDB3B10C6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42" y="611491"/>
                <a:ext cx="3939861" cy="1754326"/>
              </a:xfrm>
              <a:prstGeom prst="rect">
                <a:avLst/>
              </a:prstGeom>
              <a:blipFill>
                <a:blip r:embed="rId2"/>
                <a:stretch>
                  <a:fillRect l="-1236" t="-1736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4830E7-30EE-578F-90D0-B95385C2286A}"/>
              </a:ext>
            </a:extLst>
          </p:cNvPr>
          <p:cNvSpPr txBox="1"/>
          <p:nvPr/>
        </p:nvSpPr>
        <p:spPr>
          <a:xfrm>
            <a:off x="142342" y="4358001"/>
            <a:ext cx="64786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UPPAAL task overview: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starts in </a:t>
            </a:r>
            <a:r>
              <a:rPr lang="en-US" b="1" dirty="0" err="1"/>
              <a:t>BudgetSaved</a:t>
            </a:r>
            <a:r>
              <a:rPr lang="en-US" dirty="0"/>
              <a:t> with full budget.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From 0–6 </a:t>
            </a:r>
            <a:r>
              <a:rPr lang="en-US" dirty="0" err="1"/>
              <a:t>ms</a:t>
            </a:r>
            <a:r>
              <a:rPr lang="en-US" dirty="0"/>
              <a:t>, no aperiodic job arrives, so DS preserves budget.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 6 </a:t>
            </a:r>
            <a:r>
              <a:rPr lang="en-US" dirty="0" err="1"/>
              <a:t>ms</a:t>
            </a:r>
            <a:r>
              <a:rPr lang="en-US" dirty="0"/>
              <a:t>, the aperiodic job arrives.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DS executes the job in </a:t>
            </a:r>
            <a:r>
              <a:rPr lang="en-US" b="1" dirty="0"/>
              <a:t>DS Run 1</a:t>
            </a:r>
            <a:r>
              <a:rPr lang="en-US" dirty="0"/>
              <a:t> and </a:t>
            </a:r>
            <a:r>
              <a:rPr lang="en-US" b="1" dirty="0"/>
              <a:t>DS Run 2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 10 </a:t>
            </a:r>
            <a:r>
              <a:rPr lang="en-US" dirty="0" err="1"/>
              <a:t>ms</a:t>
            </a:r>
            <a:r>
              <a:rPr lang="en-US" dirty="0"/>
              <a:t>, the server period finishes successfully in </a:t>
            </a:r>
            <a:r>
              <a:rPr lang="en-US" b="1" dirty="0"/>
              <a:t>Done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7EA2ED-7AFE-4CAF-FCD7-5E233EB50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655" y="2042675"/>
            <a:ext cx="7749345" cy="26384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611B4D-83C2-250C-9FE3-305605668C66}"/>
              </a:ext>
            </a:extLst>
          </p:cNvPr>
          <p:cNvSpPr txBox="1"/>
          <p:nvPr/>
        </p:nvSpPr>
        <p:spPr>
          <a:xfrm>
            <a:off x="8298273" y="4554185"/>
            <a:ext cx="29642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Author’s UPPAAL model/screenshot, 2026.</a:t>
            </a:r>
          </a:p>
        </p:txBody>
      </p:sp>
    </p:spTree>
    <p:extLst>
      <p:ext uri="{BB962C8B-B14F-4D97-AF65-F5344CB8AC3E}">
        <p14:creationId xmlns:p14="http://schemas.microsoft.com/office/powerpoint/2010/main" val="323695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307BC5-D0D0-83E5-2BB5-436CCD252CA8}"/>
              </a:ext>
            </a:extLst>
          </p:cNvPr>
          <p:cNvSpPr txBox="1"/>
          <p:nvPr/>
        </p:nvSpPr>
        <p:spPr>
          <a:xfrm>
            <a:off x="222794" y="1472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UPPAAL Verifier Results</a:t>
            </a:r>
            <a:endParaRPr lang="de-DE" sz="24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6CAFDA-2747-FDCA-9249-652D27FF14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2A0A9BA-93D2-40D6-ACA6-0408C1E054DB}" type="datetime1">
              <a:rPr lang="de-DE" smtClean="0"/>
              <a:t>12.06.2026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6C2FE-11D7-3517-EC6A-B69610865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B230D-B0C0-1689-26E8-1E4C38BE1A52}"/>
              </a:ext>
            </a:extLst>
          </p:cNvPr>
          <p:cNvSpPr txBox="1"/>
          <p:nvPr/>
        </p:nvSpPr>
        <p:spPr>
          <a:xfrm>
            <a:off x="222794" y="873218"/>
            <a:ext cx="102391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All queries are green</a:t>
            </a:r>
            <a:r>
              <a:rPr lang="en-US" sz="2200" dirty="0"/>
              <a:t>, so the selected properties are satisfied.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 dirty="0"/>
              <a:t>E&lt;&gt; </a:t>
            </a:r>
            <a:r>
              <a:rPr lang="en-US" sz="2200" b="1" dirty="0" err="1"/>
              <a:t>D.Done</a:t>
            </a:r>
            <a:r>
              <a:rPr lang="en-US" sz="2200" dirty="0"/>
              <a:t> means the model can successfully reach the final Done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 dirty="0"/>
              <a:t>E&lt;&gt; D.DS_Run_1</a:t>
            </a:r>
            <a:r>
              <a:rPr lang="en-US" sz="2200" dirty="0"/>
              <a:t> means the Deferrable Server starts executing the aperiodic job.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E&lt;&gt; (</a:t>
            </a:r>
            <a:r>
              <a:rPr lang="en-US" sz="2200" b="1" dirty="0" err="1"/>
              <a:t>D.BudgetSaved</a:t>
            </a:r>
            <a:r>
              <a:rPr lang="en-US" sz="2200" b="1" dirty="0"/>
              <a:t> &amp;&amp; t == ARR &amp;&amp; cap == CS)</a:t>
            </a:r>
            <a:r>
              <a:rPr lang="en-US" sz="2200" dirty="0"/>
              <a:t> confirms that the budget is still full when the job arrives.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A[] (...) safety query</a:t>
            </a:r>
            <a:r>
              <a:rPr lang="en-US" sz="2200" dirty="0"/>
              <a:t> confirms no Miss state, valid budget range, and no deadlock.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9F3A0-B08A-8C59-F807-0CADE28C9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93" y="3261161"/>
            <a:ext cx="11005116" cy="21718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F6377F-66FB-CFC0-D4DB-254036A83A09}"/>
              </a:ext>
            </a:extLst>
          </p:cNvPr>
          <p:cNvSpPr txBox="1"/>
          <p:nvPr/>
        </p:nvSpPr>
        <p:spPr>
          <a:xfrm>
            <a:off x="222794" y="5395188"/>
            <a:ext cx="29642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Author’s UPPAAL model/screenshot, 2026.</a:t>
            </a:r>
          </a:p>
        </p:txBody>
      </p:sp>
    </p:spTree>
    <p:extLst>
      <p:ext uri="{BB962C8B-B14F-4D97-AF65-F5344CB8AC3E}">
        <p14:creationId xmlns:p14="http://schemas.microsoft.com/office/powerpoint/2010/main" val="242702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EDC1AE-EFD5-2FD9-BCE9-08D982D77F6A}"/>
              </a:ext>
            </a:extLst>
          </p:cNvPr>
          <p:cNvSpPr txBox="1"/>
          <p:nvPr/>
        </p:nvSpPr>
        <p:spPr>
          <a:xfrm>
            <a:off x="148350" y="74428"/>
            <a:ext cx="69614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Advantages of Deferrable Server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BF5E1-22CB-7C73-AF86-C21F607CA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257" y="6475885"/>
            <a:ext cx="2844800" cy="111954"/>
          </a:xfrm>
        </p:spPr>
        <p:txBody>
          <a:bodyPr/>
          <a:lstStyle/>
          <a:p>
            <a:fld id="{C2ECB45B-AD9E-4890-94B7-0FAC3DA313DD}" type="datetime1">
              <a:rPr lang="de-DE" smtClean="0"/>
              <a:t>12.06.2026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0A71E-7593-E0F8-B8D6-AA8CD9487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7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4E059-AD04-3817-6E38-0C35EF64B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6" y="862594"/>
            <a:ext cx="9335386" cy="52511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FF38DC-206E-383D-09FC-23318AE0ACDF}"/>
              </a:ext>
            </a:extLst>
          </p:cNvPr>
          <p:cNvSpPr txBox="1"/>
          <p:nvPr/>
        </p:nvSpPr>
        <p:spPr>
          <a:xfrm>
            <a:off x="882502" y="6113749"/>
            <a:ext cx="4408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AI-assisted diagram generated with ChatGPT, edited by author, 2026.</a:t>
            </a:r>
          </a:p>
        </p:txBody>
      </p:sp>
    </p:spTree>
    <p:extLst>
      <p:ext uri="{BB962C8B-B14F-4D97-AF65-F5344CB8AC3E}">
        <p14:creationId xmlns:p14="http://schemas.microsoft.com/office/powerpoint/2010/main" val="72186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3A4AA-691E-518C-BCAE-DA3B50E488A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97A61D1-3A3E-41F4-A044-CF2A4FCF4327}" type="datetime1">
              <a:rPr lang="de-DE" smtClean="0"/>
              <a:t>12.06.2026</a:t>
            </a:fld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3FED2-B91E-AF2F-82CD-32DF83A5E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8</a:t>
            </a:fld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5DEAD-7829-C8C5-2FF9-88B751014C6F}"/>
              </a:ext>
            </a:extLst>
          </p:cNvPr>
          <p:cNvSpPr txBox="1"/>
          <p:nvPr/>
        </p:nvSpPr>
        <p:spPr>
          <a:xfrm>
            <a:off x="223284" y="0"/>
            <a:ext cx="4932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Limitations of Deferrable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C3A93-613D-1801-5C0D-797B75D027BF}"/>
              </a:ext>
            </a:extLst>
          </p:cNvPr>
          <p:cNvSpPr txBox="1"/>
          <p:nvPr/>
        </p:nvSpPr>
        <p:spPr>
          <a:xfrm>
            <a:off x="138223" y="754911"/>
            <a:ext cx="4633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Back-to-back execution problem.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E3567B-3A5F-AB71-6B49-86E0D8341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80" y="1252453"/>
            <a:ext cx="6319571" cy="2176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4C2B70-64EC-CF4B-F931-FAD2F7121843}"/>
              </a:ext>
            </a:extLst>
          </p:cNvPr>
          <p:cNvSpPr txBox="1"/>
          <p:nvPr/>
        </p:nvSpPr>
        <p:spPr>
          <a:xfrm>
            <a:off x="223284" y="3821075"/>
            <a:ext cx="52127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Higher interference on periodic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 good for long aperiodic jobs.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Budget can still be exhausted.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CB7594-A8D1-3E42-8FCC-29FB6812B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227" y="3638245"/>
            <a:ext cx="4487324" cy="25201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0344DD-2A71-74D2-F8EF-D4911C5B5306}"/>
              </a:ext>
            </a:extLst>
          </p:cNvPr>
          <p:cNvSpPr txBox="1"/>
          <p:nvPr/>
        </p:nvSpPr>
        <p:spPr>
          <a:xfrm>
            <a:off x="3777266" y="3378149"/>
            <a:ext cx="4408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AI-assisted diagram generated with ChatGPT, edited by author, 2026.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D186C5-11B2-13A4-6171-519C6375E3F0}"/>
              </a:ext>
            </a:extLst>
          </p:cNvPr>
          <p:cNvSpPr txBox="1"/>
          <p:nvPr/>
        </p:nvSpPr>
        <p:spPr>
          <a:xfrm>
            <a:off x="5435993" y="6113766"/>
            <a:ext cx="4408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AI-assisted diagram generated with ChatGPT, edited by author, 2026.</a:t>
            </a:r>
          </a:p>
        </p:txBody>
      </p:sp>
    </p:spTree>
    <p:extLst>
      <p:ext uri="{BB962C8B-B14F-4D97-AF65-F5344CB8AC3E}">
        <p14:creationId xmlns:p14="http://schemas.microsoft.com/office/powerpoint/2010/main" val="88106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4C725-5CC6-DCDB-2266-44DF05B3D96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9304F9-A362-4159-B51E-18EF84184BD2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EBAFE-4F80-01C0-EEDE-EC557FE9E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9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D709E-9E40-05CB-3395-81C50937A657}"/>
              </a:ext>
            </a:extLst>
          </p:cNvPr>
          <p:cNvSpPr txBox="1"/>
          <p:nvPr/>
        </p:nvSpPr>
        <p:spPr>
          <a:xfrm>
            <a:off x="148856" y="106326"/>
            <a:ext cx="6321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Probable Solutions Initiated from DS 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647BC-C5E8-FEC7-87AE-E1A4BC2DA9C7}"/>
              </a:ext>
            </a:extLst>
          </p:cNvPr>
          <p:cNvSpPr txBox="1"/>
          <p:nvPr/>
        </p:nvSpPr>
        <p:spPr>
          <a:xfrm>
            <a:off x="257945" y="776177"/>
            <a:ext cx="5273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Back-to-back execution problem → Sporadic Server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65595D-D23B-838A-F3FB-9F1293136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68" y="1102092"/>
            <a:ext cx="5619918" cy="22401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BA6093-93BC-1827-9CAF-B4F1DC07D674}"/>
              </a:ext>
            </a:extLst>
          </p:cNvPr>
          <p:cNvSpPr txBox="1"/>
          <p:nvPr/>
        </p:nvSpPr>
        <p:spPr>
          <a:xfrm>
            <a:off x="257945" y="3429000"/>
            <a:ext cx="652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interference on periodic tasks → Priority Exchange Server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727DEC-E6B9-4301-A7CA-A0CC37238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82" y="3963134"/>
            <a:ext cx="5619918" cy="23560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F2F6FE-7390-070D-6DB7-CE1FF2A571F1}"/>
              </a:ext>
            </a:extLst>
          </p:cNvPr>
          <p:cNvSpPr txBox="1"/>
          <p:nvPr/>
        </p:nvSpPr>
        <p:spPr>
          <a:xfrm>
            <a:off x="2796363" y="3253085"/>
            <a:ext cx="4408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AI-assisted diagram generated with ChatGPT, edited by author, 2026.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767FC8-E311-5515-F244-BE7AF043B4FE}"/>
              </a:ext>
            </a:extLst>
          </p:cNvPr>
          <p:cNvSpPr txBox="1"/>
          <p:nvPr/>
        </p:nvSpPr>
        <p:spPr>
          <a:xfrm>
            <a:off x="2911282" y="6238900"/>
            <a:ext cx="4408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Source: AI-assisted diagram generated with ChatGPT, edited by author, 2026.</a:t>
            </a:r>
          </a:p>
        </p:txBody>
      </p:sp>
    </p:spTree>
    <p:extLst>
      <p:ext uri="{BB962C8B-B14F-4D97-AF65-F5344CB8AC3E}">
        <p14:creationId xmlns:p14="http://schemas.microsoft.com/office/powerpoint/2010/main" val="3270842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BCA7-F04B-A032-BA54-C4BB58860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18" y="-481784"/>
            <a:ext cx="10027213" cy="147002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EC0E1-64C3-8C6D-1EC9-C9C277169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518" y="890700"/>
            <a:ext cx="11001933" cy="3139040"/>
          </a:xfrm>
        </p:spPr>
        <p:txBody>
          <a:bodyPr>
            <a:noAutofit/>
          </a:bodyPr>
          <a:lstStyle/>
          <a:p>
            <a:r>
              <a:rPr lang="en-US" sz="2000" dirty="0"/>
              <a:t>[1] G. C. </a:t>
            </a:r>
            <a:r>
              <a:rPr lang="en-US" sz="2000" dirty="0" err="1"/>
              <a:t>Buttazzo</a:t>
            </a:r>
            <a:r>
              <a:rPr lang="en-US" sz="2000" dirty="0"/>
              <a:t>, Hard Real-Time Computing Systems: Predictable Scheduling Algorithms and Applications, 3rd ed., Springer, 2011.</a:t>
            </a:r>
          </a:p>
          <a:p>
            <a:r>
              <a:rPr lang="en-US" sz="2000" dirty="0"/>
              <a:t>[2] C. L. Liu and J. W. Layland, “Scheduling Algorithms for Multiprogramming in a Hard-Real-Time Environment,” Journal of the ACM, vol. 20, no. 1, pp. 46–61, 1973.</a:t>
            </a:r>
          </a:p>
          <a:p>
            <a:r>
              <a:rPr lang="en-US" sz="2000" dirty="0"/>
              <a:t>[3] J. P. Lehoczky, L. Sha, and J. K. Strosnider, “Enhanced Aperiodic Responsiveness in Hard Real-Time Environments,” IEEE Real-Time Systems Symposium, 1987.</a:t>
            </a:r>
          </a:p>
          <a:p>
            <a:r>
              <a:rPr lang="en-US" sz="2000" dirty="0"/>
              <a:t>[4] B. Sprunt, L. Sha, and J. P. Lehoczky, “Aperiodic Task Scheduling for Hard-Real-Time Systems,” Real-Time Systems, vol. 1, no. 1, pp. 27–60, 1989.</a:t>
            </a:r>
          </a:p>
          <a:p>
            <a:r>
              <a:rPr lang="en-US" sz="2000" dirty="0"/>
              <a:t>[5] G. Behrmann, A. David, and K. G. Larsen, “A Tutorial on UPPAAL,” Formal Methods for the Design of Real-Time Systems, Springer, 2004.</a:t>
            </a:r>
          </a:p>
          <a:p>
            <a:r>
              <a:rPr lang="en-US" sz="2000" dirty="0"/>
              <a:t>[6] UPPAAL screenshots and verifier results: Author’s own UPPAAL model, 2026.</a:t>
            </a:r>
          </a:p>
          <a:p>
            <a:r>
              <a:rPr lang="en-US" sz="2000" dirty="0"/>
              <a:t>[7] Presentation diagrams: AI-assisted diagrams generated with ChatGPT and edited by the author, 2026.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12A0-F8C6-6AB0-51C8-E84F40A070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B50B0B5-0DED-413B-AF51-FB9D71FBF7AA}" type="datetime1">
              <a:rPr lang="de-DE" smtClean="0"/>
              <a:t>13.06.2026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F418E-3F8E-CE07-2697-99B836FB6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84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64BFA5-1C6C-2C72-648D-1FD5ABB54733}"/>
              </a:ext>
            </a:extLst>
          </p:cNvPr>
          <p:cNvSpPr txBox="1"/>
          <p:nvPr/>
        </p:nvSpPr>
        <p:spPr>
          <a:xfrm>
            <a:off x="3314700" y="2767280"/>
            <a:ext cx="4735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de-DE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6920E-ECB2-EFC5-8066-D37D0A4BB5B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62F6602-FE8D-45CA-B281-986EA88B42DB}" type="datetime1">
              <a:rPr lang="de-DE" smtClean="0"/>
              <a:t>12.06.2026</a:t>
            </a:fld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F968F9-9200-8D3E-F5F4-6372A48AC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55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640</TotalTime>
  <Words>810</Words>
  <Application>Microsoft Office PowerPoint</Application>
  <PresentationFormat>Widescreen</PresentationFormat>
  <Paragraphs>105</Paragraphs>
  <Slides>11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Source Sans Pro</vt:lpstr>
      <vt:lpstr>Times New Roman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Md. Nafis</cp:lastModifiedBy>
  <cp:revision>15</cp:revision>
  <dcterms:created xsi:type="dcterms:W3CDTF">2025-03-17T09:02:15Z</dcterms:created>
  <dcterms:modified xsi:type="dcterms:W3CDTF">2026-06-12T22:59:54Z</dcterms:modified>
</cp:coreProperties>
</file>