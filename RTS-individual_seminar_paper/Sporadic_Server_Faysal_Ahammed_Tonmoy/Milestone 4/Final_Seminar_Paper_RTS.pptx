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5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de-DE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74" d="100"/>
          <a:sy n="74" d="100"/>
        </p:scale>
        <p:origin x="30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ED6ED3-DD3C-4144-AD25-58C69A2B2073}" type="datetimeFigureOut">
              <a:rPr lang="de-DE" smtClean="0"/>
              <a:t>22.06.2026</a:t>
            </a:fld>
            <a:endParaRPr lang="de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08301D-04D6-4EE6-98E0-9E68B6443A4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709158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864002" y="1438813"/>
            <a:ext cx="10027213" cy="1470025"/>
          </a:xfrm>
        </p:spPr>
        <p:txBody>
          <a:bodyPr>
            <a:normAutofit/>
          </a:bodyPr>
          <a:lstStyle>
            <a:lvl1pPr algn="l">
              <a:defRPr sz="4000" b="1" i="0">
                <a:latin typeface="Source Sans Pro"/>
                <a:cs typeface="Source Sans Pro"/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864002" y="3176700"/>
            <a:ext cx="10027213" cy="2254848"/>
          </a:xfrm>
        </p:spPr>
        <p:txBody>
          <a:bodyPr/>
          <a:lstStyle>
            <a:lvl1pPr marL="0" indent="0" algn="l">
              <a:buNone/>
              <a:defRPr b="0" i="0">
                <a:solidFill>
                  <a:schemeClr val="tx1"/>
                </a:solidFill>
                <a:latin typeface="Source Sans Pro"/>
                <a:cs typeface="Source Sans Pro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de-DE" dirty="0"/>
          </a:p>
        </p:txBody>
      </p:sp>
      <p:sp>
        <p:nvSpPr>
          <p:cNvPr id="7" name="Datumsplatzhalter 3"/>
          <p:cNvSpPr>
            <a:spLocks noGrp="1"/>
          </p:cNvSpPr>
          <p:nvPr>
            <p:ph type="dt" sz="half" idx="2"/>
          </p:nvPr>
        </p:nvSpPr>
        <p:spPr>
          <a:xfrm>
            <a:off x="864000" y="6492816"/>
            <a:ext cx="2844800" cy="11195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00" b="0" i="0">
                <a:solidFill>
                  <a:schemeClr val="tx1"/>
                </a:solidFill>
                <a:latin typeface="Source Sans Pro"/>
                <a:cs typeface="Source Sans Pro"/>
              </a:defRPr>
            </a:lvl1pPr>
          </a:lstStyle>
          <a:p>
            <a:fld id="{50EA8E13-01C0-4951-ACD6-019AB719DF25}" type="datetime1">
              <a:rPr lang="de-DE" smtClean="0"/>
              <a:t>22.06.2026</a:t>
            </a:fld>
            <a:endParaRPr lang="de-DE"/>
          </a:p>
        </p:txBody>
      </p:sp>
      <p:sp>
        <p:nvSpPr>
          <p:cNvPr id="8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531200" y="6493481"/>
            <a:ext cx="2844800" cy="11129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 b="1" i="0">
                <a:solidFill>
                  <a:schemeClr val="tx1"/>
                </a:solidFill>
                <a:latin typeface="Source Sans Pro"/>
                <a:cs typeface="Source Sans Pro"/>
              </a:defRPr>
            </a:lvl1pPr>
          </a:lstStyle>
          <a:p>
            <a:fld id="{427882D2-76ED-40F5-9AA8-D6B4E564DC54}" type="slidenum">
              <a:rPr lang="de-DE" smtClean="0"/>
              <a:t>‹#›</a:t>
            </a:fld>
            <a:endParaRPr lang="de-DE"/>
          </a:p>
        </p:txBody>
      </p:sp>
      <p:sp>
        <p:nvSpPr>
          <p:cNvPr id="6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493481"/>
            <a:ext cx="4114800" cy="11129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lang="de-DE" sz="700" b="0" i="0">
                <a:latin typeface="Source Sans Pro"/>
                <a:cs typeface="Source Sans Pro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03319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umsplatzhalter 3"/>
          <p:cNvSpPr>
            <a:spLocks noGrp="1"/>
          </p:cNvSpPr>
          <p:nvPr>
            <p:ph type="dt" sz="half" idx="2"/>
          </p:nvPr>
        </p:nvSpPr>
        <p:spPr>
          <a:xfrm>
            <a:off x="864000" y="6492816"/>
            <a:ext cx="2844800" cy="11195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00" b="0" i="0">
                <a:solidFill>
                  <a:schemeClr val="tx1"/>
                </a:solidFill>
                <a:latin typeface="Source Sans Pro"/>
                <a:cs typeface="Source Sans Pro"/>
              </a:defRPr>
            </a:lvl1pPr>
          </a:lstStyle>
          <a:p>
            <a:fld id="{A40B9B96-6DFC-4CA7-B969-71E8BA79C61E}" type="datetime1">
              <a:rPr lang="de-DE" smtClean="0"/>
              <a:t>22.06.2026</a:t>
            </a:fld>
            <a:endParaRPr lang="de-DE"/>
          </a:p>
        </p:txBody>
      </p:sp>
      <p:sp>
        <p:nvSpPr>
          <p:cNvPr id="8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531200" y="6493481"/>
            <a:ext cx="2844800" cy="11129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 b="1" i="0">
                <a:solidFill>
                  <a:schemeClr val="tx1"/>
                </a:solidFill>
                <a:latin typeface="Source Sans Pro"/>
                <a:cs typeface="Source Sans Pro"/>
              </a:defRPr>
            </a:lvl1pPr>
          </a:lstStyle>
          <a:p>
            <a:fld id="{427882D2-76ED-40F5-9AA8-D6B4E564DC54}" type="slidenum">
              <a:rPr lang="de-DE" smtClean="0"/>
              <a:t>‹#›</a:t>
            </a:fld>
            <a:endParaRPr lang="de-DE"/>
          </a:p>
        </p:txBody>
      </p:sp>
      <p:sp>
        <p:nvSpPr>
          <p:cNvPr id="6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493481"/>
            <a:ext cx="4114800" cy="11129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lang="de-DE" sz="700" b="0" i="0">
                <a:latin typeface="Source Sans Pro"/>
                <a:cs typeface="Source Sans Pro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83199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BDC15-705D-4CA4-B072-AD23877E16C7}" type="datetime1">
              <a:rPr lang="de-DE" smtClean="0"/>
              <a:t>22.06.2026</a:t>
            </a:fld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882D2-76ED-40F5-9AA8-D6B4E564DC54}" type="slidenum">
              <a:rPr lang="de-DE" smtClean="0"/>
              <a:t>‹#›</a:t>
            </a:fld>
            <a:endParaRPr lang="de-DE"/>
          </a:p>
        </p:txBody>
      </p:sp>
      <p:sp>
        <p:nvSpPr>
          <p:cNvPr id="7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493481"/>
            <a:ext cx="4114800" cy="11129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lang="de-DE" sz="700" b="0" i="0">
                <a:latin typeface="Source Sans Pro"/>
                <a:cs typeface="Source Sans Pro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76070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64000" y="2020711"/>
            <a:ext cx="5130400" cy="410545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97600" y="2020711"/>
            <a:ext cx="4900309" cy="410545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6818C-6338-43CE-8385-FD292FB061D7}" type="datetime1">
              <a:rPr lang="de-DE" smtClean="0"/>
              <a:t>22.06.2026</a:t>
            </a:fld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882D2-76ED-40F5-9AA8-D6B4E564DC54}" type="slidenum">
              <a:rPr lang="de-DE" smtClean="0"/>
              <a:t>‹#›</a:t>
            </a:fld>
            <a:endParaRPr lang="de-DE"/>
          </a:p>
        </p:txBody>
      </p:sp>
      <p:sp>
        <p:nvSpPr>
          <p:cNvPr id="8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493481"/>
            <a:ext cx="4114800" cy="11129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lang="de-DE" sz="700" b="0" i="0">
                <a:latin typeface="Source Sans Pro"/>
                <a:cs typeface="Source Sans Pro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625174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4E727-4479-4454-969A-B9C1B394706E}" type="datetime1">
              <a:rPr lang="de-DE" smtClean="0"/>
              <a:t>22.06.2026</a:t>
            </a:fld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882D2-76ED-40F5-9AA8-D6B4E564DC54}" type="slidenum">
              <a:rPr lang="de-DE" smtClean="0"/>
              <a:t>‹#›</a:t>
            </a:fld>
            <a:endParaRPr lang="de-DE"/>
          </a:p>
        </p:txBody>
      </p:sp>
      <p:sp>
        <p:nvSpPr>
          <p:cNvPr id="6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493481"/>
            <a:ext cx="4114800" cy="11129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lang="de-DE" sz="700" b="0" i="0">
                <a:latin typeface="Source Sans Pro"/>
                <a:cs typeface="Source Sans Pro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99939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EB9B0-F54F-41B5-B515-6174EC39F78A}" type="datetime1">
              <a:rPr lang="de-DE" smtClean="0"/>
              <a:t>22.06.2026</a:t>
            </a:fld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882D2-76ED-40F5-9AA8-D6B4E564DC54}" type="slidenum">
              <a:rPr lang="de-DE" smtClean="0"/>
              <a:t>‹#›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493481"/>
            <a:ext cx="4114800" cy="11129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lang="de-DE" sz="700" b="0" i="0">
                <a:latin typeface="Source Sans Pro"/>
                <a:cs typeface="Source Sans Pro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762660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09601" y="699910"/>
            <a:ext cx="4011084" cy="73518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766734" y="699911"/>
            <a:ext cx="6499578" cy="542625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609601" y="1580444"/>
            <a:ext cx="4011084" cy="454572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756AA-4E82-4FB6-A9CD-4207015ADFBA}" type="datetime1">
              <a:rPr lang="de-DE" smtClean="0"/>
              <a:t>22.06.2026</a:t>
            </a:fld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882D2-76ED-40F5-9AA8-D6B4E564DC54}" type="slidenum">
              <a:rPr lang="de-DE" smtClean="0"/>
              <a:t>‹#›</a:t>
            </a:fld>
            <a:endParaRPr lang="de-DE"/>
          </a:p>
        </p:txBody>
      </p:sp>
      <p:sp>
        <p:nvSpPr>
          <p:cNvPr id="8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493481"/>
            <a:ext cx="4114800" cy="11129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lang="de-DE" sz="700" b="0" i="0">
                <a:latin typeface="Source Sans Pro"/>
                <a:cs typeface="Source Sans Pro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6701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gi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/>
          <p:cNvSpPr/>
          <p:nvPr/>
        </p:nvSpPr>
        <p:spPr>
          <a:xfrm>
            <a:off x="0" y="648000"/>
            <a:ext cx="11376000" cy="567000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/>
          </a:p>
        </p:txBody>
      </p:sp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64000" y="745650"/>
            <a:ext cx="10233909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64000" y="2021181"/>
            <a:ext cx="10233909" cy="4104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64000" y="6492816"/>
            <a:ext cx="2844800" cy="11195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>
              <a:defRPr lang="de-DE" sz="700" b="0" i="0" smtClean="0">
                <a:latin typeface="Source Sans Pro"/>
                <a:cs typeface="Source Sans Pro"/>
              </a:defRPr>
            </a:lvl1pPr>
          </a:lstStyle>
          <a:p>
            <a:fld id="{0BA8124F-D5F6-45E4-B210-42436319EFA5}" type="datetime1">
              <a:rPr lang="de-DE" smtClean="0"/>
              <a:t>22.06.2026</a:t>
            </a:fld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531200" y="6493481"/>
            <a:ext cx="2844800" cy="11129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 b="1" i="0">
                <a:solidFill>
                  <a:schemeClr val="tx1"/>
                </a:solidFill>
                <a:latin typeface="Source Sans Pro"/>
                <a:cs typeface="Source Sans Pro"/>
              </a:defRPr>
            </a:lvl1pPr>
          </a:lstStyle>
          <a:p>
            <a:fld id="{427882D2-76ED-40F5-9AA8-D6B4E564DC54}" type="slidenum">
              <a:rPr lang="de-DE" smtClean="0"/>
              <a:t>‹#›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493481"/>
            <a:ext cx="4114800" cy="11129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lang="de-DE" sz="700" b="0" i="0">
                <a:latin typeface="Source Sans Pro"/>
                <a:cs typeface="Source Sans Pro"/>
              </a:defRPr>
            </a:lvl1pPr>
          </a:lstStyle>
          <a:p>
            <a:endParaRPr lang="de-DE"/>
          </a:p>
        </p:txBody>
      </p:sp>
      <p:pic>
        <p:nvPicPr>
          <p:cNvPr id="9" name="Bild 6" descr="HSHL_Logo_horizontal_RGB_Sequenz_Animation.gif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2000" y="247172"/>
            <a:ext cx="1404000" cy="208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777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i="0" kern="1200">
          <a:solidFill>
            <a:schemeClr val="tx1"/>
          </a:solidFill>
          <a:latin typeface="Source Sans Pro"/>
          <a:ea typeface="+mj-ea"/>
          <a:cs typeface="Source Sans Pro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b="0" i="0" kern="1200">
          <a:solidFill>
            <a:schemeClr val="tx1"/>
          </a:solidFill>
          <a:latin typeface="Source Sans Pro"/>
          <a:ea typeface="+mn-ea"/>
          <a:cs typeface="Source Sans Pro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b="0" i="0" kern="1200">
          <a:solidFill>
            <a:schemeClr val="tx1"/>
          </a:solidFill>
          <a:latin typeface="Source Sans Pro"/>
          <a:ea typeface="+mn-ea"/>
          <a:cs typeface="Source Sans Pro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b="0" i="0" kern="1200">
          <a:solidFill>
            <a:schemeClr val="tx1"/>
          </a:solidFill>
          <a:latin typeface="Source Sans Pro"/>
          <a:ea typeface="+mn-ea"/>
          <a:cs typeface="Source Sans Pro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b="0" i="0" kern="1200">
          <a:solidFill>
            <a:schemeClr val="tx1"/>
          </a:solidFill>
          <a:latin typeface="Source Sans Pro"/>
          <a:ea typeface="+mn-ea"/>
          <a:cs typeface="Source Sans Pro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b="0" i="0" kern="1200">
          <a:solidFill>
            <a:schemeClr val="tx1"/>
          </a:solidFill>
          <a:latin typeface="Source Sans Pro"/>
          <a:ea typeface="+mn-ea"/>
          <a:cs typeface="Source Sans Pro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1">
            <a:extLst>
              <a:ext uri="{FF2B5EF4-FFF2-40B4-BE49-F238E27FC236}">
                <a16:creationId xmlns:a16="http://schemas.microsoft.com/office/drawing/2014/main" id="{772784B8-D0FD-0576-35EE-B3016F81B90C}"/>
              </a:ext>
            </a:extLst>
          </p:cNvPr>
          <p:cNvSpPr/>
          <p:nvPr/>
        </p:nvSpPr>
        <p:spPr>
          <a:xfrm>
            <a:off x="880882" y="1266746"/>
            <a:ext cx="4808743" cy="433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A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Sporadic Server</a:t>
            </a:r>
            <a:endParaRPr lang="en-US" sz="4000" dirty="0"/>
          </a:p>
        </p:txBody>
      </p:sp>
      <p:sp>
        <p:nvSpPr>
          <p:cNvPr id="14" name="Text 2">
            <a:extLst>
              <a:ext uri="{FF2B5EF4-FFF2-40B4-BE49-F238E27FC236}">
                <a16:creationId xmlns:a16="http://schemas.microsoft.com/office/drawing/2014/main" id="{48F81F65-0F0C-FE99-F85C-088471362982}"/>
              </a:ext>
            </a:extLst>
          </p:cNvPr>
          <p:cNvSpPr/>
          <p:nvPr/>
        </p:nvSpPr>
        <p:spPr>
          <a:xfrm>
            <a:off x="1006530" y="2928668"/>
            <a:ext cx="4667309" cy="2169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5" name="Shape 3">
            <a:extLst>
              <a:ext uri="{FF2B5EF4-FFF2-40B4-BE49-F238E27FC236}">
                <a16:creationId xmlns:a16="http://schemas.microsoft.com/office/drawing/2014/main" id="{7843FFFF-5AE8-2F6E-6229-6474C6ECF09B}"/>
              </a:ext>
            </a:extLst>
          </p:cNvPr>
          <p:cNvSpPr/>
          <p:nvPr/>
        </p:nvSpPr>
        <p:spPr>
          <a:xfrm>
            <a:off x="880882" y="1943280"/>
            <a:ext cx="4101575" cy="0"/>
          </a:xfrm>
          <a:prstGeom prst="line">
            <a:avLst/>
          </a:prstGeom>
          <a:noFill/>
          <a:ln w="38100">
            <a:solidFill>
              <a:srgbClr val="276EF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2B0CEC37-0AEC-C759-BB8A-D5C590116099}"/>
              </a:ext>
            </a:extLst>
          </p:cNvPr>
          <p:cNvSpPr/>
          <p:nvPr/>
        </p:nvSpPr>
        <p:spPr>
          <a:xfrm>
            <a:off x="1006530" y="4310639"/>
            <a:ext cx="4101575" cy="712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</a:rPr>
              <a:t>Name: Faysal Ahammed Tonmoy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</a:rPr>
              <a:t>Matriculation: 1230473</a:t>
            </a:r>
            <a:endParaRPr lang="en-US" sz="1600" dirty="0"/>
          </a:p>
        </p:txBody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28160691-2BC6-046C-6031-85DA5AA93B10}"/>
              </a:ext>
            </a:extLst>
          </p:cNvPr>
          <p:cNvSpPr/>
          <p:nvPr/>
        </p:nvSpPr>
        <p:spPr>
          <a:xfrm>
            <a:off x="796218" y="7390940"/>
            <a:ext cx="6010929" cy="1363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Sporadic Server | Faysal Ahammed Tonmoy | ID 1230473</a:t>
            </a:r>
            <a:endParaRPr lang="en-US" sz="800" dirty="0"/>
          </a:p>
        </p:txBody>
      </p:sp>
      <p:sp>
        <p:nvSpPr>
          <p:cNvPr id="18" name="Text 11">
            <a:extLst>
              <a:ext uri="{FF2B5EF4-FFF2-40B4-BE49-F238E27FC236}">
                <a16:creationId xmlns:a16="http://schemas.microsoft.com/office/drawing/2014/main" id="{61D01391-1AAF-E737-798D-5C17E8902B8E}"/>
              </a:ext>
            </a:extLst>
          </p:cNvPr>
          <p:cNvSpPr/>
          <p:nvPr/>
        </p:nvSpPr>
        <p:spPr>
          <a:xfrm>
            <a:off x="11659290" y="7363508"/>
            <a:ext cx="282867" cy="1363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95740E0-CC26-116C-B229-131D7408B01B}"/>
              </a:ext>
            </a:extLst>
          </p:cNvPr>
          <p:cNvSpPr txBox="1"/>
          <p:nvPr/>
        </p:nvSpPr>
        <p:spPr>
          <a:xfrm>
            <a:off x="880882" y="2619139"/>
            <a:ext cx="610651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111827"/>
                </a:solidFill>
              </a:rPr>
              <a:t>Hochschule Hamm-Lippstadt</a:t>
            </a:r>
            <a:endParaRPr lang="en-US" sz="3200" b="1" dirty="0"/>
          </a:p>
          <a:p>
            <a:r>
              <a:rPr lang="en-US" sz="2000" b="1" dirty="0">
                <a:solidFill>
                  <a:srgbClr val="111827"/>
                </a:solidFill>
              </a:rPr>
              <a:t>Real-Time Systems </a:t>
            </a:r>
            <a:br>
              <a:rPr lang="en-US" sz="2000" b="1" dirty="0">
                <a:solidFill>
                  <a:srgbClr val="111827"/>
                </a:solidFill>
              </a:rPr>
            </a:br>
            <a:r>
              <a:rPr lang="en-US" sz="2000" b="1" dirty="0">
                <a:solidFill>
                  <a:srgbClr val="111827"/>
                </a:solidFill>
              </a:rPr>
              <a:t>Seminar Paper</a:t>
            </a:r>
            <a:endParaRPr lang="en-US" sz="2000" b="1" dirty="0"/>
          </a:p>
          <a:p>
            <a:endParaRPr lang="de-DE" sz="2400" b="1" dirty="0"/>
          </a:p>
        </p:txBody>
      </p:sp>
      <p:sp>
        <p:nvSpPr>
          <p:cNvPr id="20" name="Text 11">
            <a:extLst>
              <a:ext uri="{FF2B5EF4-FFF2-40B4-BE49-F238E27FC236}">
                <a16:creationId xmlns:a16="http://schemas.microsoft.com/office/drawing/2014/main" id="{7524F5C7-0134-4382-87C1-F494826F5221}"/>
              </a:ext>
            </a:extLst>
          </p:cNvPr>
          <p:cNvSpPr/>
          <p:nvPr/>
        </p:nvSpPr>
        <p:spPr>
          <a:xfrm>
            <a:off x="365933" y="649224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Sporadic Server | Faysal Ahammed Tonmoy | ID 1230473</a:t>
            </a:r>
            <a:endParaRPr lang="en-US" sz="8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D446B3B-26D1-C018-628B-491795E9C4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27882D2-76ED-40F5-9AA8-D6B4E564DC54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980107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CC252B7-30B4-C264-992C-BCA293CA59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849" y="1055016"/>
            <a:ext cx="6724407" cy="611089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1E2A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a Real-Time System?</a:t>
            </a:r>
            <a:br>
              <a:rPr lang="en-US" dirty="0"/>
            </a:br>
            <a:endParaRPr lang="de-DE" dirty="0"/>
          </a:p>
        </p:txBody>
      </p:sp>
      <p:sp>
        <p:nvSpPr>
          <p:cNvPr id="6" name="Text 8">
            <a:extLst>
              <a:ext uri="{FF2B5EF4-FFF2-40B4-BE49-F238E27FC236}">
                <a16:creationId xmlns:a16="http://schemas.microsoft.com/office/drawing/2014/main" id="{F95605CC-68C5-3091-AEA6-97B07D33D959}"/>
              </a:ext>
            </a:extLst>
          </p:cNvPr>
          <p:cNvSpPr/>
          <p:nvPr/>
        </p:nvSpPr>
        <p:spPr>
          <a:xfrm>
            <a:off x="603849" y="2032038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A36"/>
                </a:solidFill>
              </a:rPr>
              <a:t>A late correct result can still be a system failure.</a:t>
            </a:r>
            <a:endParaRPr lang="en-US" sz="2000" dirty="0"/>
          </a:p>
        </p:txBody>
      </p:sp>
      <p:sp>
        <p:nvSpPr>
          <p:cNvPr id="7" name="Text 9">
            <a:extLst>
              <a:ext uri="{FF2B5EF4-FFF2-40B4-BE49-F238E27FC236}">
                <a16:creationId xmlns:a16="http://schemas.microsoft.com/office/drawing/2014/main" id="{98D869ED-DE5F-3505-D75F-97D76E39F6C6}"/>
              </a:ext>
            </a:extLst>
          </p:cNvPr>
          <p:cNvSpPr/>
          <p:nvPr/>
        </p:nvSpPr>
        <p:spPr>
          <a:xfrm>
            <a:off x="603849" y="2597326"/>
            <a:ext cx="5909094" cy="1417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Braking decision: correct but too late is unsafe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Motor control: late update can destabilize the system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Alarm handling: timing decides whether reaction is useful</a:t>
            </a:r>
            <a:endParaRPr lang="en-US" sz="180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43042CE-22F8-1158-265D-3BA2E6D6B370}"/>
              </a:ext>
            </a:extLst>
          </p:cNvPr>
          <p:cNvSpPr/>
          <p:nvPr/>
        </p:nvSpPr>
        <p:spPr>
          <a:xfrm>
            <a:off x="1673526" y="4538618"/>
            <a:ext cx="2113471" cy="638354"/>
          </a:xfrm>
          <a:prstGeom prst="round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Correct Result</a:t>
            </a:r>
            <a:endParaRPr lang="de-DE" b="1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6A5FA1E-748A-D08E-CE87-F7F4EAFEF1FF}"/>
              </a:ext>
            </a:extLst>
          </p:cNvPr>
          <p:cNvSpPr/>
          <p:nvPr/>
        </p:nvSpPr>
        <p:spPr>
          <a:xfrm>
            <a:off x="4630833" y="4538618"/>
            <a:ext cx="2113471" cy="638354"/>
          </a:xfrm>
          <a:prstGeom prst="round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 err="1"/>
              <a:t>Correct</a:t>
            </a:r>
            <a:r>
              <a:rPr lang="de-DE" b="1" dirty="0"/>
              <a:t> Timing</a:t>
            </a:r>
          </a:p>
        </p:txBody>
      </p:sp>
      <p:sp>
        <p:nvSpPr>
          <p:cNvPr id="10" name="Plus Sign 9">
            <a:extLst>
              <a:ext uri="{FF2B5EF4-FFF2-40B4-BE49-F238E27FC236}">
                <a16:creationId xmlns:a16="http://schemas.microsoft.com/office/drawing/2014/main" id="{67AF158D-B0F1-624F-AFEC-1DB384259129}"/>
              </a:ext>
            </a:extLst>
          </p:cNvPr>
          <p:cNvSpPr/>
          <p:nvPr/>
        </p:nvSpPr>
        <p:spPr>
          <a:xfrm>
            <a:off x="4023791" y="4620569"/>
            <a:ext cx="470571" cy="474452"/>
          </a:xfrm>
          <a:prstGeom prst="mathPlus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Equals 10">
            <a:extLst>
              <a:ext uri="{FF2B5EF4-FFF2-40B4-BE49-F238E27FC236}">
                <a16:creationId xmlns:a16="http://schemas.microsoft.com/office/drawing/2014/main" id="{D2FA49DF-5FAE-978F-A485-70CFE780FADF}"/>
              </a:ext>
            </a:extLst>
          </p:cNvPr>
          <p:cNvSpPr/>
          <p:nvPr/>
        </p:nvSpPr>
        <p:spPr>
          <a:xfrm>
            <a:off x="6965948" y="4698207"/>
            <a:ext cx="393709" cy="319176"/>
          </a:xfrm>
          <a:prstGeom prst="mathEqual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C8FFF7E-3B24-BD33-0631-778043042392}"/>
              </a:ext>
            </a:extLst>
          </p:cNvPr>
          <p:cNvSpPr/>
          <p:nvPr/>
        </p:nvSpPr>
        <p:spPr>
          <a:xfrm>
            <a:off x="7588140" y="4538618"/>
            <a:ext cx="2113471" cy="638354"/>
          </a:xfrm>
          <a:prstGeom prst="roundRect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/>
              <a:t>Real-Time System</a:t>
            </a: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C352071-A910-64F2-4918-37E4DFA49E74}"/>
              </a:ext>
            </a:extLst>
          </p:cNvPr>
          <p:cNvSpPr/>
          <p:nvPr/>
        </p:nvSpPr>
        <p:spPr>
          <a:xfrm>
            <a:off x="419588" y="6520363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Sporadic Server | Faysal Ahammed Tonmoy | ID 1230473</a:t>
            </a:r>
            <a:endParaRPr lang="en-US" sz="8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C6C75FB-7D4D-FE7F-5BC1-33CFC71C2F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27882D2-76ED-40F5-9AA8-D6B4E564DC54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732961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>
            <a:extLst>
              <a:ext uri="{FF2B5EF4-FFF2-40B4-BE49-F238E27FC236}">
                <a16:creationId xmlns:a16="http://schemas.microsoft.com/office/drawing/2014/main" id="{3B395A7B-3C82-4551-3750-9C4FF09A5703}"/>
              </a:ext>
            </a:extLst>
          </p:cNvPr>
          <p:cNvSpPr/>
          <p:nvPr/>
        </p:nvSpPr>
        <p:spPr>
          <a:xfrm>
            <a:off x="308826" y="2232516"/>
            <a:ext cx="2926080" cy="9144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A36"/>
                </a:solidFill>
              </a:rPr>
              <a:t>Periodic hard tasks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E2A36"/>
                </a:solidFill>
              </a:rPr>
              <a:t>regular + deadlines</a:t>
            </a:r>
            <a:endParaRPr lang="en-US" sz="1800" dirty="0"/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E41F2DA1-A94F-DADA-C81D-D3C140B43744}"/>
              </a:ext>
            </a:extLst>
          </p:cNvPr>
          <p:cNvSpPr/>
          <p:nvPr/>
        </p:nvSpPr>
        <p:spPr>
          <a:xfrm>
            <a:off x="4195026" y="2232516"/>
            <a:ext cx="2926080" cy="914400"/>
          </a:xfrm>
          <a:prstGeom prst="rect">
            <a:avLst/>
          </a:prstGeom>
          <a:solidFill>
            <a:srgbClr val="FFF7E6"/>
          </a:solidFill>
          <a:ln w="12700"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A36"/>
                </a:solidFill>
              </a:rPr>
              <a:t>Aperiodic requests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E2A36"/>
                </a:solidFill>
              </a:rPr>
              <a:t>irregular + need response</a:t>
            </a:r>
            <a:endParaRPr lang="en-US" sz="1800" dirty="0"/>
          </a:p>
        </p:txBody>
      </p:sp>
      <p:sp>
        <p:nvSpPr>
          <p:cNvPr id="4" name="Text 5">
            <a:extLst>
              <a:ext uri="{FF2B5EF4-FFF2-40B4-BE49-F238E27FC236}">
                <a16:creationId xmlns:a16="http://schemas.microsoft.com/office/drawing/2014/main" id="{B805FAFC-CDDF-ECCF-F31D-97713277C4AC}"/>
              </a:ext>
            </a:extLst>
          </p:cNvPr>
          <p:cNvSpPr/>
          <p:nvPr/>
        </p:nvSpPr>
        <p:spPr>
          <a:xfrm>
            <a:off x="8035506" y="2232516"/>
            <a:ext cx="2926080" cy="9144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A36"/>
                </a:solidFill>
              </a:rPr>
              <a:t>Scheduling conflict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E2A36"/>
                </a:solidFill>
              </a:rPr>
              <a:t>fast vs. safe</a:t>
            </a:r>
            <a:endParaRPr lang="en-US" sz="1800" dirty="0"/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7F7F28E3-90D3-1922-983E-24C3D7CBB55D}"/>
              </a:ext>
            </a:extLst>
          </p:cNvPr>
          <p:cNvSpPr/>
          <p:nvPr/>
        </p:nvSpPr>
        <p:spPr>
          <a:xfrm>
            <a:off x="3326346" y="2689716"/>
            <a:ext cx="685800" cy="0"/>
          </a:xfrm>
          <a:prstGeom prst="line">
            <a:avLst/>
          </a:prstGeom>
          <a:noFill/>
          <a:ln w="19050">
            <a:solidFill>
              <a:srgbClr val="66708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6" name="Shape 7">
            <a:extLst>
              <a:ext uri="{FF2B5EF4-FFF2-40B4-BE49-F238E27FC236}">
                <a16:creationId xmlns:a16="http://schemas.microsoft.com/office/drawing/2014/main" id="{B0FE1A84-2096-02D1-1414-70970CC6491E}"/>
              </a:ext>
            </a:extLst>
          </p:cNvPr>
          <p:cNvSpPr/>
          <p:nvPr/>
        </p:nvSpPr>
        <p:spPr>
          <a:xfrm>
            <a:off x="7212546" y="2689716"/>
            <a:ext cx="685800" cy="0"/>
          </a:xfrm>
          <a:prstGeom prst="line">
            <a:avLst/>
          </a:prstGeom>
          <a:noFill/>
          <a:ln w="19050">
            <a:solidFill>
              <a:srgbClr val="66708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866ADCBF-7604-6658-E992-26F8BFE9DB74}"/>
              </a:ext>
            </a:extLst>
          </p:cNvPr>
          <p:cNvSpPr/>
          <p:nvPr/>
        </p:nvSpPr>
        <p:spPr>
          <a:xfrm>
            <a:off x="445986" y="405010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A36"/>
                </a:solidFill>
              </a:rPr>
              <a:t>Two naive choices are not enough:</a:t>
            </a:r>
            <a:endParaRPr lang="en-US" sz="1900" dirty="0"/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843CA01F-4663-AFD4-8346-B506FC6EDC26}"/>
              </a:ext>
            </a:extLst>
          </p:cNvPr>
          <p:cNvSpPr/>
          <p:nvPr/>
        </p:nvSpPr>
        <p:spPr>
          <a:xfrm>
            <a:off x="491706" y="4434667"/>
            <a:ext cx="423557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Background only: safe but slow response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Uncontrolled high priority: fast but can break deadlines</a:t>
            </a:r>
            <a:endParaRPr lang="en-US" sz="1800" dirty="0"/>
          </a:p>
        </p:txBody>
      </p:sp>
      <p:sp>
        <p:nvSpPr>
          <p:cNvPr id="9" name="Text 10">
            <a:extLst>
              <a:ext uri="{FF2B5EF4-FFF2-40B4-BE49-F238E27FC236}">
                <a16:creationId xmlns:a16="http://schemas.microsoft.com/office/drawing/2014/main" id="{089EFE51-EBCF-7995-D4A4-46999766F5DD}"/>
              </a:ext>
            </a:extLst>
          </p:cNvPr>
          <p:cNvSpPr/>
          <p:nvPr/>
        </p:nvSpPr>
        <p:spPr>
          <a:xfrm>
            <a:off x="7212546" y="3916046"/>
            <a:ext cx="1085203" cy="3088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A36"/>
                </a:solidFill>
              </a:rPr>
              <a:t>Need:</a:t>
            </a:r>
            <a:endParaRPr lang="en-US" sz="1900" dirty="0"/>
          </a:p>
        </p:txBody>
      </p:sp>
      <p:sp>
        <p:nvSpPr>
          <p:cNvPr id="10" name="Text 11">
            <a:extLst>
              <a:ext uri="{FF2B5EF4-FFF2-40B4-BE49-F238E27FC236}">
                <a16:creationId xmlns:a16="http://schemas.microsoft.com/office/drawing/2014/main" id="{1ACF84ED-EA1C-172A-3CF0-E1E2F35D2AA4}"/>
              </a:ext>
            </a:extLst>
          </p:cNvPr>
          <p:cNvSpPr/>
          <p:nvPr/>
        </p:nvSpPr>
        <p:spPr>
          <a:xfrm>
            <a:off x="7212546" y="4276889"/>
            <a:ext cx="3167620" cy="802257"/>
          </a:xfrm>
          <a:prstGeom prst="rec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A36"/>
                </a:solidFill>
              </a:rPr>
              <a:t>Controlled service for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1E2A36"/>
                </a:solidFill>
              </a:rPr>
              <a:t>aperiodic jobs</a:t>
            </a:r>
            <a:endParaRPr lang="en-US" sz="2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78043CF-F5B6-95B1-AF96-8D55946A8119}"/>
              </a:ext>
            </a:extLst>
          </p:cNvPr>
          <p:cNvSpPr txBox="1"/>
          <p:nvPr/>
        </p:nvSpPr>
        <p:spPr>
          <a:xfrm>
            <a:off x="308825" y="811746"/>
            <a:ext cx="723066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1E2A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is a Sporadic Server Needed?</a:t>
            </a:r>
            <a:endParaRPr lang="en-US" sz="36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2D33F7D3-88BE-1B37-EFF7-C15B2956721F}"/>
              </a:ext>
            </a:extLst>
          </p:cNvPr>
          <p:cNvSpPr/>
          <p:nvPr/>
        </p:nvSpPr>
        <p:spPr>
          <a:xfrm>
            <a:off x="263106" y="6471537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Sporadic Server | Faysal Ahammed Tonmoy | ID 1230473</a:t>
            </a:r>
            <a:endParaRPr lang="en-US" sz="800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EFA5BAA-A8A5-3043-78F1-EACB167A5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882D2-76ED-40F5-9AA8-D6B4E564DC54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787905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>
            <a:extLst>
              <a:ext uri="{FF2B5EF4-FFF2-40B4-BE49-F238E27FC236}">
                <a16:creationId xmlns:a16="http://schemas.microsoft.com/office/drawing/2014/main" id="{85CC5996-E30B-7533-A118-6520826D3FBF}"/>
              </a:ext>
            </a:extLst>
          </p:cNvPr>
          <p:cNvSpPr/>
          <p:nvPr/>
        </p:nvSpPr>
        <p:spPr>
          <a:xfrm>
            <a:off x="4425350" y="1856232"/>
            <a:ext cx="6500866" cy="1920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11827"/>
                </a:solidFill>
              </a:rPr>
              <a:t>The Sporadic Server gives aperiodic jobs a limited CPU budget.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11827"/>
                </a:solidFill>
              </a:rPr>
              <a:t>If budget is available, an aperiodic job can run at server priority. If the budget is exhausted, the job waits until the consumed capacity is replenished later.</a:t>
            </a:r>
            <a:endParaRPr lang="en-US" sz="2000" dirty="0"/>
          </a:p>
        </p:txBody>
      </p:sp>
      <p:sp>
        <p:nvSpPr>
          <p:cNvPr id="3" name="Text 7">
            <a:extLst>
              <a:ext uri="{FF2B5EF4-FFF2-40B4-BE49-F238E27FC236}">
                <a16:creationId xmlns:a16="http://schemas.microsoft.com/office/drawing/2014/main" id="{45C152C5-386C-EEC4-EED1-92A1F64ECEF3}"/>
              </a:ext>
            </a:extLst>
          </p:cNvPr>
          <p:cNvSpPr/>
          <p:nvPr/>
        </p:nvSpPr>
        <p:spPr>
          <a:xfrm>
            <a:off x="4425350" y="38770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A36"/>
                </a:solidFill>
              </a:rPr>
              <a:t>One-line idea:</a:t>
            </a:r>
            <a:endParaRPr lang="en-US" sz="1800" dirty="0"/>
          </a:p>
        </p:txBody>
      </p:sp>
      <p:sp>
        <p:nvSpPr>
          <p:cNvPr id="4" name="Text 8">
            <a:extLst>
              <a:ext uri="{FF2B5EF4-FFF2-40B4-BE49-F238E27FC236}">
                <a16:creationId xmlns:a16="http://schemas.microsoft.com/office/drawing/2014/main" id="{A116358B-4D1C-4381-0BB3-5274655879D9}"/>
              </a:ext>
            </a:extLst>
          </p:cNvPr>
          <p:cNvSpPr/>
          <p:nvPr/>
        </p:nvSpPr>
        <p:spPr>
          <a:xfrm>
            <a:off x="4425350" y="4297680"/>
            <a:ext cx="6835743" cy="685800"/>
          </a:xfrm>
          <a:prstGeom prst="rect">
            <a:avLst/>
          </a:prstGeom>
          <a:solidFill>
            <a:srgbClr val="E8F5EF"/>
          </a:solidFill>
          <a:ln w="1270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A36"/>
                </a:solidFill>
              </a:rPr>
              <a:t>Controlled CPU wallet for irregular jobs</a:t>
            </a:r>
            <a:endParaRPr lang="en-US" sz="2000" dirty="0"/>
          </a:p>
        </p:txBody>
      </p:sp>
      <p:sp>
        <p:nvSpPr>
          <p:cNvPr id="5" name="Text 9">
            <a:extLst>
              <a:ext uri="{FF2B5EF4-FFF2-40B4-BE49-F238E27FC236}">
                <a16:creationId xmlns:a16="http://schemas.microsoft.com/office/drawing/2014/main" id="{E37E3C80-1083-CD6B-A907-DB039442033E}"/>
              </a:ext>
            </a:extLst>
          </p:cNvPr>
          <p:cNvSpPr/>
          <p:nvPr/>
        </p:nvSpPr>
        <p:spPr>
          <a:xfrm>
            <a:off x="4425350" y="5212080"/>
            <a:ext cx="683574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</a:rPr>
              <a:t>Based on Sprunt, Sha, and Lehoczky; explained in Buttazzo as a fixed-priority server.</a:t>
            </a:r>
            <a:endParaRPr lang="en-US" sz="1200" dirty="0"/>
          </a:p>
        </p:txBody>
      </p:sp>
      <p:sp>
        <p:nvSpPr>
          <p:cNvPr id="6" name="Text 10">
            <a:extLst>
              <a:ext uri="{FF2B5EF4-FFF2-40B4-BE49-F238E27FC236}">
                <a16:creationId xmlns:a16="http://schemas.microsoft.com/office/drawing/2014/main" id="{C585E0A6-9622-D289-8D92-75EC94F31C22}"/>
              </a:ext>
            </a:extLst>
          </p:cNvPr>
          <p:cNvSpPr/>
          <p:nvPr/>
        </p:nvSpPr>
        <p:spPr>
          <a:xfrm>
            <a:off x="270006" y="647395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Sporadic Server | Faysal Ahammed Tonmoy | ID 1230473</a:t>
            </a:r>
            <a:endParaRPr lang="en-US" sz="8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EF314E3-B575-9603-54A2-639A1F6798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06" y="2141810"/>
            <a:ext cx="4123600" cy="257438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DEBE41D-6ADE-AB21-7223-FDB700038FD7}"/>
              </a:ext>
            </a:extLst>
          </p:cNvPr>
          <p:cNvSpPr txBox="1"/>
          <p:nvPr/>
        </p:nvSpPr>
        <p:spPr>
          <a:xfrm>
            <a:off x="616788" y="928778"/>
            <a:ext cx="60945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1E2A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the Sporadic Server?</a:t>
            </a:r>
            <a:endParaRPr lang="en-US" sz="360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B1A04E8-E2BA-D713-CC11-DF4B1D0B3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882D2-76ED-40F5-9AA8-D6B4E564DC54}" type="slidenum">
              <a:rPr lang="de-DE" smtClean="0"/>
              <a:t>4</a:t>
            </a:fld>
            <a:endParaRPr lang="de-DE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594222D-D57D-227F-EEC1-7457658574EA}"/>
              </a:ext>
            </a:extLst>
          </p:cNvPr>
          <p:cNvSpPr txBox="1"/>
          <p:nvPr/>
        </p:nvSpPr>
        <p:spPr>
          <a:xfrm>
            <a:off x="1328468" y="4830792"/>
            <a:ext cx="179429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Aptos" panose="020B0004020202020204" pitchFamily="34" charset="0"/>
              </a:rPr>
              <a:t>Created via </a:t>
            </a:r>
            <a:r>
              <a:rPr lang="en-US" sz="900" dirty="0" err="1">
                <a:latin typeface="Aptos" panose="020B0004020202020204" pitchFamily="34" charset="0"/>
              </a:rPr>
              <a:t>PlantUML</a:t>
            </a:r>
            <a:endParaRPr lang="de-DE" sz="9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63309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>
            <a:extLst>
              <a:ext uri="{FF2B5EF4-FFF2-40B4-BE49-F238E27FC236}">
                <a16:creationId xmlns:a16="http://schemas.microsoft.com/office/drawing/2014/main" id="{5D1965EC-2C0E-C165-CFDE-3C6C46A9854C}"/>
              </a:ext>
            </a:extLst>
          </p:cNvPr>
          <p:cNvSpPr/>
          <p:nvPr/>
        </p:nvSpPr>
        <p:spPr>
          <a:xfrm>
            <a:off x="484805" y="1931454"/>
            <a:ext cx="1691640" cy="868680"/>
          </a:xfrm>
          <a:prstGeom prst="rect">
            <a:avLst/>
          </a:prstGeom>
          <a:solidFill>
            <a:srgbClr val="EAF2FF"/>
          </a:solidFill>
          <a:ln w="1270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A36"/>
                </a:solidFill>
              </a:rPr>
              <a:t>Aperiodic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E2A36"/>
                </a:solidFill>
              </a:rPr>
              <a:t>job arrives</a:t>
            </a:r>
            <a:endParaRPr lang="en-US" sz="1400" dirty="0"/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679B85C7-4383-F87F-BFE3-0D80F0C8E3D4}"/>
              </a:ext>
            </a:extLst>
          </p:cNvPr>
          <p:cNvSpPr/>
          <p:nvPr/>
        </p:nvSpPr>
        <p:spPr>
          <a:xfrm>
            <a:off x="2587925" y="1931454"/>
            <a:ext cx="1691640" cy="86868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A36"/>
                </a:solidFill>
              </a:rPr>
              <a:t>Server checks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E2A36"/>
                </a:solidFill>
              </a:rPr>
              <a:t>budget</a:t>
            </a:r>
            <a:endParaRPr lang="en-US" sz="1400" dirty="0"/>
          </a:p>
        </p:txBody>
      </p:sp>
      <p:sp>
        <p:nvSpPr>
          <p:cNvPr id="4" name="Text 5">
            <a:extLst>
              <a:ext uri="{FF2B5EF4-FFF2-40B4-BE49-F238E27FC236}">
                <a16:creationId xmlns:a16="http://schemas.microsoft.com/office/drawing/2014/main" id="{F84D8633-6D2B-94F5-6EF9-13B42BC705B9}"/>
              </a:ext>
            </a:extLst>
          </p:cNvPr>
          <p:cNvSpPr/>
          <p:nvPr/>
        </p:nvSpPr>
        <p:spPr>
          <a:xfrm>
            <a:off x="4691045" y="1931454"/>
            <a:ext cx="1691640" cy="868680"/>
          </a:xfrm>
          <a:prstGeom prst="rect">
            <a:avLst/>
          </a:prstGeom>
          <a:solidFill>
            <a:srgbClr val="E8F5EF"/>
          </a:solidFill>
          <a:ln w="1270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A36"/>
                </a:solidFill>
              </a:rPr>
              <a:t>Budget &gt; 0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E2A36"/>
                </a:solidFill>
              </a:rPr>
              <a:t>job runs</a:t>
            </a:r>
            <a:endParaRPr lang="en-US" sz="1400" dirty="0"/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F63C81FC-8464-CB18-4258-23740698C475}"/>
              </a:ext>
            </a:extLst>
          </p:cNvPr>
          <p:cNvSpPr/>
          <p:nvPr/>
        </p:nvSpPr>
        <p:spPr>
          <a:xfrm>
            <a:off x="6794165" y="1931454"/>
            <a:ext cx="1691640" cy="868680"/>
          </a:xfrm>
          <a:prstGeom prst="rect">
            <a:avLst/>
          </a:prstGeom>
          <a:solidFill>
            <a:srgbClr val="FFF7E6"/>
          </a:solidFill>
          <a:ln w="1270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A36"/>
                </a:solidFill>
              </a:rPr>
              <a:t>Budget decreases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E2A36"/>
                </a:solidFill>
              </a:rPr>
              <a:t>Cs → Cs−1</a:t>
            </a:r>
            <a:endParaRPr lang="en-US" sz="1400" dirty="0"/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8E383DFA-1587-95F2-7A6A-48CA5E62352E}"/>
              </a:ext>
            </a:extLst>
          </p:cNvPr>
          <p:cNvSpPr/>
          <p:nvPr/>
        </p:nvSpPr>
        <p:spPr>
          <a:xfrm>
            <a:off x="8897285" y="1931454"/>
            <a:ext cx="1691640" cy="868680"/>
          </a:xfrm>
          <a:prstGeom prst="rect">
            <a:avLst/>
          </a:prstGeom>
          <a:solidFill>
            <a:srgbClr val="FEE4E2"/>
          </a:solidFill>
          <a:ln w="1270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A36"/>
                </a:solidFill>
              </a:rPr>
              <a:t>Budget = 0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E2A36"/>
                </a:solidFill>
              </a:rPr>
              <a:t>job waits</a:t>
            </a:r>
            <a:endParaRPr lang="en-US" sz="1400" dirty="0"/>
          </a:p>
        </p:txBody>
      </p:sp>
      <p:sp>
        <p:nvSpPr>
          <p:cNvPr id="7" name="Shape 8">
            <a:extLst>
              <a:ext uri="{FF2B5EF4-FFF2-40B4-BE49-F238E27FC236}">
                <a16:creationId xmlns:a16="http://schemas.microsoft.com/office/drawing/2014/main" id="{EA333BC5-EE56-03CE-9FA6-4ABC6B603B13}"/>
              </a:ext>
            </a:extLst>
          </p:cNvPr>
          <p:cNvSpPr/>
          <p:nvPr/>
        </p:nvSpPr>
        <p:spPr>
          <a:xfrm>
            <a:off x="2176445" y="2361222"/>
            <a:ext cx="347472" cy="0"/>
          </a:xfrm>
          <a:prstGeom prst="line">
            <a:avLst/>
          </a:prstGeom>
          <a:noFill/>
          <a:ln w="15240">
            <a:solidFill>
              <a:srgbClr val="667085"/>
            </a:solidFill>
            <a:prstDash val="solid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8" name="Shape 9">
            <a:extLst>
              <a:ext uri="{FF2B5EF4-FFF2-40B4-BE49-F238E27FC236}">
                <a16:creationId xmlns:a16="http://schemas.microsoft.com/office/drawing/2014/main" id="{B1E47998-64DE-64D7-6B19-E740166126D6}"/>
              </a:ext>
            </a:extLst>
          </p:cNvPr>
          <p:cNvSpPr/>
          <p:nvPr/>
        </p:nvSpPr>
        <p:spPr>
          <a:xfrm>
            <a:off x="4279565" y="2361222"/>
            <a:ext cx="347472" cy="0"/>
          </a:xfrm>
          <a:prstGeom prst="line">
            <a:avLst/>
          </a:prstGeom>
          <a:noFill/>
          <a:ln w="15240">
            <a:solidFill>
              <a:srgbClr val="667085"/>
            </a:solidFill>
            <a:prstDash val="solid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9" name="Shape 10">
            <a:extLst>
              <a:ext uri="{FF2B5EF4-FFF2-40B4-BE49-F238E27FC236}">
                <a16:creationId xmlns:a16="http://schemas.microsoft.com/office/drawing/2014/main" id="{4843F1EB-65D9-3456-8A85-A74C71337015}"/>
              </a:ext>
            </a:extLst>
          </p:cNvPr>
          <p:cNvSpPr/>
          <p:nvPr/>
        </p:nvSpPr>
        <p:spPr>
          <a:xfrm>
            <a:off x="6382685" y="2361222"/>
            <a:ext cx="347472" cy="0"/>
          </a:xfrm>
          <a:prstGeom prst="line">
            <a:avLst/>
          </a:prstGeom>
          <a:noFill/>
          <a:ln w="15240">
            <a:solidFill>
              <a:srgbClr val="667085"/>
            </a:solidFill>
            <a:prstDash val="solid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10" name="Shape 11">
            <a:extLst>
              <a:ext uri="{FF2B5EF4-FFF2-40B4-BE49-F238E27FC236}">
                <a16:creationId xmlns:a16="http://schemas.microsoft.com/office/drawing/2014/main" id="{020DFA92-886E-9273-FE5F-83C88EC9626E}"/>
              </a:ext>
            </a:extLst>
          </p:cNvPr>
          <p:cNvSpPr/>
          <p:nvPr/>
        </p:nvSpPr>
        <p:spPr>
          <a:xfrm>
            <a:off x="8485805" y="2361222"/>
            <a:ext cx="347472" cy="0"/>
          </a:xfrm>
          <a:prstGeom prst="line">
            <a:avLst/>
          </a:prstGeom>
          <a:noFill/>
          <a:ln w="15240">
            <a:solidFill>
              <a:srgbClr val="667085"/>
            </a:solidFill>
            <a:prstDash val="solid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11" name="Shape 12">
            <a:extLst>
              <a:ext uri="{FF2B5EF4-FFF2-40B4-BE49-F238E27FC236}">
                <a16:creationId xmlns:a16="http://schemas.microsoft.com/office/drawing/2014/main" id="{B4A43353-09EC-4288-A79D-CBFE0E8018E5}"/>
              </a:ext>
            </a:extLst>
          </p:cNvPr>
          <p:cNvSpPr/>
          <p:nvPr/>
        </p:nvSpPr>
        <p:spPr>
          <a:xfrm>
            <a:off x="9738533" y="2909862"/>
            <a:ext cx="0" cy="1417320"/>
          </a:xfrm>
          <a:prstGeom prst="line">
            <a:avLst/>
          </a:prstGeom>
          <a:noFill/>
          <a:ln w="19050">
            <a:solidFill>
              <a:srgbClr val="276EF1"/>
            </a:solidFill>
            <a:prstDash val="solid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3">
            <a:extLst>
              <a:ext uri="{FF2B5EF4-FFF2-40B4-BE49-F238E27FC236}">
                <a16:creationId xmlns:a16="http://schemas.microsoft.com/office/drawing/2014/main" id="{04A76B1F-E08D-5A7E-FF2A-4B30947355B9}"/>
              </a:ext>
            </a:extLst>
          </p:cNvPr>
          <p:cNvSpPr/>
          <p:nvPr/>
        </p:nvSpPr>
        <p:spPr>
          <a:xfrm>
            <a:off x="5677008" y="4400334"/>
            <a:ext cx="5029200" cy="594360"/>
          </a:xfrm>
          <a:prstGeom prst="rect">
            <a:avLst/>
          </a:prstGeom>
          <a:solidFill>
            <a:srgbClr val="EAF2FF"/>
          </a:solidFill>
          <a:ln w="1270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A36"/>
                </a:solidFill>
              </a:rPr>
              <a:t>Later: consumed capacity is replenished</a:t>
            </a:r>
            <a:endParaRPr lang="en-US" sz="1800" dirty="0"/>
          </a:p>
        </p:txBody>
      </p:sp>
      <p:sp>
        <p:nvSpPr>
          <p:cNvPr id="13" name="Text 14">
            <a:extLst>
              <a:ext uri="{FF2B5EF4-FFF2-40B4-BE49-F238E27FC236}">
                <a16:creationId xmlns:a16="http://schemas.microsoft.com/office/drawing/2014/main" id="{BF45FB82-8E5D-598C-3717-94EE43E7D403}"/>
              </a:ext>
            </a:extLst>
          </p:cNvPr>
          <p:cNvSpPr/>
          <p:nvPr/>
        </p:nvSpPr>
        <p:spPr>
          <a:xfrm>
            <a:off x="804845" y="549761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A36"/>
                </a:solidFill>
              </a:rPr>
              <a:t>Periodic hard task has priority over the server.</a:t>
            </a:r>
            <a:endParaRPr lang="en-US" sz="1800" dirty="0"/>
          </a:p>
        </p:txBody>
      </p:sp>
      <p:sp>
        <p:nvSpPr>
          <p:cNvPr id="14" name="Text 15">
            <a:extLst>
              <a:ext uri="{FF2B5EF4-FFF2-40B4-BE49-F238E27FC236}">
                <a16:creationId xmlns:a16="http://schemas.microsoft.com/office/drawing/2014/main" id="{ABE756D4-C8B0-0C04-80A7-418E0B26D4EA}"/>
              </a:ext>
            </a:extLst>
          </p:cNvPr>
          <p:cNvSpPr/>
          <p:nvPr/>
        </p:nvSpPr>
        <p:spPr>
          <a:xfrm>
            <a:off x="347645" y="6485166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Sporadic Server | Faysal Ahammed Tonmoy | ID 1230473</a:t>
            </a:r>
            <a:endParaRPr lang="en-US" sz="8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521139E-2313-19EB-9907-43E8953AECA1}"/>
              </a:ext>
            </a:extLst>
          </p:cNvPr>
          <p:cNvSpPr txBox="1"/>
          <p:nvPr/>
        </p:nvSpPr>
        <p:spPr>
          <a:xfrm>
            <a:off x="386464" y="818447"/>
            <a:ext cx="60945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3600" b="1" dirty="0" err="1">
                <a:solidFill>
                  <a:srgbClr val="1E2A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Behaviour</a:t>
            </a:r>
            <a:endParaRPr lang="en-US" sz="3600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7FF3F7D7-23FA-A04D-A25C-BFA90FCD0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882D2-76ED-40F5-9AA8-D6B4E564DC54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040531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7845C-CF21-4881-8190-CE5BE43B9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143" y="674088"/>
            <a:ext cx="5775339" cy="804851"/>
          </a:xfrm>
        </p:spPr>
        <p:txBody>
          <a:bodyPr>
            <a:normAutofit/>
          </a:bodyPr>
          <a:lstStyle/>
          <a:p>
            <a:r>
              <a:rPr lang="de-DE" sz="3600" dirty="0">
                <a:latin typeface="Aptos" panose="020B0004020202020204" pitchFamily="34" charset="0"/>
              </a:rPr>
              <a:t>Budget </a:t>
            </a:r>
            <a:r>
              <a:rPr lang="de-DE" sz="3600" dirty="0" err="1">
                <a:latin typeface="Aptos" panose="020B0004020202020204" pitchFamily="34" charset="0"/>
              </a:rPr>
              <a:t>Replenishment</a:t>
            </a:r>
            <a:endParaRPr lang="de-DE" sz="3600" dirty="0">
              <a:latin typeface="Aptos" panose="020B000402020202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9ACFAB5-FADC-88E9-8254-90950AC748B5}"/>
              </a:ext>
            </a:extLst>
          </p:cNvPr>
          <p:cNvSpPr/>
          <p:nvPr/>
        </p:nvSpPr>
        <p:spPr>
          <a:xfrm>
            <a:off x="1200647" y="1789704"/>
            <a:ext cx="930302" cy="389614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Time</a:t>
            </a:r>
            <a:endParaRPr lang="de-DE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E0D57E9-3551-B148-752F-A3A2E0005048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2130949" y="1984511"/>
            <a:ext cx="527171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FED5943-C92B-E3D2-42CD-C2F4E2A113C7}"/>
              </a:ext>
            </a:extLst>
          </p:cNvPr>
          <p:cNvSpPr/>
          <p:nvPr/>
        </p:nvSpPr>
        <p:spPr>
          <a:xfrm>
            <a:off x="1200647" y="2374125"/>
            <a:ext cx="1765190" cy="389614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Budget = 2</a:t>
            </a:r>
            <a:endParaRPr lang="de-DE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D91BF5A-96B1-130D-D88A-61B8706D0CC8}"/>
              </a:ext>
            </a:extLst>
          </p:cNvPr>
          <p:cNvSpPr/>
          <p:nvPr/>
        </p:nvSpPr>
        <p:spPr>
          <a:xfrm>
            <a:off x="1200647" y="2812108"/>
            <a:ext cx="1765190" cy="389614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Aperiodic Job Run</a:t>
            </a:r>
            <a:endParaRPr lang="de-DE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EFB200F-22FA-BD61-6B19-4F88D7A69EC7}"/>
              </a:ext>
            </a:extLst>
          </p:cNvPr>
          <p:cNvCxnSpPr>
            <a:stCxn id="12" idx="2"/>
          </p:cNvCxnSpPr>
          <p:nvPr/>
        </p:nvCxnSpPr>
        <p:spPr>
          <a:xfrm>
            <a:off x="2083242" y="3201722"/>
            <a:ext cx="0" cy="2272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E0DEA0F-1166-95F4-CE4F-DE7502054223}"/>
              </a:ext>
            </a:extLst>
          </p:cNvPr>
          <p:cNvCxnSpPr/>
          <p:nvPr/>
        </p:nvCxnSpPr>
        <p:spPr>
          <a:xfrm>
            <a:off x="2083242" y="3489295"/>
            <a:ext cx="0" cy="2272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229C728-3CA6-9487-2335-1E976143EDDE}"/>
              </a:ext>
            </a:extLst>
          </p:cNvPr>
          <p:cNvCxnSpPr/>
          <p:nvPr/>
        </p:nvCxnSpPr>
        <p:spPr>
          <a:xfrm>
            <a:off x="2083242" y="3783492"/>
            <a:ext cx="0" cy="2272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629B9B9-6A62-9F55-07B9-9AC768CDC08C}"/>
              </a:ext>
            </a:extLst>
          </p:cNvPr>
          <p:cNvCxnSpPr/>
          <p:nvPr/>
        </p:nvCxnSpPr>
        <p:spPr>
          <a:xfrm>
            <a:off x="2083242" y="4077691"/>
            <a:ext cx="0" cy="2272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0577EA9-D063-3AD8-664E-844285D7115D}"/>
              </a:ext>
            </a:extLst>
          </p:cNvPr>
          <p:cNvCxnSpPr/>
          <p:nvPr/>
        </p:nvCxnSpPr>
        <p:spPr>
          <a:xfrm>
            <a:off x="2130949" y="3617843"/>
            <a:ext cx="2464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B8E7630B-855C-0D38-ACBB-828A88D6122C}"/>
              </a:ext>
            </a:extLst>
          </p:cNvPr>
          <p:cNvSpPr txBox="1"/>
          <p:nvPr/>
        </p:nvSpPr>
        <p:spPr>
          <a:xfrm>
            <a:off x="2377440" y="3387010"/>
            <a:ext cx="9188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ptos" panose="020B0004020202020204" pitchFamily="34" charset="0"/>
              </a:rPr>
              <a:t>1 unit used</a:t>
            </a:r>
          </a:p>
          <a:p>
            <a:r>
              <a:rPr lang="en-US" sz="1200" dirty="0">
                <a:latin typeface="Aptos" panose="020B0004020202020204" pitchFamily="34" charset="0"/>
              </a:rPr>
              <a:t>Budget =1</a:t>
            </a:r>
            <a:endParaRPr lang="de-DE" sz="1200" dirty="0">
              <a:latin typeface="Aptos" panose="020B0004020202020204" pitchFamily="34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24C52F3-424F-4FB5-B527-787AD4CEC816}"/>
              </a:ext>
            </a:extLst>
          </p:cNvPr>
          <p:cNvCxnSpPr/>
          <p:nvPr/>
        </p:nvCxnSpPr>
        <p:spPr>
          <a:xfrm>
            <a:off x="2083242" y="4373215"/>
            <a:ext cx="0" cy="2272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BC6A71C-7367-79E5-47A9-F808843FC459}"/>
              </a:ext>
            </a:extLst>
          </p:cNvPr>
          <p:cNvCxnSpPr/>
          <p:nvPr/>
        </p:nvCxnSpPr>
        <p:spPr>
          <a:xfrm>
            <a:off x="2130949" y="4191330"/>
            <a:ext cx="2464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5D314519-F521-277A-4085-570FEBFBFEE4}"/>
              </a:ext>
            </a:extLst>
          </p:cNvPr>
          <p:cNvSpPr txBox="1"/>
          <p:nvPr/>
        </p:nvSpPr>
        <p:spPr>
          <a:xfrm>
            <a:off x="2377439" y="3935636"/>
            <a:ext cx="173338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ptos" panose="020B0004020202020204" pitchFamily="34" charset="0"/>
              </a:rPr>
              <a:t>1 unit used</a:t>
            </a:r>
          </a:p>
          <a:p>
            <a:r>
              <a:rPr lang="en-US" sz="1200" dirty="0">
                <a:latin typeface="Aptos" panose="020B0004020202020204" pitchFamily="34" charset="0"/>
              </a:rPr>
              <a:t>Budget =0</a:t>
            </a:r>
            <a:endParaRPr lang="de-DE" sz="1200" dirty="0">
              <a:latin typeface="Aptos" panose="020B0004020202020204" pitchFamily="34" charset="0"/>
            </a:endParaRPr>
          </a:p>
          <a:p>
            <a:endParaRPr lang="de-DE" dirty="0">
              <a:latin typeface="Aptos" panose="020B0004020202020204" pitchFamily="34" charset="0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764105B-4F8A-2445-2587-94C705CE57C8}"/>
              </a:ext>
            </a:extLst>
          </p:cNvPr>
          <p:cNvCxnSpPr/>
          <p:nvPr/>
        </p:nvCxnSpPr>
        <p:spPr>
          <a:xfrm>
            <a:off x="2083242" y="4674301"/>
            <a:ext cx="0" cy="2272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1974659-BE74-194B-1408-FB3CC78D15B0}"/>
              </a:ext>
            </a:extLst>
          </p:cNvPr>
          <p:cNvCxnSpPr/>
          <p:nvPr/>
        </p:nvCxnSpPr>
        <p:spPr>
          <a:xfrm>
            <a:off x="2130948" y="4887994"/>
            <a:ext cx="2464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955D1BDE-65D3-FEB6-C94B-D8FC476A9E59}"/>
              </a:ext>
            </a:extLst>
          </p:cNvPr>
          <p:cNvSpPr txBox="1"/>
          <p:nvPr/>
        </p:nvSpPr>
        <p:spPr>
          <a:xfrm>
            <a:off x="2377439" y="4739956"/>
            <a:ext cx="4844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ptos" panose="020B0004020202020204" pitchFamily="34" charset="0"/>
              </a:rPr>
              <a:t>Wait</a:t>
            </a:r>
            <a:endParaRPr lang="de-DE" sz="1200" dirty="0">
              <a:latin typeface="Aptos" panose="020B0004020202020204" pitchFamily="34" charset="0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5AEBD47-783A-1BB4-A212-A65CFDFFBD7B}"/>
              </a:ext>
            </a:extLst>
          </p:cNvPr>
          <p:cNvCxnSpPr>
            <a:stCxn id="26" idx="3"/>
          </p:cNvCxnSpPr>
          <p:nvPr/>
        </p:nvCxnSpPr>
        <p:spPr>
          <a:xfrm flipV="1">
            <a:off x="2861867" y="4878455"/>
            <a:ext cx="708268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3D90420F-A4AC-D839-463C-88ABA7E74481}"/>
              </a:ext>
            </a:extLst>
          </p:cNvPr>
          <p:cNvSpPr/>
          <p:nvPr/>
        </p:nvSpPr>
        <p:spPr>
          <a:xfrm>
            <a:off x="3644494" y="4703026"/>
            <a:ext cx="803082" cy="340926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ptos" panose="020B0004020202020204" pitchFamily="34" charset="0"/>
              </a:rPr>
              <a:t>Ts = 5</a:t>
            </a:r>
            <a:endParaRPr lang="de-DE" sz="1200" dirty="0">
              <a:latin typeface="Aptos" panose="020B0004020202020204" pitchFamily="34" charset="0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D532A5D6-FDEA-4DEC-E78C-2CAF8B8630C4}"/>
              </a:ext>
            </a:extLst>
          </p:cNvPr>
          <p:cNvSpPr/>
          <p:nvPr/>
        </p:nvSpPr>
        <p:spPr>
          <a:xfrm>
            <a:off x="4866197" y="4698818"/>
            <a:ext cx="1677726" cy="340924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Budget Replenished</a:t>
            </a:r>
            <a:endParaRPr lang="de-DE" sz="12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45B6C3C1-6549-45FB-FBA1-F95173F3ADAC}"/>
              </a:ext>
            </a:extLst>
          </p:cNvPr>
          <p:cNvSpPr/>
          <p:nvPr/>
        </p:nvSpPr>
        <p:spPr>
          <a:xfrm>
            <a:off x="7129521" y="4698818"/>
            <a:ext cx="1677726" cy="340924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Restored Budget = 2</a:t>
            </a:r>
            <a:endParaRPr lang="de-DE" sz="12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A8C8A49-741C-FC9A-21A5-970BA6498079}"/>
              </a:ext>
            </a:extLst>
          </p:cNvPr>
          <p:cNvCxnSpPr/>
          <p:nvPr/>
        </p:nvCxnSpPr>
        <p:spPr>
          <a:xfrm>
            <a:off x="4533567" y="4869280"/>
            <a:ext cx="2464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7C8D6171-5C43-61F0-93E9-526DCA15E8CD}"/>
              </a:ext>
            </a:extLst>
          </p:cNvPr>
          <p:cNvCxnSpPr>
            <a:cxnSpLocks/>
          </p:cNvCxnSpPr>
          <p:nvPr/>
        </p:nvCxnSpPr>
        <p:spPr>
          <a:xfrm>
            <a:off x="6658479" y="4869280"/>
            <a:ext cx="356485" cy="91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18D361A2-53F9-6CE8-29A2-29831646F5C1}"/>
              </a:ext>
            </a:extLst>
          </p:cNvPr>
          <p:cNvSpPr txBox="1"/>
          <p:nvPr/>
        </p:nvSpPr>
        <p:spPr>
          <a:xfrm>
            <a:off x="514143" y="5527765"/>
            <a:ext cx="890428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600" b="1" dirty="0" err="1">
                <a:latin typeface="Aptos" panose="020B0004020202020204" pitchFamily="34" charset="0"/>
              </a:rPr>
              <a:t>Result</a:t>
            </a:r>
            <a:r>
              <a:rPr lang="de-DE" sz="1600" b="1" dirty="0">
                <a:latin typeface="Aptos" panose="020B0004020202020204" pitchFamily="34" charset="0"/>
              </a:rPr>
              <a:t>: </a:t>
            </a:r>
            <a:r>
              <a:rPr lang="de-DE" sz="1600" b="1" dirty="0" err="1">
                <a:latin typeface="Aptos" panose="020B0004020202020204" pitchFamily="34" charset="0"/>
              </a:rPr>
              <a:t>Aperiodic</a:t>
            </a:r>
            <a:r>
              <a:rPr lang="de-DE" sz="1600" b="1" dirty="0">
                <a:latin typeface="Aptos" panose="020B0004020202020204" pitchFamily="34" charset="0"/>
              </a:rPr>
              <a:t> </a:t>
            </a:r>
            <a:r>
              <a:rPr lang="de-DE" sz="1600" b="1" dirty="0" err="1">
                <a:latin typeface="Aptos" panose="020B0004020202020204" pitchFamily="34" charset="0"/>
              </a:rPr>
              <a:t>jobs</a:t>
            </a:r>
            <a:r>
              <a:rPr lang="de-DE" sz="1600" b="1" dirty="0">
                <a:latin typeface="Aptos" panose="020B0004020202020204" pitchFamily="34" charset="0"/>
              </a:rPr>
              <a:t> </a:t>
            </a:r>
            <a:r>
              <a:rPr lang="de-DE" sz="1600" b="1" dirty="0" err="1">
                <a:latin typeface="Aptos" panose="020B0004020202020204" pitchFamily="34" charset="0"/>
              </a:rPr>
              <a:t>get</a:t>
            </a:r>
            <a:r>
              <a:rPr lang="de-DE" sz="1600" b="1" dirty="0">
                <a:latin typeface="Aptos" panose="020B0004020202020204" pitchFamily="34" charset="0"/>
              </a:rPr>
              <a:t> fast </a:t>
            </a:r>
            <a:r>
              <a:rPr lang="de-DE" sz="1600" b="1" dirty="0" err="1">
                <a:latin typeface="Aptos" panose="020B0004020202020204" pitchFamily="34" charset="0"/>
              </a:rPr>
              <a:t>response</a:t>
            </a:r>
            <a:r>
              <a:rPr lang="de-DE" sz="1600" b="1" dirty="0">
                <a:latin typeface="Aptos" panose="020B0004020202020204" pitchFamily="34" charset="0"/>
              </a:rPr>
              <a:t>, but </a:t>
            </a:r>
            <a:r>
              <a:rPr lang="de-DE" sz="1600" b="1" dirty="0" err="1">
                <a:latin typeface="Aptos" panose="020B0004020202020204" pitchFamily="34" charset="0"/>
              </a:rPr>
              <a:t>cannot</a:t>
            </a:r>
            <a:r>
              <a:rPr lang="de-DE" sz="1600" b="1" dirty="0">
                <a:latin typeface="Aptos" panose="020B0004020202020204" pitchFamily="34" charset="0"/>
              </a:rPr>
              <a:t> </a:t>
            </a:r>
            <a:r>
              <a:rPr lang="de-DE" sz="1600" b="1" dirty="0" err="1">
                <a:latin typeface="Aptos" panose="020B0004020202020204" pitchFamily="34" charset="0"/>
              </a:rPr>
              <a:t>overload</a:t>
            </a:r>
            <a:r>
              <a:rPr lang="de-DE" sz="1600" b="1" dirty="0">
                <a:latin typeface="Aptos" panose="020B0004020202020204" pitchFamily="34" charset="0"/>
              </a:rPr>
              <a:t> </a:t>
            </a:r>
            <a:r>
              <a:rPr lang="de-DE" sz="1600" b="1" dirty="0" err="1">
                <a:latin typeface="Aptos" panose="020B0004020202020204" pitchFamily="34" charset="0"/>
              </a:rPr>
              <a:t>the</a:t>
            </a:r>
            <a:r>
              <a:rPr lang="de-DE" sz="1600" b="1" dirty="0">
                <a:latin typeface="Aptos" panose="020B0004020202020204" pitchFamily="34" charset="0"/>
              </a:rPr>
              <a:t> CPU</a:t>
            </a:r>
          </a:p>
        </p:txBody>
      </p:sp>
      <p:sp>
        <p:nvSpPr>
          <p:cNvPr id="3" name="Text 6">
            <a:extLst>
              <a:ext uri="{FF2B5EF4-FFF2-40B4-BE49-F238E27FC236}">
                <a16:creationId xmlns:a16="http://schemas.microsoft.com/office/drawing/2014/main" id="{1087D5E7-A6FB-4E0E-EEBB-22E7F5FE066E}"/>
              </a:ext>
            </a:extLst>
          </p:cNvPr>
          <p:cNvSpPr/>
          <p:nvPr/>
        </p:nvSpPr>
        <p:spPr>
          <a:xfrm>
            <a:off x="218248" y="647654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Sporadic Server | Faysal Ahammed Tonmoy | ID 1230473</a:t>
            </a:r>
            <a:endParaRPr lang="en-US" sz="800" dirty="0"/>
          </a:p>
        </p:txBody>
      </p:sp>
      <p:sp>
        <p:nvSpPr>
          <p:cNvPr id="4" name="Text 7">
            <a:extLst>
              <a:ext uri="{FF2B5EF4-FFF2-40B4-BE49-F238E27FC236}">
                <a16:creationId xmlns:a16="http://schemas.microsoft.com/office/drawing/2014/main" id="{739B763F-9174-5473-3AD3-E5C06DDB8CC3}"/>
              </a:ext>
            </a:extLst>
          </p:cNvPr>
          <p:cNvSpPr/>
          <p:nvPr/>
        </p:nvSpPr>
        <p:spPr>
          <a:xfrm>
            <a:off x="11081320" y="644910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ACCE33-AC92-ED49-F7BF-D9E624932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882D2-76ED-40F5-9AA8-D6B4E564DC54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055816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>
            <a:extLst>
              <a:ext uri="{FF2B5EF4-FFF2-40B4-BE49-F238E27FC236}">
                <a16:creationId xmlns:a16="http://schemas.microsoft.com/office/drawing/2014/main" id="{19FF14FE-1C85-16C5-CBE1-206D7F649296}"/>
              </a:ext>
            </a:extLst>
          </p:cNvPr>
          <p:cNvSpPr/>
          <p:nvPr/>
        </p:nvSpPr>
        <p:spPr>
          <a:xfrm>
            <a:off x="6024688" y="200732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A36"/>
                </a:solidFill>
              </a:rPr>
              <a:t>Model components</a:t>
            </a:r>
            <a:endParaRPr lang="en-US" sz="2000" dirty="0"/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93426D32-6331-D1FE-39E0-CBFD70F38631}"/>
              </a:ext>
            </a:extLst>
          </p:cNvPr>
          <p:cNvSpPr/>
          <p:nvPr/>
        </p:nvSpPr>
        <p:spPr>
          <a:xfrm>
            <a:off x="6024688" y="2466840"/>
            <a:ext cx="5257800" cy="2194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</a:rPr>
              <a:t>Clock template sends tick every time unit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</a:rPr>
              <a:t>Scheduler receives tick and performs one atomic update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</a:rPr>
              <a:t>Update handles release, arrival, budget, replenishment, deadline check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</a:rPr>
              <a:t>Priority order: periodic task &gt; Sporadic server</a:t>
            </a:r>
            <a:endParaRPr lang="en-US" sz="1700" dirty="0"/>
          </a:p>
        </p:txBody>
      </p:sp>
      <p:sp>
        <p:nvSpPr>
          <p:cNvPr id="4" name="Text 5">
            <a:extLst>
              <a:ext uri="{FF2B5EF4-FFF2-40B4-BE49-F238E27FC236}">
                <a16:creationId xmlns:a16="http://schemas.microsoft.com/office/drawing/2014/main" id="{B025A57C-F7C1-55C9-FA41-0FA3B34AEC1F}"/>
              </a:ext>
            </a:extLst>
          </p:cNvPr>
          <p:cNvSpPr/>
          <p:nvPr/>
        </p:nvSpPr>
        <p:spPr>
          <a:xfrm>
            <a:off x="6024688" y="4757468"/>
            <a:ext cx="4937760" cy="868680"/>
          </a:xfrm>
          <a:prstGeom prst="rect">
            <a:avLst/>
          </a:prstGeom>
          <a:solidFill>
            <a:srgbClr val="E8F5EF"/>
          </a:solidFill>
          <a:ln w="1270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A36"/>
                </a:solidFill>
              </a:rPr>
              <a:t>UPPAAL shows timing logic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E2A36"/>
                </a:solidFill>
              </a:rPr>
              <a:t>without needing a full RTOS implementation</a:t>
            </a:r>
            <a:endParaRPr lang="en-US" sz="1600" dirty="0"/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F32E0A78-42A6-CC36-533A-6A5B09724398}"/>
              </a:ext>
            </a:extLst>
          </p:cNvPr>
          <p:cNvSpPr/>
          <p:nvPr/>
        </p:nvSpPr>
        <p:spPr>
          <a:xfrm>
            <a:off x="218248" y="647654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Sporadic Server | Faysal Ahammed Tonmoy | ID 1230473</a:t>
            </a:r>
            <a:endParaRPr lang="en-US" sz="800" dirty="0"/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0C746E2C-89EC-3A88-4758-49ABE01220DC}"/>
              </a:ext>
            </a:extLst>
          </p:cNvPr>
          <p:cNvSpPr/>
          <p:nvPr/>
        </p:nvSpPr>
        <p:spPr>
          <a:xfrm>
            <a:off x="11081320" y="644910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28C4003-9DD0-DBA2-A633-0A1DBD65B7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888" y="1677569"/>
            <a:ext cx="4022209" cy="21937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F4D9E0D-023D-BAF6-6D05-FC3AFF6DEC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888" y="3962802"/>
            <a:ext cx="4022209" cy="220083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DF709A4-BEED-CD93-68BA-A20BA8494C24}"/>
              </a:ext>
            </a:extLst>
          </p:cNvPr>
          <p:cNvSpPr txBox="1"/>
          <p:nvPr/>
        </p:nvSpPr>
        <p:spPr>
          <a:xfrm>
            <a:off x="385888" y="816827"/>
            <a:ext cx="60945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3600" b="1" dirty="0">
                <a:latin typeface="Aptos" panose="020B0004020202020204" pitchFamily="34" charset="0"/>
              </a:rPr>
              <a:t>Main Feature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5309A0-67F8-32DA-3D6B-EBBDFB3C2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882D2-76ED-40F5-9AA8-D6B4E564DC54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551679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>
            <a:extLst>
              <a:ext uri="{FF2B5EF4-FFF2-40B4-BE49-F238E27FC236}">
                <a16:creationId xmlns:a16="http://schemas.microsoft.com/office/drawing/2014/main" id="{40B51B7B-87AB-1F81-979B-3200C4A53A95}"/>
              </a:ext>
            </a:extLst>
          </p:cNvPr>
          <p:cNvSpPr/>
          <p:nvPr/>
        </p:nvSpPr>
        <p:spPr>
          <a:xfrm>
            <a:off x="572794" y="17602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A36"/>
                </a:solidFill>
              </a:rPr>
              <a:t>Parameters</a:t>
            </a:r>
            <a:endParaRPr lang="en-US" sz="2000" dirty="0"/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EAF80B1D-0E18-1634-FDD3-47F40D8D7F41}"/>
              </a:ext>
            </a:extLst>
          </p:cNvPr>
          <p:cNvSpPr/>
          <p:nvPr/>
        </p:nvSpPr>
        <p:spPr>
          <a:xfrm>
            <a:off x="664234" y="21717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76EF1"/>
                </a:solidFill>
              </a:rPr>
              <a:t>Tp = 4</a:t>
            </a:r>
            <a:endParaRPr lang="en-US" sz="1600" dirty="0"/>
          </a:p>
        </p:txBody>
      </p:sp>
      <p:sp>
        <p:nvSpPr>
          <p:cNvPr id="4" name="Text 5">
            <a:extLst>
              <a:ext uri="{FF2B5EF4-FFF2-40B4-BE49-F238E27FC236}">
                <a16:creationId xmlns:a16="http://schemas.microsoft.com/office/drawing/2014/main" id="{26952510-1391-0749-840F-0127E01CE7A2}"/>
              </a:ext>
            </a:extLst>
          </p:cNvPr>
          <p:cNvSpPr/>
          <p:nvPr/>
        </p:nvSpPr>
        <p:spPr>
          <a:xfrm>
            <a:off x="1898674" y="21717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</a:rPr>
              <a:t>period</a:t>
            </a:r>
            <a:endParaRPr lang="en-US" sz="1600" dirty="0"/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97AB4F35-D318-A96E-AE23-FF36F8105EDB}"/>
              </a:ext>
            </a:extLst>
          </p:cNvPr>
          <p:cNvSpPr/>
          <p:nvPr/>
        </p:nvSpPr>
        <p:spPr>
          <a:xfrm>
            <a:off x="664234" y="25831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76EF1"/>
                </a:solidFill>
              </a:rPr>
              <a:t>Cp = 1</a:t>
            </a:r>
            <a:endParaRPr lang="en-US" sz="1600" dirty="0"/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B272A2C0-D764-F369-2763-0CA27B8679B8}"/>
              </a:ext>
            </a:extLst>
          </p:cNvPr>
          <p:cNvSpPr/>
          <p:nvPr/>
        </p:nvSpPr>
        <p:spPr>
          <a:xfrm>
            <a:off x="1898674" y="25831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</a:rPr>
              <a:t>periodic execution</a:t>
            </a:r>
            <a:endParaRPr lang="en-US" sz="1600" dirty="0"/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8C990B7A-AAB4-1D34-0E92-2CC90F436282}"/>
              </a:ext>
            </a:extLst>
          </p:cNvPr>
          <p:cNvSpPr/>
          <p:nvPr/>
        </p:nvSpPr>
        <p:spPr>
          <a:xfrm>
            <a:off x="664234" y="29946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76EF1"/>
                </a:solidFill>
              </a:rPr>
              <a:t>Dp = 4</a:t>
            </a:r>
            <a:endParaRPr lang="en-US" sz="1600" dirty="0"/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A6D4FD87-D5A8-511C-0A02-AEEA1ED8AB47}"/>
              </a:ext>
            </a:extLst>
          </p:cNvPr>
          <p:cNvSpPr/>
          <p:nvPr/>
        </p:nvSpPr>
        <p:spPr>
          <a:xfrm>
            <a:off x="1898674" y="29946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</a:rPr>
              <a:t>deadline</a:t>
            </a:r>
            <a:endParaRPr lang="en-US" sz="1600" dirty="0"/>
          </a:p>
        </p:txBody>
      </p:sp>
      <p:sp>
        <p:nvSpPr>
          <p:cNvPr id="9" name="Text 10">
            <a:extLst>
              <a:ext uri="{FF2B5EF4-FFF2-40B4-BE49-F238E27FC236}">
                <a16:creationId xmlns:a16="http://schemas.microsoft.com/office/drawing/2014/main" id="{2F258DB0-E652-8230-8B3C-3320321EC973}"/>
              </a:ext>
            </a:extLst>
          </p:cNvPr>
          <p:cNvSpPr/>
          <p:nvPr/>
        </p:nvSpPr>
        <p:spPr>
          <a:xfrm>
            <a:off x="664234" y="34061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76EF1"/>
                </a:solidFill>
              </a:rPr>
              <a:t>Cs = 2</a:t>
            </a:r>
            <a:endParaRPr lang="en-US" sz="1600" dirty="0"/>
          </a:p>
        </p:txBody>
      </p:sp>
      <p:sp>
        <p:nvSpPr>
          <p:cNvPr id="10" name="Text 11">
            <a:extLst>
              <a:ext uri="{FF2B5EF4-FFF2-40B4-BE49-F238E27FC236}">
                <a16:creationId xmlns:a16="http://schemas.microsoft.com/office/drawing/2014/main" id="{E80ACC5A-E354-07BA-B46D-FD73AD946223}"/>
              </a:ext>
            </a:extLst>
          </p:cNvPr>
          <p:cNvSpPr/>
          <p:nvPr/>
        </p:nvSpPr>
        <p:spPr>
          <a:xfrm>
            <a:off x="1898674" y="34061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</a:rPr>
              <a:t>server budget</a:t>
            </a:r>
            <a:endParaRPr lang="en-US" sz="1600" dirty="0"/>
          </a:p>
        </p:txBody>
      </p:sp>
      <p:sp>
        <p:nvSpPr>
          <p:cNvPr id="11" name="Text 12">
            <a:extLst>
              <a:ext uri="{FF2B5EF4-FFF2-40B4-BE49-F238E27FC236}">
                <a16:creationId xmlns:a16="http://schemas.microsoft.com/office/drawing/2014/main" id="{FFEE570A-579F-8A4B-1DE7-D03975CD1BB7}"/>
              </a:ext>
            </a:extLst>
          </p:cNvPr>
          <p:cNvSpPr/>
          <p:nvPr/>
        </p:nvSpPr>
        <p:spPr>
          <a:xfrm>
            <a:off x="664234" y="38176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76EF1"/>
                </a:solidFill>
              </a:rPr>
              <a:t>Ts = 5</a:t>
            </a:r>
            <a:endParaRPr lang="en-US" sz="1600" dirty="0"/>
          </a:p>
        </p:txBody>
      </p:sp>
      <p:sp>
        <p:nvSpPr>
          <p:cNvPr id="12" name="Text 13">
            <a:extLst>
              <a:ext uri="{FF2B5EF4-FFF2-40B4-BE49-F238E27FC236}">
                <a16:creationId xmlns:a16="http://schemas.microsoft.com/office/drawing/2014/main" id="{A6F319DB-FE70-7B97-F2F0-9EA87B310580}"/>
              </a:ext>
            </a:extLst>
          </p:cNvPr>
          <p:cNvSpPr/>
          <p:nvPr/>
        </p:nvSpPr>
        <p:spPr>
          <a:xfrm>
            <a:off x="1898674" y="38176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</a:rPr>
              <a:t>replenishment</a:t>
            </a:r>
            <a:endParaRPr lang="en-US" sz="1600" dirty="0"/>
          </a:p>
        </p:txBody>
      </p:sp>
      <p:sp>
        <p:nvSpPr>
          <p:cNvPr id="13" name="Text 14">
            <a:extLst>
              <a:ext uri="{FF2B5EF4-FFF2-40B4-BE49-F238E27FC236}">
                <a16:creationId xmlns:a16="http://schemas.microsoft.com/office/drawing/2014/main" id="{97847B93-3861-B3ED-D0BE-24F3A39B4DFB}"/>
              </a:ext>
            </a:extLst>
          </p:cNvPr>
          <p:cNvSpPr/>
          <p:nvPr/>
        </p:nvSpPr>
        <p:spPr>
          <a:xfrm>
            <a:off x="664234" y="42291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76EF1"/>
                </a:solidFill>
              </a:rPr>
              <a:t>QMAX = 3</a:t>
            </a:r>
            <a:endParaRPr lang="en-US" sz="1600" dirty="0"/>
          </a:p>
        </p:txBody>
      </p:sp>
      <p:sp>
        <p:nvSpPr>
          <p:cNvPr id="14" name="Text 15">
            <a:extLst>
              <a:ext uri="{FF2B5EF4-FFF2-40B4-BE49-F238E27FC236}">
                <a16:creationId xmlns:a16="http://schemas.microsoft.com/office/drawing/2014/main" id="{3207BB8C-1E07-632A-CF82-BD89A493B0B0}"/>
              </a:ext>
            </a:extLst>
          </p:cNvPr>
          <p:cNvSpPr/>
          <p:nvPr/>
        </p:nvSpPr>
        <p:spPr>
          <a:xfrm>
            <a:off x="1898674" y="42291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</a:rPr>
              <a:t>queue bound</a:t>
            </a:r>
            <a:endParaRPr lang="en-US" sz="1600" dirty="0"/>
          </a:p>
        </p:txBody>
      </p:sp>
      <p:sp>
        <p:nvSpPr>
          <p:cNvPr id="15" name="Text 16">
            <a:extLst>
              <a:ext uri="{FF2B5EF4-FFF2-40B4-BE49-F238E27FC236}">
                <a16:creationId xmlns:a16="http://schemas.microsoft.com/office/drawing/2014/main" id="{33CF4D02-2F6B-108E-63E0-11E2CEC52BD8}"/>
              </a:ext>
            </a:extLst>
          </p:cNvPr>
          <p:cNvSpPr/>
          <p:nvPr/>
        </p:nvSpPr>
        <p:spPr>
          <a:xfrm>
            <a:off x="5821968" y="21717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A36"/>
                </a:solidFill>
              </a:rPr>
              <a:t>Queries / checks</a:t>
            </a:r>
            <a:endParaRPr lang="en-US" sz="2000" dirty="0"/>
          </a:p>
        </p:txBody>
      </p:sp>
      <p:sp>
        <p:nvSpPr>
          <p:cNvPr id="16" name="Text 17">
            <a:extLst>
              <a:ext uri="{FF2B5EF4-FFF2-40B4-BE49-F238E27FC236}">
                <a16:creationId xmlns:a16="http://schemas.microsoft.com/office/drawing/2014/main" id="{4141EB00-3E92-6208-F320-B99C7FB4BB72}"/>
              </a:ext>
            </a:extLst>
          </p:cNvPr>
          <p:cNvSpPr/>
          <p:nvPr/>
        </p:nvSpPr>
        <p:spPr>
          <a:xfrm>
            <a:off x="5890979" y="2626614"/>
            <a:ext cx="5303520" cy="2651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</a:rPr>
              <a:t>Budget stays within valid bounds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</a:rPr>
              <a:t>Periodic task never misses deadline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</a:rPr>
              <a:t>Aperiodic queue remains bounded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</a:rPr>
              <a:t>Server becomes active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</a:rPr>
              <a:t>Budget can be exhausted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</a:rPr>
              <a:t>All modeled aperiodic jobs can be served</a:t>
            </a:r>
            <a:endParaRPr lang="en-US" sz="1700" dirty="0"/>
          </a:p>
        </p:txBody>
      </p:sp>
      <p:sp>
        <p:nvSpPr>
          <p:cNvPr id="17" name="Text 18">
            <a:extLst>
              <a:ext uri="{FF2B5EF4-FFF2-40B4-BE49-F238E27FC236}">
                <a16:creationId xmlns:a16="http://schemas.microsoft.com/office/drawing/2014/main" id="{8800CF79-1E6D-33A9-C00A-FB120BCFB8D7}"/>
              </a:ext>
            </a:extLst>
          </p:cNvPr>
          <p:cNvSpPr/>
          <p:nvPr/>
        </p:nvSpPr>
        <p:spPr>
          <a:xfrm>
            <a:off x="2713008" y="5026914"/>
            <a:ext cx="6217920" cy="502920"/>
          </a:xfrm>
          <a:prstGeom prst="rect">
            <a:avLst/>
          </a:prstGeom>
          <a:solidFill>
            <a:srgbClr val="FEE4E2"/>
          </a:solidFill>
          <a:ln w="1270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A36"/>
                </a:solidFill>
              </a:rPr>
              <a:t>Most important query: A[] not miss</a:t>
            </a:r>
            <a:endParaRPr lang="en-US" sz="1800" dirty="0"/>
          </a:p>
        </p:txBody>
      </p:sp>
      <p:sp>
        <p:nvSpPr>
          <p:cNvPr id="18" name="Text 19">
            <a:extLst>
              <a:ext uri="{FF2B5EF4-FFF2-40B4-BE49-F238E27FC236}">
                <a16:creationId xmlns:a16="http://schemas.microsoft.com/office/drawing/2014/main" id="{188EAB11-08E2-7586-F6CF-F28501CA9DE2}"/>
              </a:ext>
            </a:extLst>
          </p:cNvPr>
          <p:cNvSpPr/>
          <p:nvPr/>
        </p:nvSpPr>
        <p:spPr>
          <a:xfrm>
            <a:off x="218248" y="651052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Sporadic Server | Faysal Ahammed Tonmoy | ID 1230473</a:t>
            </a:r>
            <a:endParaRPr lang="en-US" sz="8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90686B0-AC0C-0005-9031-B966FF4CC552}"/>
              </a:ext>
            </a:extLst>
          </p:cNvPr>
          <p:cNvSpPr txBox="1"/>
          <p:nvPr/>
        </p:nvSpPr>
        <p:spPr>
          <a:xfrm>
            <a:off x="468845" y="780133"/>
            <a:ext cx="103486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1E2A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Parameters and Properties</a:t>
            </a:r>
            <a:endParaRPr lang="en-US" sz="3600" dirty="0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38F6979D-665F-053C-474A-68BD2075A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882D2-76ED-40F5-9AA8-D6B4E564DC54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894498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0">
            <a:extLst>
              <a:ext uri="{FF2B5EF4-FFF2-40B4-BE49-F238E27FC236}">
                <a16:creationId xmlns:a16="http://schemas.microsoft.com/office/drawing/2014/main" id="{B048DBCB-E356-DB08-F320-D9EA23A9D9A4}"/>
              </a:ext>
            </a:extLst>
          </p:cNvPr>
          <p:cNvSpPr/>
          <p:nvPr/>
        </p:nvSpPr>
        <p:spPr>
          <a:xfrm>
            <a:off x="515112" y="95352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A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Critical Evaluation and Final Message</a:t>
            </a:r>
            <a:endParaRPr lang="en-US" sz="3600" dirty="0"/>
          </a:p>
        </p:txBody>
      </p:sp>
      <p:sp>
        <p:nvSpPr>
          <p:cNvPr id="15" name="Text 1">
            <a:extLst>
              <a:ext uri="{FF2B5EF4-FFF2-40B4-BE49-F238E27FC236}">
                <a16:creationId xmlns:a16="http://schemas.microsoft.com/office/drawing/2014/main" id="{CB6F1D0E-9FC7-7CED-A575-22E26B35BB60}"/>
              </a:ext>
            </a:extLst>
          </p:cNvPr>
          <p:cNvSpPr/>
          <p:nvPr/>
        </p:nvSpPr>
        <p:spPr>
          <a:xfrm>
            <a:off x="521208" y="8503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DB423269-636C-D120-2CA7-D51F083B34A3}"/>
              </a:ext>
            </a:extLst>
          </p:cNvPr>
          <p:cNvSpPr/>
          <p:nvPr/>
        </p:nvSpPr>
        <p:spPr>
          <a:xfrm>
            <a:off x="899161" y="2179894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7A5B"/>
                </a:solidFill>
              </a:rPr>
              <a:t>Advantages</a:t>
            </a:r>
            <a:endParaRPr lang="en-US" sz="2100" dirty="0"/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EAC39A5B-17E3-9147-E0A7-2E1571C2FA74}"/>
              </a:ext>
            </a:extLst>
          </p:cNvPr>
          <p:cNvSpPr/>
          <p:nvPr/>
        </p:nvSpPr>
        <p:spPr>
          <a:xfrm>
            <a:off x="822960" y="2656849"/>
            <a:ext cx="512064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</a:rPr>
              <a:t>Better response than background scheduling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</a:rPr>
              <a:t>Protects periodic hard tasks using bounded budget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</a:rPr>
              <a:t>Analyzable with Cs and Ts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</a:rPr>
              <a:t>Good for bounded irregular events</a:t>
            </a:r>
            <a:endParaRPr lang="en-US" sz="1700" dirty="0"/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CF230976-76E7-F755-6357-BF1E038788A9}"/>
              </a:ext>
            </a:extLst>
          </p:cNvPr>
          <p:cNvSpPr/>
          <p:nvPr/>
        </p:nvSpPr>
        <p:spPr>
          <a:xfrm>
            <a:off x="6327648" y="216941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B42318"/>
                </a:solidFill>
              </a:rPr>
              <a:t>Limitations</a:t>
            </a:r>
            <a:endParaRPr lang="en-US" sz="2100" dirty="0"/>
          </a:p>
        </p:txBody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CEC8C3D5-4630-2044-759F-B4FCBC52CF79}"/>
              </a:ext>
            </a:extLst>
          </p:cNvPr>
          <p:cNvSpPr/>
          <p:nvPr/>
        </p:nvSpPr>
        <p:spPr>
          <a:xfrm>
            <a:off x="6327648" y="2619755"/>
            <a:ext cx="516636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</a:rPr>
              <a:t>Needs accurate timer and budget accounting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</a:rPr>
              <a:t>More scheduler bookkeeping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</a:rPr>
              <a:t>Does not solve continuous overload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</a:rPr>
              <a:t>Shared resources need extra protocols</a:t>
            </a:r>
            <a:endParaRPr lang="en-US" sz="1700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7B2250A3-B89D-A933-A670-36B87E28E243}"/>
              </a:ext>
            </a:extLst>
          </p:cNvPr>
          <p:cNvSpPr/>
          <p:nvPr/>
        </p:nvSpPr>
        <p:spPr>
          <a:xfrm>
            <a:off x="868680" y="4917188"/>
            <a:ext cx="10149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7085"/>
                </a:solidFill>
              </a:rPr>
              <a:t>Core references: Sprunt, Sha &amp; Lehoczky (1989); Buttazzo (2011).</a:t>
            </a:r>
            <a:endParaRPr lang="en-US" sz="1100" dirty="0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6D5F4E7F-15F7-188D-D301-58C6FA66FD91}"/>
              </a:ext>
            </a:extLst>
          </p:cNvPr>
          <p:cNvSpPr/>
          <p:nvPr/>
        </p:nvSpPr>
        <p:spPr>
          <a:xfrm>
            <a:off x="330392" y="649224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Sporadic Server | Faysal Ahammed Tonmoy | ID 1230473</a:t>
            </a:r>
            <a:endParaRPr lang="en-US" sz="8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A502608-1740-C142-1EA4-344DEA3D2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882D2-76ED-40F5-9AA8-D6B4E564DC54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588435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7692A51-F48B-97C7-BA06-B4775CADCAF5}"/>
              </a:ext>
            </a:extLst>
          </p:cNvPr>
          <p:cNvSpPr txBox="1"/>
          <p:nvPr/>
        </p:nvSpPr>
        <p:spPr>
          <a:xfrm>
            <a:off x="2719478" y="3105834"/>
            <a:ext cx="60945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latin typeface="Aptos" panose="020B0004020202020204" pitchFamily="34" charset="0"/>
              </a:rPr>
              <a:t>Thank you for your attention</a:t>
            </a:r>
            <a:endParaRPr lang="de-DE" sz="3600" b="1" dirty="0">
              <a:latin typeface="Aptos" panose="020B0004020202020204" pitchFamily="34" charset="0"/>
            </a:endParaRPr>
          </a:p>
        </p:txBody>
      </p:sp>
      <p:sp>
        <p:nvSpPr>
          <p:cNvPr id="4" name="Text 9">
            <a:extLst>
              <a:ext uri="{FF2B5EF4-FFF2-40B4-BE49-F238E27FC236}">
                <a16:creationId xmlns:a16="http://schemas.microsoft.com/office/drawing/2014/main" id="{17B31FC0-646F-9198-9615-19056715A68E}"/>
              </a:ext>
            </a:extLst>
          </p:cNvPr>
          <p:cNvSpPr/>
          <p:nvPr/>
        </p:nvSpPr>
        <p:spPr>
          <a:xfrm>
            <a:off x="339018" y="649224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Sporadic Server | Faysal Ahammed Tonmoy | ID 1230473</a:t>
            </a:r>
            <a:endParaRPr lang="en-US" sz="8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31615DE-B49A-19C1-7328-D95344966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882D2-76ED-40F5-9AA8-D6B4E564DC54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908818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Eki-ProjektMeeting.potx" id="{E3380594-1F68-41BF-B00D-D278C55573EE}" vid="{1F2C3E56-6124-438B-95EF-9390E48F948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</Template>
  <TotalTime>0</TotalTime>
  <Words>581</Words>
  <Application>Microsoft Office PowerPoint</Application>
  <PresentationFormat>Widescreen</PresentationFormat>
  <Paragraphs>125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Source Sans Pro</vt:lpstr>
      <vt:lpstr>Office-Design</vt:lpstr>
      <vt:lpstr>PowerPoint Presentation</vt:lpstr>
      <vt:lpstr>What is a Real-Time System? </vt:lpstr>
      <vt:lpstr>PowerPoint Presentation</vt:lpstr>
      <vt:lpstr>PowerPoint Presentation</vt:lpstr>
      <vt:lpstr>PowerPoint Presentation</vt:lpstr>
      <vt:lpstr>Budget Replenishment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Scalora, Giuseppe</dc:creator>
  <cp:lastModifiedBy>Faysal Tonmoy</cp:lastModifiedBy>
  <cp:revision>20</cp:revision>
  <dcterms:created xsi:type="dcterms:W3CDTF">2025-03-17T09:02:15Z</dcterms:created>
  <dcterms:modified xsi:type="dcterms:W3CDTF">2026-06-22T09:32:27Z</dcterms:modified>
</cp:coreProperties>
</file>