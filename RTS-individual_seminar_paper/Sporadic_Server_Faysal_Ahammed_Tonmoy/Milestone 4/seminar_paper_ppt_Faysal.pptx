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10"/>
  </p:normalViewPr>
  <p:slideViewPr>
    <p:cSldViewPr snapToGrid="0" snapToObjects="1">
      <p:cViewPr>
        <p:scale>
          <a:sx n="77" d="100"/>
          <a:sy n="77" d="100"/>
        </p:scale>
        <p:origin x="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31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Sporadic Server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2057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064050"/>
            <a:ext cx="5303520" cy="0"/>
          </a:xfrm>
          <a:prstGeom prst="line">
            <a:avLst/>
          </a:prstGeom>
          <a:noFill/>
          <a:ln w="381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53035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Faysal Ahammed Tonmoy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Student ID: 1230473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65992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B98DF0-B127-0CB0-47E8-C3BC32EFA491}"/>
              </a:ext>
            </a:extLst>
          </p:cNvPr>
          <p:cNvSpPr txBox="1"/>
          <p:nvPr/>
        </p:nvSpPr>
        <p:spPr>
          <a:xfrm>
            <a:off x="587584" y="2347622"/>
            <a:ext cx="43141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111827"/>
                </a:solidFill>
              </a:rPr>
              <a:t>Real-Time Systems </a:t>
            </a:r>
            <a:endParaRPr lang="en-US" sz="2400" b="1" dirty="0"/>
          </a:p>
          <a:p>
            <a:r>
              <a:rPr lang="en-US" sz="2400" b="1" dirty="0">
                <a:solidFill>
                  <a:srgbClr val="111827"/>
                </a:solidFill>
              </a:rPr>
              <a:t>Hochschule Hamm-Lippstadt</a:t>
            </a:r>
            <a:endParaRPr lang="en-US" sz="2400" b="1" dirty="0"/>
          </a:p>
          <a:p>
            <a:endParaRPr lang="de-DE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Real-Time System?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3774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Correct result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1874520"/>
            <a:ext cx="548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36"/>
                </a:solidFill>
              </a:rPr>
              <a:t>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60520" y="1828800"/>
            <a:ext cx="237744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Correct time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20840" y="1874520"/>
            <a:ext cx="548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36"/>
                </a:solidFill>
              </a:rPr>
              <a:t>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0" y="1737360"/>
            <a:ext cx="3017520" cy="777240"/>
          </a:xfrm>
          <a:prstGeom prst="rect">
            <a:avLst/>
          </a:prstGeom>
          <a:solidFill>
            <a:srgbClr val="E8F5E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Valid real-time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behavior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6"/>
                </a:solidFill>
              </a:rPr>
              <a:t>A late correct result can still be a system failure.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100584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Braking decision: correct but too late is unsafe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Motor control: late update can destabilize the system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Alarm handling: timing decides whether reaction is useful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365992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a Sporadic Server Needed?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926080" cy="91440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Periodic hard tasks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regular + deadlines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17720" y="1645920"/>
            <a:ext cx="2926080" cy="91440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Aperiodic requests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irregular + need response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58200" y="1645920"/>
            <a:ext cx="2926080" cy="914400"/>
          </a:xfrm>
          <a:prstGeom prst="rect">
            <a:avLst/>
          </a:prstGeom>
          <a:solidFill>
            <a:srgbClr val="FEE4E2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Scheduling conflict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fast vs. safe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49040" y="2103120"/>
            <a:ext cx="6858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7635240" y="2103120"/>
            <a:ext cx="6858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36"/>
                </a:solidFill>
              </a:rPr>
              <a:t>Two naive choices are not enough: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56692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Background only: safe but slow response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Uncontrolled high priority: fast but can break deadlines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36"/>
                </a:solidFill>
              </a:rPr>
              <a:t>Need: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132320" y="3657600"/>
            <a:ext cx="3840480" cy="1005840"/>
          </a:xfrm>
          <a:prstGeom prst="rect">
            <a:avLst/>
          </a:prstGeom>
          <a:solidFill>
            <a:srgbClr val="E8F5E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Controlled service for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aperiodic jobs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365992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Sporadic Server?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237744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Server capacity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37744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Replenishment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period 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2377440" cy="86868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Aperiodic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queue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49040" y="1554480"/>
            <a:ext cx="73152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The Sporadic Server gives aperiodic jobs a limited CPU budget.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If budget is available, an aperiodic job can run at server priority. If the budget is exhausted, the job waits until the consumed capacity is replenished later.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490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6"/>
                </a:solidFill>
              </a:rPr>
              <a:t>One-line idea: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4343400"/>
            <a:ext cx="7223760" cy="685800"/>
          </a:xfrm>
          <a:prstGeom prst="rect">
            <a:avLst/>
          </a:prstGeom>
          <a:solidFill>
            <a:srgbClr val="E8F5E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6"/>
                </a:solidFill>
              </a:rPr>
              <a:t>Controlled CPU wallet for irregular jobs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49040" y="5257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Based on Sprunt, Sha, and Lehoczky; explained in Buttazzo as a fixed-priority server.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65992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Behaviour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69164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Aperiodic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job arrives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965960"/>
            <a:ext cx="16916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Server checks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budget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965960"/>
            <a:ext cx="1691640" cy="868680"/>
          </a:xfrm>
          <a:prstGeom prst="rect">
            <a:avLst/>
          </a:prstGeom>
          <a:solidFill>
            <a:srgbClr val="E8F5E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Budget &gt; 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job runs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965960"/>
            <a:ext cx="1691640" cy="86868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Budget decreases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Cs → Cs−1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52560" y="1965960"/>
            <a:ext cx="1691640" cy="868680"/>
          </a:xfrm>
          <a:prstGeom prst="rect">
            <a:avLst/>
          </a:prstGeom>
          <a:solidFill>
            <a:srgbClr val="FEE4E2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Budget = 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36"/>
                </a:solidFill>
              </a:rPr>
              <a:t>job waits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31720" y="2395728"/>
            <a:ext cx="34747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434840" y="2395728"/>
            <a:ext cx="34747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537960" y="2395728"/>
            <a:ext cx="34747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641080" y="2395728"/>
            <a:ext cx="34747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9893808" y="2944368"/>
            <a:ext cx="0" cy="1417320"/>
          </a:xfrm>
          <a:prstGeom prst="line">
            <a:avLst/>
          </a:prstGeom>
          <a:noFill/>
          <a:ln w="19050">
            <a:solidFill>
              <a:srgbClr val="276EF1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749040" y="4434840"/>
            <a:ext cx="502920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Later: consumed capacity is replenished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Periodic hard task has priority over the server.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UPPAAL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621792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6"/>
                </a:solidFill>
              </a:rPr>
              <a:t>Model components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2578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Clock template sends tick every time unit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Scheduler receives tick and performs one atomic update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Update handles release, arrival, budget, replenishment, deadline check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Priority order: periodic task &gt; Sporadic Server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309360" y="4800600"/>
            <a:ext cx="4937760" cy="868680"/>
          </a:xfrm>
          <a:prstGeom prst="rect">
            <a:avLst/>
          </a:prstGeom>
          <a:solidFill>
            <a:srgbClr val="E8F5E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36"/>
                </a:solidFill>
              </a:rPr>
              <a:t>UPPAAL shows timing logic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A36"/>
                </a:solidFill>
              </a:rPr>
              <a:t>without needing a full RTOS implementation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65992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A1A33B-2463-F517-7A81-3A513409D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1" y="1362569"/>
            <a:ext cx="4461748" cy="24334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15D1F1-D412-18F0-17AB-804A4BE10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3886202"/>
            <a:ext cx="4461748" cy="24413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Parameters and Verified Properties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6"/>
                </a:solidFill>
              </a:rPr>
              <a:t>Parameters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Tp = 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4884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period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Cp =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periodic execution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Dp = 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884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deadline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Cs =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server budget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Ts = 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4884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replenishment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EF1"/>
                </a:solidFill>
              </a:rPr>
              <a:t>QMAX =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4884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queue bound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6"/>
                </a:solidFill>
              </a:rPr>
              <a:t>Queries / checks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80760" y="1874520"/>
            <a:ext cx="530352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Budget stays within valid bounds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Periodic task never misses deadline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Aperiodic queue remains bounded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Server becomes active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Budget can be exhausted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All modeled aperiodic jobs can be served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926080" y="5532120"/>
            <a:ext cx="6217920" cy="502920"/>
          </a:xfrm>
          <a:prstGeom prst="rect">
            <a:avLst/>
          </a:prstGeom>
          <a:solidFill>
            <a:srgbClr val="FEE4E2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Most important query: A[] not miss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65992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with Other Approaches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148840" cy="521208"/>
          </a:xfrm>
          <a:prstGeom prst="rect">
            <a:avLst/>
          </a:prstGeom>
          <a:solidFill>
            <a:srgbClr val="1E2A36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Approach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88920" y="1417320"/>
            <a:ext cx="3840480" cy="521208"/>
          </a:xfrm>
          <a:prstGeom prst="rect">
            <a:avLst/>
          </a:prstGeom>
          <a:solidFill>
            <a:srgbClr val="1E2A36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Main idea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29400" y="1417320"/>
            <a:ext cx="4206240" cy="521208"/>
          </a:xfrm>
          <a:prstGeom prst="rect">
            <a:avLst/>
          </a:prstGeom>
          <a:solidFill>
            <a:srgbClr val="1E2A36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Weakness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214884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1938528"/>
            <a:ext cx="384048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Idle time only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938528"/>
            <a:ext cx="420624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Slow response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59736"/>
            <a:ext cx="21488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Polling 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2459736"/>
            <a:ext cx="3840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Periodic check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2459736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Capacity wasted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80944"/>
            <a:ext cx="214884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Deferrable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980944"/>
            <a:ext cx="384048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Preserve capacity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2980944"/>
            <a:ext cx="420624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More interference risk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502152"/>
            <a:ext cx="21488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Sporadic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88920" y="3502152"/>
            <a:ext cx="3840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Delayed replenishment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502152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More bookkeeping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214884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Slack Stealing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88920" y="4023360"/>
            <a:ext cx="384048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Use available slack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4023360"/>
            <a:ext cx="420624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Complex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65992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 Evaluation and Final Message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7A5B"/>
                </a:solidFill>
              </a:rPr>
              <a:t>Advantages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51206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Better response than background scheduling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Protects periodic hard tasks using bounded budget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Analyzable with Cs and Ts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Good for bounded irregular events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42318"/>
                </a:solidFill>
              </a:rPr>
              <a:t>Limitations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355080" y="1874520"/>
            <a:ext cx="51663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Needs accurate timer and budget accounting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More scheduler bookkeeping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Does not solve continuous overload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Shared resources need extra protocols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10424160" cy="822960"/>
          </a:xfrm>
          <a:prstGeom prst="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36"/>
                </a:solidFill>
              </a:rPr>
              <a:t>Final conclusion: Sporadic Server is strong for predictable systems with bounded aperiodic events, but not a universal solution.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Core references: Sprunt, Sha &amp; Lehoczky (1989); Buttazzo (2011).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Sporadic Server | Faysal Ahammed Tonmoy | ID 1230473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65992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39C694-5AAD-8314-B147-D8399FEEDF61}"/>
              </a:ext>
            </a:extLst>
          </p:cNvPr>
          <p:cNvSpPr txBox="1"/>
          <p:nvPr/>
        </p:nvSpPr>
        <p:spPr>
          <a:xfrm>
            <a:off x="4224750" y="2842953"/>
            <a:ext cx="37424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2">
                    <a:lumMod val="75000"/>
                  </a:schemeClr>
                </a:solidFill>
              </a:rPr>
              <a:t>Thank You</a:t>
            </a:r>
            <a:endParaRPr lang="de-DE" sz="6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058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Office PowerPoint</Application>
  <PresentationFormat>Widescreen</PresentationFormat>
  <Paragraphs>145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Hochschule Hamm-Lippstadt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Sporadic Server</dc:title>
  <dc:subject>Sporadic Server Seminar Presentation</dc:subject>
  <dc:creator>Faysal Ahammed Tonmoy</dc:creator>
  <cp:lastModifiedBy>Faysal Tonmoy</cp:lastModifiedBy>
  <cp:revision>2</cp:revision>
  <dcterms:created xsi:type="dcterms:W3CDTF">2026-06-14T12:41:20Z</dcterms:created>
  <dcterms:modified xsi:type="dcterms:W3CDTF">2026-06-14T12:53:46Z</dcterms:modified>
</cp:coreProperties>
</file>