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2.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00" r:id="rId1"/>
  </p:sldMasterIdLst>
  <p:notesMasterIdLst>
    <p:notesMasterId r:id="rId15"/>
  </p:notesMasterIdLst>
  <p:handoutMasterIdLst>
    <p:handoutMasterId r:id="rId16"/>
  </p:handoutMasterIdLst>
  <p:sldIdLst>
    <p:sldId id="257" r:id="rId2"/>
    <p:sldId id="259" r:id="rId3"/>
    <p:sldId id="258" r:id="rId4"/>
    <p:sldId id="271" r:id="rId5"/>
    <p:sldId id="272" r:id="rId6"/>
    <p:sldId id="273" r:id="rId7"/>
    <p:sldId id="274" r:id="rId8"/>
    <p:sldId id="261" r:id="rId9"/>
    <p:sldId id="275" r:id="rId10"/>
    <p:sldId id="276" r:id="rId11"/>
    <p:sldId id="277" r:id="rId12"/>
    <p:sldId id="267" r:id="rId13"/>
    <p:sldId id="268" r:id="rId14"/>
  </p:sldIdLst>
  <p:sldSz cx="9144000" cy="6858000" type="screen4x3"/>
  <p:notesSz cx="6797675" cy="9926638"/>
  <p:defaultTextStyle>
    <a:defPPr>
      <a:defRPr lang="de-DE"/>
    </a:defPPr>
    <a:lvl1pPr algn="l" rtl="0" fontAlgn="base">
      <a:lnSpc>
        <a:spcPts val="1700"/>
      </a:lnSpc>
      <a:spcBef>
        <a:spcPct val="0"/>
      </a:spcBef>
      <a:spcAft>
        <a:spcPts val="300"/>
      </a:spcAft>
      <a:buClr>
        <a:schemeClr val="tx2"/>
      </a:buClr>
      <a:buSzPct val="70000"/>
      <a:buFont typeface="Arial" charset="0"/>
      <a:defRPr sz="1600" kern="1200">
        <a:solidFill>
          <a:schemeClr val="bg2"/>
        </a:solidFill>
        <a:latin typeface="Arial" charset="0"/>
        <a:ea typeface="+mn-ea"/>
        <a:cs typeface="+mn-cs"/>
      </a:defRPr>
    </a:lvl1pPr>
    <a:lvl2pPr marL="457200" algn="l" rtl="0" fontAlgn="base">
      <a:lnSpc>
        <a:spcPts val="1700"/>
      </a:lnSpc>
      <a:spcBef>
        <a:spcPct val="0"/>
      </a:spcBef>
      <a:spcAft>
        <a:spcPts val="300"/>
      </a:spcAft>
      <a:buClr>
        <a:schemeClr val="tx2"/>
      </a:buClr>
      <a:buSzPct val="70000"/>
      <a:buFont typeface="Arial" charset="0"/>
      <a:defRPr sz="1600" kern="1200">
        <a:solidFill>
          <a:schemeClr val="bg2"/>
        </a:solidFill>
        <a:latin typeface="Arial" charset="0"/>
        <a:ea typeface="+mn-ea"/>
        <a:cs typeface="+mn-cs"/>
      </a:defRPr>
    </a:lvl2pPr>
    <a:lvl3pPr marL="914400" algn="l" rtl="0" fontAlgn="base">
      <a:lnSpc>
        <a:spcPts val="1700"/>
      </a:lnSpc>
      <a:spcBef>
        <a:spcPct val="0"/>
      </a:spcBef>
      <a:spcAft>
        <a:spcPts val="300"/>
      </a:spcAft>
      <a:buClr>
        <a:schemeClr val="tx2"/>
      </a:buClr>
      <a:buSzPct val="70000"/>
      <a:buFont typeface="Arial" charset="0"/>
      <a:defRPr sz="1600" kern="1200">
        <a:solidFill>
          <a:schemeClr val="bg2"/>
        </a:solidFill>
        <a:latin typeface="Arial" charset="0"/>
        <a:ea typeface="+mn-ea"/>
        <a:cs typeface="+mn-cs"/>
      </a:defRPr>
    </a:lvl3pPr>
    <a:lvl4pPr marL="1371600" algn="l" rtl="0" fontAlgn="base">
      <a:lnSpc>
        <a:spcPts val="1700"/>
      </a:lnSpc>
      <a:spcBef>
        <a:spcPct val="0"/>
      </a:spcBef>
      <a:spcAft>
        <a:spcPts val="300"/>
      </a:spcAft>
      <a:buClr>
        <a:schemeClr val="tx2"/>
      </a:buClr>
      <a:buSzPct val="70000"/>
      <a:buFont typeface="Arial" charset="0"/>
      <a:defRPr sz="1600" kern="1200">
        <a:solidFill>
          <a:schemeClr val="bg2"/>
        </a:solidFill>
        <a:latin typeface="Arial" charset="0"/>
        <a:ea typeface="+mn-ea"/>
        <a:cs typeface="+mn-cs"/>
      </a:defRPr>
    </a:lvl4pPr>
    <a:lvl5pPr marL="1828800" algn="l" rtl="0" fontAlgn="base">
      <a:lnSpc>
        <a:spcPts val="1700"/>
      </a:lnSpc>
      <a:spcBef>
        <a:spcPct val="0"/>
      </a:spcBef>
      <a:spcAft>
        <a:spcPts val="300"/>
      </a:spcAft>
      <a:buClr>
        <a:schemeClr val="tx2"/>
      </a:buClr>
      <a:buSzPct val="70000"/>
      <a:buFont typeface="Arial" charset="0"/>
      <a:defRPr sz="1600" kern="1200">
        <a:solidFill>
          <a:schemeClr val="bg2"/>
        </a:solidFill>
        <a:latin typeface="Arial" charset="0"/>
        <a:ea typeface="+mn-ea"/>
        <a:cs typeface="+mn-cs"/>
      </a:defRPr>
    </a:lvl5pPr>
    <a:lvl6pPr marL="2286000" algn="l" defTabSz="914400" rtl="0" eaLnBrk="1" latinLnBrk="0" hangingPunct="1">
      <a:defRPr sz="1600" kern="1200">
        <a:solidFill>
          <a:schemeClr val="bg2"/>
        </a:solidFill>
        <a:latin typeface="Arial" charset="0"/>
        <a:ea typeface="+mn-ea"/>
        <a:cs typeface="+mn-cs"/>
      </a:defRPr>
    </a:lvl6pPr>
    <a:lvl7pPr marL="2743200" algn="l" defTabSz="914400" rtl="0" eaLnBrk="1" latinLnBrk="0" hangingPunct="1">
      <a:defRPr sz="1600" kern="1200">
        <a:solidFill>
          <a:schemeClr val="bg2"/>
        </a:solidFill>
        <a:latin typeface="Arial" charset="0"/>
        <a:ea typeface="+mn-ea"/>
        <a:cs typeface="+mn-cs"/>
      </a:defRPr>
    </a:lvl7pPr>
    <a:lvl8pPr marL="3200400" algn="l" defTabSz="914400" rtl="0" eaLnBrk="1" latinLnBrk="0" hangingPunct="1">
      <a:defRPr sz="1600" kern="1200">
        <a:solidFill>
          <a:schemeClr val="bg2"/>
        </a:solidFill>
        <a:latin typeface="Arial" charset="0"/>
        <a:ea typeface="+mn-ea"/>
        <a:cs typeface="+mn-cs"/>
      </a:defRPr>
    </a:lvl8pPr>
    <a:lvl9pPr marL="3657600" algn="l" defTabSz="914400" rtl="0" eaLnBrk="1" latinLnBrk="0" hangingPunct="1">
      <a:defRPr sz="1600" kern="1200">
        <a:solidFill>
          <a:schemeClr val="bg2"/>
        </a:solidFill>
        <a:latin typeface="Arial" charset="0"/>
        <a:ea typeface="+mn-ea"/>
        <a:cs typeface="+mn-cs"/>
      </a:defRPr>
    </a:lvl9pPr>
  </p:defaultTextStyle>
  <p:extLst>
    <p:ext uri="{EFAFB233-063F-42B5-8137-9DF3F51BA10A}">
      <p15:sldGuideLst xmlns:p15="http://schemas.microsoft.com/office/powerpoint/2012/main">
        <p15:guide id="1" orient="horz" pos="595">
          <p15:clr>
            <a:srgbClr val="A4A3A4"/>
          </p15:clr>
        </p15:guide>
        <p15:guide id="2" orient="horz" pos="1049">
          <p15:clr>
            <a:srgbClr val="A4A3A4"/>
          </p15:clr>
        </p15:guide>
        <p15:guide id="3" orient="horz" pos="4156">
          <p15:clr>
            <a:srgbClr val="A4A3A4"/>
          </p15:clr>
        </p15:guide>
        <p15:guide id="4" orient="horz" pos="1525">
          <p15:clr>
            <a:srgbClr val="A4A3A4"/>
          </p15:clr>
        </p15:guide>
        <p15:guide id="5" orient="horz" pos="2704">
          <p15:clr>
            <a:srgbClr val="A4A3A4"/>
          </p15:clr>
        </p15:guide>
        <p15:guide id="6" orient="horz" pos="1842">
          <p15:clr>
            <a:srgbClr val="A4A3A4"/>
          </p15:clr>
        </p15:guide>
        <p15:guide id="7" orient="horz" pos="3475">
          <p15:clr>
            <a:srgbClr val="A4A3A4"/>
          </p15:clr>
        </p15:guide>
        <p15:guide id="8" orient="horz" pos="845">
          <p15:clr>
            <a:srgbClr val="A4A3A4"/>
          </p15:clr>
        </p15:guide>
        <p15:guide id="9" pos="3742">
          <p15:clr>
            <a:srgbClr val="A4A3A4"/>
          </p15:clr>
        </p15:guide>
        <p15:guide id="10" pos="2608">
          <p15:clr>
            <a:srgbClr val="A4A3A4"/>
          </p15:clr>
        </p15:guide>
        <p15:guide id="11" pos="1474">
          <p15:clr>
            <a:srgbClr val="A4A3A4"/>
          </p15:clr>
        </p15:guide>
        <p15:guide id="12" pos="340">
          <p15:clr>
            <a:srgbClr val="A4A3A4"/>
          </p15:clr>
        </p15:guide>
        <p15:guide id="13" pos="3515">
          <p15:clr>
            <a:srgbClr val="A4A3A4"/>
          </p15:clr>
        </p15:guide>
        <p15:guide id="14" pos="3855">
          <p15:clr>
            <a:srgbClr val="A4A3A4"/>
          </p15:clr>
        </p15:guide>
      </p15:sldGuideLst>
    </p:ext>
    <p:ext uri="{2D200454-40CA-4A62-9FC3-DE9A4176ACB9}">
      <p15:notesGuideLst xmlns:p15="http://schemas.microsoft.com/office/powerpoint/2012/main">
        <p15:guide id="1" orient="horz" pos="3127">
          <p15:clr>
            <a:srgbClr val="A4A3A4"/>
          </p15:clr>
        </p15:guide>
        <p15:guide id="2" pos="214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190FF"/>
    <a:srgbClr val="FF6621"/>
    <a:srgbClr val="7E4200"/>
    <a:srgbClr val="001E87"/>
    <a:srgbClr val="666699"/>
    <a:srgbClr val="800000"/>
    <a:srgbClr val="99CC00"/>
    <a:srgbClr val="993300"/>
    <a:srgbClr val="0021AC"/>
    <a:srgbClr val="001C9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354" autoAdjust="0"/>
    <p:restoredTop sz="82177" autoAdjust="0"/>
  </p:normalViewPr>
  <p:slideViewPr>
    <p:cSldViewPr>
      <p:cViewPr varScale="1">
        <p:scale>
          <a:sx n="72" d="100"/>
          <a:sy n="72" d="100"/>
        </p:scale>
        <p:origin x="1614" y="48"/>
      </p:cViewPr>
      <p:guideLst>
        <p:guide orient="horz" pos="595"/>
        <p:guide orient="horz" pos="1049"/>
        <p:guide orient="horz" pos="4156"/>
        <p:guide orient="horz" pos="1525"/>
        <p:guide orient="horz" pos="2704"/>
        <p:guide orient="horz" pos="1842"/>
        <p:guide orient="horz" pos="3475"/>
        <p:guide orient="horz" pos="845"/>
        <p:guide pos="3742"/>
        <p:guide pos="2608"/>
        <p:guide pos="1474"/>
        <p:guide pos="340"/>
        <p:guide pos="3515"/>
        <p:guide pos="3855"/>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72" d="100"/>
          <a:sy n="72" d="100"/>
        </p:scale>
        <p:origin x="-2730" y="-120"/>
      </p:cViewPr>
      <p:guideLst>
        <p:guide orient="horz" pos="3127"/>
        <p:guide pos="2141"/>
      </p:guideLst>
    </p:cSldViewPr>
  </p:notesViewPr>
  <p:gridSpacing cx="36004" cy="36004"/>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Multiplier</c:v>
                </c:pt>
              </c:strCache>
            </c:strRef>
          </c:tx>
          <c:spPr>
            <a:solidFill>
              <a:srgbClr val="1C7293"/>
            </a:solidFill>
            <a:effectLst/>
          </c:spPr>
          <c:invertIfNegative val="0"/>
          <c:cat>
            <c:strRef>
              <c:f>Sheet1!$A$2:$A$5</c:f>
              <c:strCache>
                <c:ptCount val="4"/>
                <c:pt idx="0">
                  <c:v>s1</c:v>
                </c:pt>
                <c:pt idx="1">
                  <c:v>s2</c:v>
                </c:pt>
                <c:pt idx="2">
                  <c:v>s3</c:v>
                </c:pt>
                <c:pt idx="3">
                  <c:v>s4</c:v>
                </c:pt>
              </c:strCache>
            </c:strRef>
          </c:cat>
          <c:val>
            <c:numRef>
              <c:f>Sheet1!$B$2:$B$5</c:f>
              <c:numCache>
                <c:formatCode>General</c:formatCode>
                <c:ptCount val="4"/>
                <c:pt idx="0">
                  <c:v>1.333</c:v>
                </c:pt>
                <c:pt idx="1">
                  <c:v>1.333</c:v>
                </c:pt>
                <c:pt idx="2">
                  <c:v>0.33300000000000002</c:v>
                </c:pt>
                <c:pt idx="3">
                  <c:v>0</c:v>
                </c:pt>
              </c:numCache>
            </c:numRef>
          </c:val>
          <c:extLst>
            <c:ext xmlns:c16="http://schemas.microsoft.com/office/drawing/2014/chart" uri="{C3380CC4-5D6E-409C-BE32-E72D297353CC}">
              <c16:uniqueId val="{00000000-B350-4E37-9AE1-9510432197C2}"/>
            </c:ext>
          </c:extLst>
        </c:ser>
        <c:ser>
          <c:idx val="1"/>
          <c:order val="1"/>
          <c:tx>
            <c:strRef>
              <c:f>Sheet1!$C$1</c:f>
              <c:strCache>
                <c:ptCount val="1"/>
                <c:pt idx="0">
                  <c:v>Adder</c:v>
                </c:pt>
              </c:strCache>
            </c:strRef>
          </c:tx>
          <c:spPr>
            <a:solidFill>
              <a:srgbClr val="E8833A"/>
            </a:solidFill>
            <a:effectLst/>
          </c:spPr>
          <c:invertIfNegative val="0"/>
          <c:cat>
            <c:strRef>
              <c:f>Sheet1!$A$2:$A$5</c:f>
              <c:strCache>
                <c:ptCount val="4"/>
                <c:pt idx="0">
                  <c:v>s1</c:v>
                </c:pt>
                <c:pt idx="1">
                  <c:v>s2</c:v>
                </c:pt>
                <c:pt idx="2">
                  <c:v>s3</c:v>
                </c:pt>
                <c:pt idx="3">
                  <c:v>s4</c:v>
                </c:pt>
              </c:strCache>
            </c:strRef>
          </c:cat>
          <c:val>
            <c:numRef>
              <c:f>Sheet1!$C$2:$C$5</c:f>
              <c:numCache>
                <c:formatCode>General</c:formatCode>
                <c:ptCount val="4"/>
                <c:pt idx="0">
                  <c:v>0</c:v>
                </c:pt>
                <c:pt idx="1">
                  <c:v>0.5</c:v>
                </c:pt>
                <c:pt idx="2">
                  <c:v>1</c:v>
                </c:pt>
                <c:pt idx="3">
                  <c:v>0.5</c:v>
                </c:pt>
              </c:numCache>
            </c:numRef>
          </c:val>
          <c:extLst>
            <c:ext xmlns:c16="http://schemas.microsoft.com/office/drawing/2014/chart" uri="{C3380CC4-5D6E-409C-BE32-E72D297353CC}">
              <c16:uniqueId val="{00000001-B350-4E37-9AE1-9510432197C2}"/>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4748B"/>
                </a:solidFill>
                <a:latin typeface="Calibri"/>
              </a:defRPr>
            </a:pPr>
            <a:endParaRPr lang="en-US"/>
          </a:p>
        </c:txPr>
        <c:crossAx val="2094734552"/>
        <c:crosses val="autoZero"/>
        <c:auto val="1"/>
        <c:lblAlgn val="ctr"/>
        <c:lblOffset val="100"/>
        <c:noMultiLvlLbl val="1"/>
      </c:catAx>
      <c:valAx>
        <c:axId val="2094734552"/>
        <c:scaling>
          <c:orientation val="minMax"/>
          <c:max val="1.5"/>
          <c:min val="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4748B"/>
                </a:solidFill>
                <a:latin typeface="Calibri"/>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1E293B"/>
              </a:solidFill>
              <a:latin typeface="Calibri"/>
              <a:cs typeface="Calibri"/>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Initial DG</c:v>
                </c:pt>
              </c:strCache>
            </c:strRef>
          </c:tx>
          <c:spPr>
            <a:solidFill>
              <a:srgbClr val="1C7293"/>
            </a:solidFill>
            <a:effectLst/>
          </c:spPr>
          <c:invertIfNegative val="0"/>
          <c:cat>
            <c:strRef>
              <c:f>Sheet1!$A$2:$A$5</c:f>
              <c:strCache>
                <c:ptCount val="4"/>
                <c:pt idx="0">
                  <c:v>s1</c:v>
                </c:pt>
                <c:pt idx="1">
                  <c:v>s2</c:v>
                </c:pt>
                <c:pt idx="2">
                  <c:v>s3</c:v>
                </c:pt>
                <c:pt idx="3">
                  <c:v>s4</c:v>
                </c:pt>
              </c:strCache>
            </c:strRef>
          </c:cat>
          <c:val>
            <c:numRef>
              <c:f>Sheet1!$B$2:$B$5</c:f>
              <c:numCache>
                <c:formatCode>General</c:formatCode>
                <c:ptCount val="4"/>
                <c:pt idx="0">
                  <c:v>1.333</c:v>
                </c:pt>
                <c:pt idx="1">
                  <c:v>1.333</c:v>
                </c:pt>
                <c:pt idx="2">
                  <c:v>0.33300000000000002</c:v>
                </c:pt>
                <c:pt idx="3">
                  <c:v>0</c:v>
                </c:pt>
              </c:numCache>
            </c:numRef>
          </c:val>
          <c:extLst>
            <c:ext xmlns:c16="http://schemas.microsoft.com/office/drawing/2014/chart" uri="{C3380CC4-5D6E-409C-BE32-E72D297353CC}">
              <c16:uniqueId val="{00000000-5098-483D-82F7-C323B2298BF6}"/>
            </c:ext>
          </c:extLst>
        </c:ser>
        <c:ser>
          <c:idx val="1"/>
          <c:order val="1"/>
          <c:tx>
            <c:strRef>
              <c:f>Sheet1!$C$1</c:f>
              <c:strCache>
                <c:ptCount val="1"/>
                <c:pt idx="0">
                  <c:v>After FDS</c:v>
                </c:pt>
              </c:strCache>
            </c:strRef>
          </c:tx>
          <c:spPr>
            <a:solidFill>
              <a:srgbClr val="E8833A"/>
            </a:solidFill>
            <a:effectLst/>
          </c:spPr>
          <c:invertIfNegative val="0"/>
          <c:cat>
            <c:strRef>
              <c:f>Sheet1!$A$2:$A$5</c:f>
              <c:strCache>
                <c:ptCount val="4"/>
                <c:pt idx="0">
                  <c:v>s1</c:v>
                </c:pt>
                <c:pt idx="1">
                  <c:v>s2</c:v>
                </c:pt>
                <c:pt idx="2">
                  <c:v>s3</c:v>
                </c:pt>
                <c:pt idx="3">
                  <c:v>s4</c:v>
                </c:pt>
              </c:strCache>
            </c:strRef>
          </c:cat>
          <c:val>
            <c:numRef>
              <c:f>Sheet1!$C$2:$C$5</c:f>
              <c:numCache>
                <c:formatCode>General</c:formatCode>
                <c:ptCount val="4"/>
                <c:pt idx="0">
                  <c:v>1</c:v>
                </c:pt>
                <c:pt idx="1">
                  <c:v>1</c:v>
                </c:pt>
                <c:pt idx="2">
                  <c:v>1</c:v>
                </c:pt>
                <c:pt idx="3">
                  <c:v>0</c:v>
                </c:pt>
              </c:numCache>
            </c:numRef>
          </c:val>
          <c:extLst>
            <c:ext xmlns:c16="http://schemas.microsoft.com/office/drawing/2014/chart" uri="{C3380CC4-5D6E-409C-BE32-E72D297353CC}">
              <c16:uniqueId val="{00000001-5098-483D-82F7-C323B2298BF6}"/>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title>
          <c:tx>
            <c:rich>
              <a:bodyPr/>
              <a:lstStyle/>
              <a:p>
                <a:pPr>
                  <a:defRPr sz="1100" b="0" i="0" u="none" strike="noStrike">
                    <a:solidFill>
                      <a:srgbClr val="64748B"/>
                    </a:solidFill>
                    <a:latin typeface="Calibri"/>
                  </a:defRPr>
                </a:pPr>
                <a:r>
                  <a:rPr lang="de-DE" sz="1100" b="0" i="0" u="none" strike="noStrike">
                    <a:solidFill>
                      <a:srgbClr val="64748B"/>
                    </a:solidFill>
                    <a:latin typeface="Calibri"/>
                  </a:rPr>
                  <a:t>Multiplier demand per step</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4748B"/>
                </a:solidFill>
                <a:latin typeface="Calibri"/>
              </a:defRPr>
            </a:pPr>
            <a:endParaRPr lang="en-US"/>
          </a:p>
        </c:txPr>
        <c:crossAx val="2094734552"/>
        <c:crosses val="autoZero"/>
        <c:auto val="1"/>
        <c:lblAlgn val="ctr"/>
        <c:lblOffset val="100"/>
        <c:noMultiLvlLbl val="1"/>
      </c:catAx>
      <c:valAx>
        <c:axId val="2094734552"/>
        <c:scaling>
          <c:orientation val="minMax"/>
          <c:max val="1.5"/>
          <c:min val="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4748B"/>
                </a:solidFill>
                <a:latin typeface="Calibri"/>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1E293B"/>
              </a:solidFill>
              <a:latin typeface="Calibri"/>
              <a:cs typeface="Calibri"/>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handoutMasters/_rels/handoutMaster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6030" name="Rectangle 14"/>
          <p:cNvSpPr>
            <a:spLocks noGrp="1" noChangeArrowheads="1"/>
          </p:cNvSpPr>
          <p:nvPr>
            <p:ph type="hdr" sz="quarter"/>
          </p:nvPr>
        </p:nvSpPr>
        <p:spPr bwMode="auto">
          <a:xfrm>
            <a:off x="544179" y="76987"/>
            <a:ext cx="4853528" cy="26175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defTabSz="955731" eaLnBrk="0" hangingPunct="0">
              <a:lnSpc>
                <a:spcPct val="100000"/>
              </a:lnSpc>
              <a:spcAft>
                <a:spcPct val="0"/>
              </a:spcAft>
              <a:buClrTx/>
              <a:buSzTx/>
              <a:buFontTx/>
              <a:buNone/>
              <a:defRPr sz="1600" b="1">
                <a:solidFill>
                  <a:schemeClr val="tx1"/>
                </a:solidFill>
                <a:latin typeface="Arial" pitchFamily="34" charset="0"/>
                <a:ea typeface="ヒラギノ角ゴ Pro W3" pitchFamily="96" charset="-128"/>
              </a:defRPr>
            </a:lvl1pPr>
          </a:lstStyle>
          <a:p>
            <a:pPr>
              <a:defRPr/>
            </a:pPr>
            <a:r>
              <a:rPr lang="de-DE"/>
              <a:t>OFFIS</a:t>
            </a:r>
          </a:p>
        </p:txBody>
      </p:sp>
      <p:sp>
        <p:nvSpPr>
          <p:cNvPr id="86031" name="Rectangle 15"/>
          <p:cNvSpPr>
            <a:spLocks noGrp="1" noChangeArrowheads="1"/>
          </p:cNvSpPr>
          <p:nvPr>
            <p:ph type="dt" sz="quarter" idx="1"/>
          </p:nvPr>
        </p:nvSpPr>
        <p:spPr bwMode="auto">
          <a:xfrm>
            <a:off x="544179" y="338741"/>
            <a:ext cx="4853528" cy="224801"/>
          </a:xfrm>
          <a:prstGeom prst="rect">
            <a:avLst/>
          </a:prstGeom>
          <a:noFill/>
          <a:ln w="9525">
            <a:noFill/>
            <a:miter lim="800000"/>
            <a:headEnd/>
            <a:tailEnd/>
          </a:ln>
        </p:spPr>
        <p:txBody>
          <a:bodyPr vert="horz" wrap="none" lIns="0" tIns="0" rIns="0" bIns="0" numCol="1" anchor="t" anchorCtr="0" compatLnSpc="1">
            <a:prstTxWarp prst="textNoShape">
              <a:avLst/>
            </a:prstTxWarp>
          </a:bodyPr>
          <a:lstStyle>
            <a:lvl1pPr defTabSz="955731" eaLnBrk="0" hangingPunct="0">
              <a:lnSpc>
                <a:spcPct val="100000"/>
              </a:lnSpc>
              <a:spcAft>
                <a:spcPct val="0"/>
              </a:spcAft>
              <a:buClrTx/>
              <a:buSzTx/>
              <a:buFontTx/>
              <a:buNone/>
              <a:defRPr sz="1100">
                <a:latin typeface="Arial" pitchFamily="34" charset="0"/>
                <a:ea typeface="ヒラギノ角ゴ Pro W3" pitchFamily="96" charset="-128"/>
              </a:defRPr>
            </a:lvl1pPr>
          </a:lstStyle>
          <a:p>
            <a:pPr>
              <a:defRPr/>
            </a:pPr>
            <a:fld id="{4E0C06B7-C559-4809-80E3-2886171D3968}" type="datetime1">
              <a:rPr lang="de-DE" smtClean="0"/>
              <a:t>14.06.2026</a:t>
            </a:fld>
            <a:endParaRPr lang="de-DE"/>
          </a:p>
        </p:txBody>
      </p:sp>
      <p:sp>
        <p:nvSpPr>
          <p:cNvPr id="39940" name="Rectangle 16"/>
          <p:cNvSpPr>
            <a:spLocks noChangeArrowheads="1"/>
          </p:cNvSpPr>
          <p:nvPr/>
        </p:nvSpPr>
        <p:spPr bwMode="auto">
          <a:xfrm>
            <a:off x="595861" y="9684900"/>
            <a:ext cx="5657636" cy="1678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lstStyle/>
          <a:p>
            <a:pPr algn="ctr" defTabSz="955731" eaLnBrk="0" hangingPunct="0">
              <a:lnSpc>
                <a:spcPct val="100000"/>
              </a:lnSpc>
              <a:spcAft>
                <a:spcPct val="0"/>
              </a:spcAft>
              <a:buClrTx/>
              <a:buSzTx/>
            </a:pPr>
            <a:endParaRPr lang="en-US" sz="1100">
              <a:ea typeface="ヒラギノ角ゴ Pro W3" pitchFamily="96" charset="-128"/>
            </a:endParaRPr>
          </a:p>
        </p:txBody>
      </p:sp>
      <p:sp>
        <p:nvSpPr>
          <p:cNvPr id="39941" name="Rectangle 17"/>
          <p:cNvSpPr>
            <a:spLocks noChangeArrowheads="1"/>
          </p:cNvSpPr>
          <p:nvPr/>
        </p:nvSpPr>
        <p:spPr bwMode="auto">
          <a:xfrm>
            <a:off x="0" y="76987"/>
            <a:ext cx="472737" cy="2617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lstStyle/>
          <a:p>
            <a:pPr algn="r" defTabSz="955731" eaLnBrk="0" hangingPunct="0">
              <a:lnSpc>
                <a:spcPct val="100000"/>
              </a:lnSpc>
              <a:spcAft>
                <a:spcPct val="0"/>
              </a:spcAft>
              <a:buClrTx/>
              <a:buSzTx/>
            </a:pPr>
            <a:fld id="{275B9C72-3485-48FF-AE1D-FB71FC7FF0C6}" type="slidenum">
              <a:rPr lang="de-DE" b="1">
                <a:ea typeface="ヒラギノ角ゴ Pro W3" pitchFamily="96" charset="-128"/>
              </a:rPr>
              <a:pPr algn="r" defTabSz="955731" eaLnBrk="0" hangingPunct="0">
                <a:lnSpc>
                  <a:spcPct val="100000"/>
                </a:lnSpc>
                <a:spcAft>
                  <a:spcPct val="0"/>
                </a:spcAft>
                <a:buClrTx/>
                <a:buSzTx/>
              </a:pPr>
              <a:t>‹#›</a:t>
            </a:fld>
            <a:endParaRPr lang="de-DE" b="1">
              <a:ea typeface="ヒラギノ角ゴ Pro W3" pitchFamily="96" charset="-128"/>
            </a:endParaRPr>
          </a:p>
        </p:txBody>
      </p:sp>
      <p:sp>
        <p:nvSpPr>
          <p:cNvPr id="39942" name="Line 18"/>
          <p:cNvSpPr>
            <a:spLocks noChangeShapeType="1"/>
          </p:cNvSpPr>
          <p:nvPr/>
        </p:nvSpPr>
        <p:spPr bwMode="auto">
          <a:xfrm>
            <a:off x="0" y="76986"/>
            <a:ext cx="6797675" cy="0"/>
          </a:xfrm>
          <a:prstGeom prst="line">
            <a:avLst/>
          </a:prstGeom>
          <a:noFill/>
          <a:ln w="12700">
            <a:solidFill>
              <a:schemeClr val="tx1"/>
            </a:solidFill>
            <a:round/>
            <a:headEnd/>
            <a:tailEnd/>
          </a:ln>
          <a:extLst>
            <a:ext uri="{909E8E84-426E-40dd-AFC4-6F175D3DCCD1}">
              <a14:hiddenFill xmlns:a14="http://schemas.microsoft.com/office/drawing/2010/main" xmlns="">
                <a:noFill/>
              </a14:hiddenFill>
            </a:ext>
          </a:extLst>
        </p:spPr>
        <p:txBody>
          <a:bodyPr lIns="88221" tIns="44111" rIns="88221" bIns="44111"/>
          <a:lstStyle/>
          <a:p>
            <a:endParaRPr lang="en-US"/>
          </a:p>
        </p:txBody>
      </p:sp>
      <p:sp>
        <p:nvSpPr>
          <p:cNvPr id="39943" name="AutoShape 19"/>
          <p:cNvSpPr>
            <a:spLocks noChangeAspect="1" noChangeArrowheads="1"/>
          </p:cNvSpPr>
          <p:nvPr/>
        </p:nvSpPr>
        <p:spPr bwMode="auto">
          <a:xfrm>
            <a:off x="-24321" y="109322"/>
            <a:ext cx="139845" cy="173989"/>
          </a:xfrm>
          <a:prstGeom prst="homePlate">
            <a:avLst>
              <a:gd name="adj" fmla="val 100000"/>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lIns="88221" tIns="44111" rIns="88221" bIns="44111" anchor="ctr"/>
          <a:lstStyle/>
          <a:p>
            <a:endParaRPr lang="en-US"/>
          </a:p>
        </p:txBody>
      </p:sp>
      <p:sp>
        <p:nvSpPr>
          <p:cNvPr id="39944" name="Line 20"/>
          <p:cNvSpPr>
            <a:spLocks noChangeShapeType="1"/>
          </p:cNvSpPr>
          <p:nvPr/>
        </p:nvSpPr>
        <p:spPr bwMode="auto">
          <a:xfrm>
            <a:off x="0" y="548144"/>
            <a:ext cx="6797675" cy="0"/>
          </a:xfrm>
          <a:prstGeom prst="line">
            <a:avLst/>
          </a:prstGeom>
          <a:noFill/>
          <a:ln w="12700">
            <a:solidFill>
              <a:schemeClr val="tx1"/>
            </a:solidFill>
            <a:round/>
            <a:headEnd/>
            <a:tailEnd/>
          </a:ln>
          <a:extLst>
            <a:ext uri="{909E8E84-426E-40dd-AFC4-6F175D3DCCD1}">
              <a14:hiddenFill xmlns:a14="http://schemas.microsoft.com/office/drawing/2010/main" xmlns="">
                <a:noFill/>
              </a14:hiddenFill>
            </a:ext>
          </a:extLst>
        </p:spPr>
        <p:txBody>
          <a:bodyPr lIns="88221" tIns="44111" rIns="88221" bIns="44111"/>
          <a:lstStyle/>
          <a:p>
            <a:endParaRPr lang="en-US"/>
          </a:p>
        </p:txBody>
      </p:sp>
      <p:sp>
        <p:nvSpPr>
          <p:cNvPr id="39945" name="Line 21"/>
          <p:cNvSpPr>
            <a:spLocks noChangeShapeType="1"/>
          </p:cNvSpPr>
          <p:nvPr/>
        </p:nvSpPr>
        <p:spPr bwMode="auto">
          <a:xfrm>
            <a:off x="0" y="9654105"/>
            <a:ext cx="6797675" cy="0"/>
          </a:xfrm>
          <a:prstGeom prst="line">
            <a:avLst/>
          </a:prstGeom>
          <a:noFill/>
          <a:ln w="12700">
            <a:solidFill>
              <a:schemeClr val="tx1"/>
            </a:solidFill>
            <a:round/>
            <a:headEnd/>
            <a:tailEnd/>
          </a:ln>
          <a:extLst>
            <a:ext uri="{909E8E84-426E-40dd-AFC4-6F175D3DCCD1}">
              <a14:hiddenFill xmlns:a14="http://schemas.microsoft.com/office/drawing/2010/main" xmlns="">
                <a:noFill/>
              </a14:hiddenFill>
            </a:ext>
          </a:extLst>
        </p:spPr>
        <p:txBody>
          <a:bodyPr lIns="88221" tIns="44111" rIns="88221" bIns="44111"/>
          <a:lstStyle/>
          <a:p>
            <a:endParaRPr lang="en-US"/>
          </a:p>
        </p:txBody>
      </p:sp>
      <p:pic>
        <p:nvPicPr>
          <p:cNvPr id="39946" name="Picture 22" descr="logo_standard_dt"/>
          <p:cNvPicPr>
            <a:picLocks noChangeAspect="1" noChangeArrowheads="1"/>
          </p:cNvPicPr>
          <p:nvPr/>
        </p:nvPicPr>
        <p:blipFill>
          <a:blip r:embed="rId2" cstate="print">
            <a:extLst>
              <a:ext uri="{28A0092B-C50C-407E-A947-70E740481C1C}">
                <a14:useLocalDpi xmlns:a14="http://schemas.microsoft.com/office/drawing/2010/main" val="0"/>
              </a:ext>
            </a:extLst>
          </a:blip>
          <a:srcRect r="37752"/>
          <a:stretch>
            <a:fillRect/>
          </a:stretch>
        </p:blipFill>
        <p:spPr bwMode="auto">
          <a:xfrm>
            <a:off x="5812681" y="123179"/>
            <a:ext cx="984994" cy="3710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23607106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7890" name="Rectangle 4"/>
          <p:cNvSpPr>
            <a:spLocks noGrp="1" noRot="1" noChangeAspect="1" noChangeArrowheads="1" noTextEdit="1"/>
          </p:cNvSpPr>
          <p:nvPr>
            <p:ph type="sldImg" idx="2"/>
          </p:nvPr>
        </p:nvSpPr>
        <p:spPr bwMode="auto">
          <a:xfrm>
            <a:off x="917575" y="744538"/>
            <a:ext cx="4962525" cy="3722687"/>
          </a:xfrm>
          <a:prstGeom prst="rect">
            <a:avLst/>
          </a:prstGeom>
          <a:noFill/>
          <a:ln w="9525">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4101" name="Rectangle 5"/>
          <p:cNvSpPr>
            <a:spLocks noGrp="1" noChangeArrowheads="1"/>
          </p:cNvSpPr>
          <p:nvPr>
            <p:ph type="body" sz="quarter" idx="3"/>
          </p:nvPr>
        </p:nvSpPr>
        <p:spPr bwMode="auto">
          <a:xfrm>
            <a:off x="679464" y="4714653"/>
            <a:ext cx="5438748" cy="4466756"/>
          </a:xfrm>
          <a:prstGeom prst="rect">
            <a:avLst/>
          </a:prstGeom>
          <a:noFill/>
          <a:ln w="9525">
            <a:noFill/>
            <a:miter lim="800000"/>
            <a:headEnd/>
            <a:tailEnd/>
          </a:ln>
          <a:effectLst/>
        </p:spPr>
        <p:txBody>
          <a:bodyPr vert="horz" wrap="square" lIns="95562" tIns="47781" rIns="95562" bIns="47781" numCol="1" anchor="t" anchorCtr="0" compatLnSpc="1">
            <a:prstTxWarp prst="textNoShape">
              <a:avLst/>
            </a:prstTxWarp>
          </a:bodyPr>
          <a:lstStyle/>
          <a:p>
            <a:pPr lvl="0"/>
            <a:r>
              <a:rPr lang="de-DE" noProof="0"/>
              <a:t>Textmasterformate durch Klicken bearbeiten</a:t>
            </a:r>
          </a:p>
          <a:p>
            <a:pPr lvl="1"/>
            <a:r>
              <a:rPr lang="de-DE" noProof="0"/>
              <a:t>Zweite Ebene</a:t>
            </a:r>
          </a:p>
          <a:p>
            <a:pPr lvl="2"/>
            <a:r>
              <a:rPr lang="de-DE" noProof="0"/>
              <a:t>Dritte Ebene</a:t>
            </a:r>
          </a:p>
          <a:p>
            <a:pPr lvl="3"/>
            <a:r>
              <a:rPr lang="de-DE" noProof="0"/>
              <a:t>Vierte Ebene</a:t>
            </a:r>
          </a:p>
          <a:p>
            <a:pPr lvl="4"/>
            <a:r>
              <a:rPr lang="de-DE" noProof="0"/>
              <a:t>Fünfte Ebene</a:t>
            </a:r>
          </a:p>
        </p:txBody>
      </p:sp>
      <p:sp>
        <p:nvSpPr>
          <p:cNvPr id="4119" name="Rectangle 23"/>
          <p:cNvSpPr>
            <a:spLocks noGrp="1" noChangeArrowheads="1"/>
          </p:cNvSpPr>
          <p:nvPr>
            <p:ph type="hdr" sz="quarter"/>
          </p:nvPr>
        </p:nvSpPr>
        <p:spPr bwMode="auto">
          <a:xfrm>
            <a:off x="544179" y="76987"/>
            <a:ext cx="4853528" cy="26175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defTabSz="955731" eaLnBrk="0" hangingPunct="0">
              <a:lnSpc>
                <a:spcPct val="100000"/>
              </a:lnSpc>
              <a:spcAft>
                <a:spcPct val="0"/>
              </a:spcAft>
              <a:buClrTx/>
              <a:buSzTx/>
              <a:buFontTx/>
              <a:buNone/>
              <a:defRPr sz="1600" b="1">
                <a:solidFill>
                  <a:schemeClr val="tx1"/>
                </a:solidFill>
                <a:latin typeface="Arial" pitchFamily="34" charset="0"/>
                <a:ea typeface="ヒラギノ角ゴ Pro W3" pitchFamily="96" charset="-128"/>
              </a:defRPr>
            </a:lvl1pPr>
          </a:lstStyle>
          <a:p>
            <a:pPr>
              <a:defRPr/>
            </a:pPr>
            <a:r>
              <a:rPr lang="de-DE"/>
              <a:t>OFFIS</a:t>
            </a:r>
          </a:p>
        </p:txBody>
      </p:sp>
      <p:sp>
        <p:nvSpPr>
          <p:cNvPr id="4120" name="Rectangle 24"/>
          <p:cNvSpPr>
            <a:spLocks noGrp="1" noChangeArrowheads="1"/>
          </p:cNvSpPr>
          <p:nvPr>
            <p:ph type="dt" sz="quarter" idx="1"/>
          </p:nvPr>
        </p:nvSpPr>
        <p:spPr bwMode="auto">
          <a:xfrm>
            <a:off x="544179" y="338741"/>
            <a:ext cx="4853528" cy="224801"/>
          </a:xfrm>
          <a:prstGeom prst="rect">
            <a:avLst/>
          </a:prstGeom>
          <a:noFill/>
          <a:ln w="9525">
            <a:noFill/>
            <a:miter lim="800000"/>
            <a:headEnd/>
            <a:tailEnd/>
          </a:ln>
        </p:spPr>
        <p:txBody>
          <a:bodyPr vert="horz" wrap="none" lIns="0" tIns="0" rIns="0" bIns="0" numCol="1" anchor="t" anchorCtr="0" compatLnSpc="1">
            <a:prstTxWarp prst="textNoShape">
              <a:avLst/>
            </a:prstTxWarp>
          </a:bodyPr>
          <a:lstStyle>
            <a:lvl1pPr defTabSz="955731" eaLnBrk="0" hangingPunct="0">
              <a:lnSpc>
                <a:spcPct val="100000"/>
              </a:lnSpc>
              <a:spcAft>
                <a:spcPct val="0"/>
              </a:spcAft>
              <a:buClrTx/>
              <a:buSzTx/>
              <a:buFontTx/>
              <a:buNone/>
              <a:defRPr sz="1100">
                <a:latin typeface="Arial" pitchFamily="34" charset="0"/>
                <a:ea typeface="ヒラギノ角ゴ Pro W3" pitchFamily="96" charset="-128"/>
              </a:defRPr>
            </a:lvl1pPr>
          </a:lstStyle>
          <a:p>
            <a:pPr>
              <a:defRPr/>
            </a:pPr>
            <a:fld id="{C7E54160-B116-4109-AA92-3860CE6317DD}" type="datetime1">
              <a:rPr lang="de-DE" smtClean="0"/>
              <a:t>14.06.2026</a:t>
            </a:fld>
            <a:endParaRPr lang="de-DE"/>
          </a:p>
        </p:txBody>
      </p:sp>
      <p:sp>
        <p:nvSpPr>
          <p:cNvPr id="37894" name="Rectangle 25"/>
          <p:cNvSpPr>
            <a:spLocks noChangeArrowheads="1"/>
          </p:cNvSpPr>
          <p:nvPr/>
        </p:nvSpPr>
        <p:spPr bwMode="auto">
          <a:xfrm>
            <a:off x="595861" y="9684900"/>
            <a:ext cx="5657636" cy="1678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lstStyle/>
          <a:p>
            <a:pPr algn="ctr" defTabSz="955731" eaLnBrk="0" hangingPunct="0">
              <a:lnSpc>
                <a:spcPct val="100000"/>
              </a:lnSpc>
              <a:spcAft>
                <a:spcPct val="0"/>
              </a:spcAft>
              <a:buClrTx/>
              <a:buSzTx/>
              <a:buFontTx/>
              <a:buNone/>
            </a:pPr>
            <a:endParaRPr lang="en-US" sz="1100">
              <a:ea typeface="ヒラギノ角ゴ Pro W3" pitchFamily="96" charset="-128"/>
            </a:endParaRPr>
          </a:p>
        </p:txBody>
      </p:sp>
      <p:sp>
        <p:nvSpPr>
          <p:cNvPr id="37895" name="Rectangle 26"/>
          <p:cNvSpPr>
            <a:spLocks noChangeArrowheads="1"/>
          </p:cNvSpPr>
          <p:nvPr/>
        </p:nvSpPr>
        <p:spPr bwMode="auto">
          <a:xfrm>
            <a:off x="0" y="76987"/>
            <a:ext cx="472737" cy="2617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lstStyle/>
          <a:p>
            <a:pPr algn="r" defTabSz="955731" eaLnBrk="0" hangingPunct="0">
              <a:lnSpc>
                <a:spcPct val="100000"/>
              </a:lnSpc>
              <a:spcAft>
                <a:spcPct val="0"/>
              </a:spcAft>
              <a:buClrTx/>
              <a:buSzTx/>
              <a:buFontTx/>
              <a:buNone/>
            </a:pPr>
            <a:fld id="{22320607-5AC0-4A66-9987-88F714D17AA0}" type="slidenum">
              <a:rPr lang="de-DE" sz="1600" b="1">
                <a:ea typeface="ヒラギノ角ゴ Pro W3" pitchFamily="96" charset="-128"/>
              </a:rPr>
              <a:pPr algn="r" defTabSz="955731" eaLnBrk="0" hangingPunct="0">
                <a:lnSpc>
                  <a:spcPct val="100000"/>
                </a:lnSpc>
                <a:spcAft>
                  <a:spcPct val="0"/>
                </a:spcAft>
                <a:buClrTx/>
                <a:buSzTx/>
                <a:buFontTx/>
                <a:buNone/>
              </a:pPr>
              <a:t>‹#›</a:t>
            </a:fld>
            <a:endParaRPr lang="de-DE" sz="1600" b="1">
              <a:ea typeface="ヒラギノ角ゴ Pro W3" pitchFamily="96" charset="-128"/>
            </a:endParaRPr>
          </a:p>
        </p:txBody>
      </p:sp>
      <p:sp>
        <p:nvSpPr>
          <p:cNvPr id="37896" name="Line 27"/>
          <p:cNvSpPr>
            <a:spLocks noChangeShapeType="1"/>
          </p:cNvSpPr>
          <p:nvPr/>
        </p:nvSpPr>
        <p:spPr bwMode="auto">
          <a:xfrm>
            <a:off x="0" y="76986"/>
            <a:ext cx="6797675" cy="0"/>
          </a:xfrm>
          <a:prstGeom prst="line">
            <a:avLst/>
          </a:prstGeom>
          <a:noFill/>
          <a:ln w="12700">
            <a:solidFill>
              <a:schemeClr val="tx1"/>
            </a:solidFill>
            <a:round/>
            <a:headEnd/>
            <a:tailEnd/>
          </a:ln>
          <a:extLst>
            <a:ext uri="{909E8E84-426E-40dd-AFC4-6F175D3DCCD1}">
              <a14:hiddenFill xmlns:a14="http://schemas.microsoft.com/office/drawing/2010/main" xmlns="">
                <a:noFill/>
              </a14:hiddenFill>
            </a:ext>
          </a:extLst>
        </p:spPr>
        <p:txBody>
          <a:bodyPr lIns="88221" tIns="44111" rIns="88221" bIns="44111"/>
          <a:lstStyle/>
          <a:p>
            <a:endParaRPr lang="en-US"/>
          </a:p>
        </p:txBody>
      </p:sp>
      <p:sp>
        <p:nvSpPr>
          <p:cNvPr id="37897" name="AutoShape 28"/>
          <p:cNvSpPr>
            <a:spLocks noChangeAspect="1" noChangeArrowheads="1"/>
          </p:cNvSpPr>
          <p:nvPr/>
        </p:nvSpPr>
        <p:spPr bwMode="auto">
          <a:xfrm>
            <a:off x="-24321" y="109322"/>
            <a:ext cx="139845" cy="173989"/>
          </a:xfrm>
          <a:prstGeom prst="homePlate">
            <a:avLst>
              <a:gd name="adj" fmla="val 100000"/>
            </a:avLst>
          </a:prstGeom>
          <a:solidFill>
            <a:schemeClr val="bg2"/>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lIns="88221" tIns="44111" rIns="88221" bIns="44111" anchor="ctr"/>
          <a:lstStyle/>
          <a:p>
            <a:endParaRPr lang="en-US"/>
          </a:p>
        </p:txBody>
      </p:sp>
      <p:sp>
        <p:nvSpPr>
          <p:cNvPr id="37898" name="Line 29"/>
          <p:cNvSpPr>
            <a:spLocks noChangeShapeType="1"/>
          </p:cNvSpPr>
          <p:nvPr/>
        </p:nvSpPr>
        <p:spPr bwMode="auto">
          <a:xfrm>
            <a:off x="0" y="548144"/>
            <a:ext cx="6797675" cy="0"/>
          </a:xfrm>
          <a:prstGeom prst="line">
            <a:avLst/>
          </a:prstGeom>
          <a:noFill/>
          <a:ln w="12700">
            <a:solidFill>
              <a:schemeClr val="tx1"/>
            </a:solidFill>
            <a:round/>
            <a:headEnd/>
            <a:tailEnd/>
          </a:ln>
          <a:extLst>
            <a:ext uri="{909E8E84-426E-40dd-AFC4-6F175D3DCCD1}">
              <a14:hiddenFill xmlns:a14="http://schemas.microsoft.com/office/drawing/2010/main" xmlns="">
                <a:noFill/>
              </a14:hiddenFill>
            </a:ext>
          </a:extLst>
        </p:spPr>
        <p:txBody>
          <a:bodyPr lIns="88221" tIns="44111" rIns="88221" bIns="44111"/>
          <a:lstStyle/>
          <a:p>
            <a:endParaRPr lang="en-US"/>
          </a:p>
        </p:txBody>
      </p:sp>
      <p:sp>
        <p:nvSpPr>
          <p:cNvPr id="37899" name="Line 30"/>
          <p:cNvSpPr>
            <a:spLocks noChangeShapeType="1"/>
          </p:cNvSpPr>
          <p:nvPr/>
        </p:nvSpPr>
        <p:spPr bwMode="auto">
          <a:xfrm>
            <a:off x="0" y="9654105"/>
            <a:ext cx="6797675" cy="0"/>
          </a:xfrm>
          <a:prstGeom prst="line">
            <a:avLst/>
          </a:prstGeom>
          <a:noFill/>
          <a:ln w="12700">
            <a:solidFill>
              <a:schemeClr val="tx1"/>
            </a:solidFill>
            <a:round/>
            <a:headEnd/>
            <a:tailEnd/>
          </a:ln>
          <a:extLst>
            <a:ext uri="{909E8E84-426E-40dd-AFC4-6F175D3DCCD1}">
              <a14:hiddenFill xmlns:a14="http://schemas.microsoft.com/office/drawing/2010/main" xmlns="">
                <a:noFill/>
              </a14:hiddenFill>
            </a:ext>
          </a:extLst>
        </p:spPr>
        <p:txBody>
          <a:bodyPr lIns="88221" tIns="44111" rIns="88221" bIns="44111"/>
          <a:lstStyle/>
          <a:p>
            <a:endParaRPr lang="en-US"/>
          </a:p>
        </p:txBody>
      </p:sp>
      <p:pic>
        <p:nvPicPr>
          <p:cNvPr id="37900" name="Picture 31" descr="logo_standard_dt"/>
          <p:cNvPicPr>
            <a:picLocks noChangeAspect="1" noChangeArrowheads="1"/>
          </p:cNvPicPr>
          <p:nvPr/>
        </p:nvPicPr>
        <p:blipFill>
          <a:blip r:embed="rId2">
            <a:extLst>
              <a:ext uri="{28A0092B-C50C-407E-A947-70E740481C1C}">
                <a14:useLocalDpi xmlns:a14="http://schemas.microsoft.com/office/drawing/2010/main" val="0"/>
              </a:ext>
            </a:extLst>
          </a:blip>
          <a:srcRect r="37752"/>
          <a:stretch>
            <a:fillRect/>
          </a:stretch>
        </p:blipFill>
        <p:spPr bwMode="auto">
          <a:xfrm>
            <a:off x="5812681" y="123179"/>
            <a:ext cx="984994" cy="3710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2199277198"/>
      </p:ext>
    </p:extLst>
  </p:cSld>
  <p:clrMap bg1="lt1" tx1="dk1" bg2="lt2" tx2="dk2" accent1="accent1" accent2="accent2" accent3="accent3" accent4="accent4" accent5="accent5" accent6="accent6" hlink="hlink" folHlink="folHlink"/>
  <p:hf ftr="0"/>
  <p:notesStyle>
    <a:lvl1pPr algn="l" rtl="0" eaLnBrk="0" fontAlgn="base" hangingPunct="0">
      <a:spcBef>
        <a:spcPct val="30000"/>
      </a:spcBef>
      <a:spcAft>
        <a:spcPct val="0"/>
      </a:spcAft>
      <a:defRPr sz="1200" kern="1200">
        <a:solidFill>
          <a:schemeClr val="tx1"/>
        </a:solidFill>
        <a:latin typeface="Arial"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r>
              <a:rPr lang="de-DE" dirty="0"/>
              <a:t>&lt;</a:t>
            </a: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method is one intuition: spread the operations over the slack they have so no single control step is overloaded. Here the three multiplications stop colliding in step 1, so one multiplier suffices instead of three — without changing the latency.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one: run ASAP for the earliest start and ALAP for the latest. The gap is the operation's mobility. v3 has mobility 2, so it can slide; the critical-path operations are pinned. This slack is the raw material the algorithm works with.</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two builds the distribution graph: spread each operation uniformly over its frame and add up the expected demand per resource type per step. The tall multiplier bars in s1 and s2 are the contention FDS will try to flatten.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three is the heart of the method. Each candidate (operation, step) gets a force: the distribution value times how the move changes probabilities. Moving v3 into the busy step 1 scores positive — bad; moving it to the empty step 3 scores negative — good. The total force also folds in the effect on predecessors and successors.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Putting it together: recompute frames and the distribution graph, score every candidate, commit the lowest-force placement, and repeat. It commits one operation per pass — greedy at that level — but every score reflects the whole graph, which is what separates it from list scheduling.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implemented the method in portable C++. The main feature is this force routine: it pins a candidate, recomputes every time frame, and sums the distribution-weighted change in probability — so the self-force and the neighbour forces come out of one loop. Running it reproduces the example exactly: first commit v3 to s3 at force minus 0.92, multiplier peak drops three to one.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product of HLS isn't the schedule but the netlist it implies: one multiplier, one adder, the registers, and a four-state controller — one state per control step. Each unit is a VHDL entity I wrote. The controller drives the shared units per the schedule; step 3 uses multiplier and adder in parallel.</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axes really separate these. First, which quantity is fixed — list scheduling fixes resources, FDS fixes latency. Second, global versus local — FDS weighs every step through the distribution graph before each move. ILP is optimal but exponential. FDS is the pragmatic middle when latency is fixed and the graph is moderate.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assessment. Strengths: the force is a principled, global cost, and it's extensible and polynomial. Limitations — and the most fundamental is that it's greedy with no backtracking, plus the uniform-probability assumption. It fits fixed-rate DSP datapaths, not control-dominated designs. As an open direction I'd explore a non-uniform, dependency-aware probability model.</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force-directed scheduling is a deliberate middle ground — it gets the global view greedy methods miss, at polynomial cost. One intuition runs through it: balance the distribution graph like springs. On the example it cut multipliers from three to one at the same latency, which I realised as an RTL netlist. Thank you —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elfolie">
    <p:spTree>
      <p:nvGrpSpPr>
        <p:cNvPr id="1" name=""/>
        <p:cNvGrpSpPr/>
        <p:nvPr/>
      </p:nvGrpSpPr>
      <p:grpSpPr>
        <a:xfrm>
          <a:off x="0" y="0"/>
          <a:ext cx="0" cy="0"/>
          <a:chOff x="0" y="0"/>
          <a:chExt cx="0" cy="0"/>
        </a:xfrm>
      </p:grpSpPr>
      <p:sp>
        <p:nvSpPr>
          <p:cNvPr id="9" name="Line 16"/>
          <p:cNvSpPr>
            <a:spLocks noChangeShapeType="1"/>
          </p:cNvSpPr>
          <p:nvPr userDrawn="1"/>
        </p:nvSpPr>
        <p:spPr bwMode="auto">
          <a:xfrm>
            <a:off x="0" y="944563"/>
            <a:ext cx="9144000" cy="0"/>
          </a:xfrm>
          <a:prstGeom prst="line">
            <a:avLst/>
          </a:prstGeom>
          <a:noFill/>
          <a:ln w="19050">
            <a:solidFill>
              <a:srgbClr val="5DAEFF"/>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3074" name="Rectangle 2"/>
          <p:cNvSpPr>
            <a:spLocks noGrp="1" noChangeArrowheads="1"/>
          </p:cNvSpPr>
          <p:nvPr>
            <p:ph type="ctrTitle"/>
          </p:nvPr>
        </p:nvSpPr>
        <p:spPr/>
        <p:txBody>
          <a:bodyPr/>
          <a:lstStyle>
            <a:lvl1pPr>
              <a:defRPr/>
            </a:lvl1pPr>
          </a:lstStyle>
          <a:p>
            <a:r>
              <a:rPr lang="de-DE" dirty="0"/>
              <a:t>Überschrift einfügen</a:t>
            </a:r>
          </a:p>
        </p:txBody>
      </p:sp>
      <p:sp>
        <p:nvSpPr>
          <p:cNvPr id="3075" name="Rectangle 3"/>
          <p:cNvSpPr>
            <a:spLocks noGrp="1" noChangeArrowheads="1"/>
          </p:cNvSpPr>
          <p:nvPr>
            <p:ph type="subTitle" idx="1"/>
          </p:nvPr>
        </p:nvSpPr>
        <p:spPr>
          <a:xfrm>
            <a:off x="539750" y="1052736"/>
            <a:ext cx="5326063" cy="269875"/>
          </a:xfrm>
        </p:spPr>
        <p:txBody>
          <a:bodyPr wrap="none"/>
          <a:lstStyle>
            <a:lvl1pPr marL="0" indent="0">
              <a:buFont typeface="Arial" pitchFamily="34" charset="0"/>
              <a:buNone/>
              <a:defRPr sz="2000" b="1">
                <a:solidFill>
                  <a:schemeClr val="bg1">
                    <a:lumMod val="50000"/>
                  </a:schemeClr>
                </a:solidFill>
              </a:defRPr>
            </a:lvl1pPr>
          </a:lstStyle>
          <a:p>
            <a:r>
              <a:rPr lang="de-DE" dirty="0"/>
              <a:t>Subheadline</a:t>
            </a:r>
          </a:p>
        </p:txBody>
      </p:sp>
      <p:pic>
        <p:nvPicPr>
          <p:cNvPr id="14" name="Grafik 4" descr="8-7-6-5-4-3-4-5-6-7-8_S.gif"/>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80412" y="116633"/>
            <a:ext cx="828092" cy="636596"/>
          </a:xfrm>
          <a:prstGeom prst="rect">
            <a:avLst/>
          </a:prstGeom>
        </p:spPr>
      </p:pic>
      <p:sp>
        <p:nvSpPr>
          <p:cNvPr id="10" name="Rectangle 12"/>
          <p:cNvSpPr>
            <a:spLocks noChangeArrowheads="1"/>
          </p:cNvSpPr>
          <p:nvPr userDrawn="1"/>
        </p:nvSpPr>
        <p:spPr bwMode="auto">
          <a:xfrm>
            <a:off x="0" y="6597650"/>
            <a:ext cx="4572000" cy="260350"/>
          </a:xfrm>
          <a:prstGeom prst="rect">
            <a:avLst/>
          </a:prstGeom>
          <a:solidFill>
            <a:srgbClr val="2190FF"/>
          </a:solidFill>
          <a:ln>
            <a:noFill/>
          </a:ln>
        </p:spPr>
        <p:txBody>
          <a:bodyPr wrap="none" anchor="ctr"/>
          <a:lstStyle/>
          <a:p>
            <a:pPr algn="ctr">
              <a:lnSpc>
                <a:spcPct val="100000"/>
              </a:lnSpc>
              <a:spcAft>
                <a:spcPct val="0"/>
              </a:spcAft>
              <a:buClrTx/>
              <a:buSzTx/>
              <a:buFontTx/>
              <a:buNone/>
            </a:pPr>
            <a:endParaRPr lang="de-DE" sz="1800" noProof="0">
              <a:solidFill>
                <a:schemeClr val="tx2"/>
              </a:solidFill>
            </a:endParaRPr>
          </a:p>
        </p:txBody>
      </p:sp>
      <p:sp>
        <p:nvSpPr>
          <p:cNvPr id="11" name="Rectangle 12"/>
          <p:cNvSpPr>
            <a:spLocks noChangeArrowheads="1"/>
          </p:cNvSpPr>
          <p:nvPr userDrawn="1"/>
        </p:nvSpPr>
        <p:spPr bwMode="auto">
          <a:xfrm>
            <a:off x="4572000" y="6597650"/>
            <a:ext cx="4572000" cy="260350"/>
          </a:xfrm>
          <a:prstGeom prst="rect">
            <a:avLst/>
          </a:prstGeom>
          <a:solidFill>
            <a:schemeClr val="accent2"/>
          </a:solidFill>
          <a:ln>
            <a:noFill/>
          </a:ln>
        </p:spPr>
        <p:txBody>
          <a:bodyPr wrap="none" anchor="ctr"/>
          <a:lstStyle/>
          <a:p>
            <a:pPr algn="ctr">
              <a:lnSpc>
                <a:spcPct val="100000"/>
              </a:lnSpc>
              <a:spcAft>
                <a:spcPct val="0"/>
              </a:spcAft>
              <a:buClrTx/>
              <a:buSzTx/>
              <a:buFontTx/>
              <a:buNone/>
            </a:pPr>
            <a:endParaRPr lang="de-DE" sz="1800" noProof="0">
              <a:solidFill>
                <a:schemeClr val="tx2"/>
              </a:solidFill>
            </a:endParaRPr>
          </a:p>
        </p:txBody>
      </p:sp>
      <p:sp>
        <p:nvSpPr>
          <p:cNvPr id="15" name="Rectangle 5"/>
          <p:cNvSpPr>
            <a:spLocks noGrp="1" noChangeArrowheads="1"/>
          </p:cNvSpPr>
          <p:nvPr>
            <p:ph type="ftr" sz="quarter" idx="3"/>
          </p:nvPr>
        </p:nvSpPr>
        <p:spPr bwMode="ltGray">
          <a:xfrm>
            <a:off x="182563" y="6656388"/>
            <a:ext cx="4389437" cy="144462"/>
          </a:xfrm>
          <a:prstGeom prst="rect">
            <a:avLst/>
          </a:prstGeom>
          <a:noFill/>
          <a:ln w="9525">
            <a:noFill/>
            <a:miter lim="800000"/>
            <a:headEnd/>
            <a:tailEnd/>
          </a:ln>
          <a:effectLst/>
        </p:spPr>
        <p:txBody>
          <a:bodyPr vert="horz" wrap="none" lIns="0" tIns="0" rIns="0" bIns="0" numCol="1" anchor="t" anchorCtr="0" compatLnSpc="1">
            <a:prstTxWarp prst="textNoShape">
              <a:avLst/>
            </a:prstTxWarp>
          </a:bodyPr>
          <a:lstStyle>
            <a:lvl1pPr>
              <a:lnSpc>
                <a:spcPct val="100000"/>
              </a:lnSpc>
              <a:spcAft>
                <a:spcPct val="0"/>
              </a:spcAft>
              <a:buClrTx/>
              <a:buSzTx/>
              <a:buFontTx/>
              <a:buNone/>
              <a:defRPr sz="1000" dirty="0">
                <a:solidFill>
                  <a:srgbClr val="FFFFFF"/>
                </a:solidFill>
                <a:latin typeface="Arial" pitchFamily="34" charset="0"/>
              </a:defRPr>
            </a:lvl1pPr>
          </a:lstStyle>
          <a:p>
            <a:pPr>
              <a:defRPr/>
            </a:pPr>
            <a:r>
              <a:rPr lang="de-DE" dirty="0"/>
              <a:t>Prof. Dr. Achim Rettberg – University </a:t>
            </a:r>
            <a:r>
              <a:rPr lang="de-DE" dirty="0" err="1"/>
              <a:t>of</a:t>
            </a:r>
            <a:r>
              <a:rPr lang="de-DE" dirty="0"/>
              <a:t> Applied </a:t>
            </a:r>
            <a:r>
              <a:rPr lang="de-DE" dirty="0" err="1"/>
              <a:t>Sciences</a:t>
            </a:r>
            <a:r>
              <a:rPr lang="de-DE" dirty="0"/>
              <a:t> Hamm-Lippstadt</a:t>
            </a:r>
          </a:p>
        </p:txBody>
      </p:sp>
      <p:sp>
        <p:nvSpPr>
          <p:cNvPr id="12" name="Rectangle 15"/>
          <p:cNvSpPr>
            <a:spLocks noGrp="1" noChangeArrowheads="1"/>
          </p:cNvSpPr>
          <p:nvPr>
            <p:ph type="dt" sz="half" idx="16"/>
          </p:nvPr>
        </p:nvSpPr>
        <p:spPr>
          <a:xfrm>
            <a:off x="7812360" y="6656388"/>
            <a:ext cx="755650" cy="144462"/>
          </a:xfrm>
          <a:ln/>
        </p:spPr>
        <p:txBody>
          <a:bodyPr/>
          <a:lstStyle>
            <a:lvl1pPr>
              <a:defRPr/>
            </a:lvl1pPr>
          </a:lstStyle>
          <a:p>
            <a:pPr>
              <a:defRPr/>
            </a:pPr>
            <a:fld id="{67076C5B-2EA2-7A47-B86E-99AAD28441A6}" type="datetime1">
              <a:rPr lang="de-DE" smtClean="0"/>
              <a:t>14.06.2026</a:t>
            </a:fld>
            <a:endParaRPr lang="de-DE" dirty="0"/>
          </a:p>
        </p:txBody>
      </p:sp>
      <p:sp>
        <p:nvSpPr>
          <p:cNvPr id="13" name="Rectangle 6"/>
          <p:cNvSpPr>
            <a:spLocks noGrp="1" noChangeArrowheads="1"/>
          </p:cNvSpPr>
          <p:nvPr>
            <p:ph type="sldNum" sz="quarter" idx="4"/>
          </p:nvPr>
        </p:nvSpPr>
        <p:spPr bwMode="auto">
          <a:xfrm>
            <a:off x="8676456" y="6655197"/>
            <a:ext cx="468052" cy="158179"/>
          </a:xfrm>
          <a:prstGeom prst="rect">
            <a:avLst/>
          </a:prstGeom>
          <a:noFill/>
          <a:ln w="9525">
            <a:noFill/>
            <a:miter lim="800000"/>
            <a:headEnd/>
            <a:tailEnd/>
          </a:ln>
          <a:effectLst/>
        </p:spPr>
        <p:txBody>
          <a:bodyPr vert="horz" wrap="none" lIns="0" tIns="0" rIns="0" bIns="0" numCol="1" anchor="t" anchorCtr="0" compatLnSpc="1">
            <a:prstTxWarp prst="textNoShape">
              <a:avLst/>
            </a:prstTxWarp>
          </a:bodyPr>
          <a:lstStyle>
            <a:lvl1pPr algn="l">
              <a:lnSpc>
                <a:spcPct val="100000"/>
              </a:lnSpc>
              <a:spcAft>
                <a:spcPct val="0"/>
              </a:spcAft>
              <a:buClrTx/>
              <a:buSzTx/>
              <a:buFontTx/>
              <a:buNone/>
              <a:defRPr sz="1000" b="0">
                <a:solidFill>
                  <a:schemeClr val="bg1"/>
                </a:solidFill>
                <a:latin typeface="Arial" pitchFamily="34" charset="0"/>
              </a:defRPr>
            </a:lvl1pPr>
          </a:lstStyle>
          <a:p>
            <a:pPr>
              <a:defRPr/>
            </a:pPr>
            <a:r>
              <a:rPr lang="de-DE" dirty="0"/>
              <a:t>&lt; </a:t>
            </a:r>
            <a:fld id="{1A61C92B-C297-4AC9-B551-2D8A658A0122}" type="slidenum">
              <a:rPr lang="de-DE" smtClean="0"/>
              <a:pPr>
                <a:defRPr/>
              </a:pPr>
              <a:t>‹#›</a:t>
            </a:fld>
            <a:r>
              <a:rPr lang="de-DE" dirty="0"/>
              <a:t> &gt;</a:t>
            </a:r>
          </a:p>
        </p:txBody>
      </p:sp>
    </p:spTree>
    <p:extLst>
      <p:ext uri="{BB962C8B-B14F-4D97-AF65-F5344CB8AC3E}">
        <p14:creationId xmlns:p14="http://schemas.microsoft.com/office/powerpoint/2010/main" val="4960946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noProof="0" dirty="0"/>
              <a:t>Titelmasterformat durch Klicken bearbeiten</a:t>
            </a:r>
          </a:p>
        </p:txBody>
      </p:sp>
      <p:sp>
        <p:nvSpPr>
          <p:cNvPr id="3" name="Inhaltsplatzhalter 2"/>
          <p:cNvSpPr>
            <a:spLocks noGrp="1"/>
          </p:cNvSpPr>
          <p:nvPr>
            <p:ph idx="1"/>
          </p:nvPr>
        </p:nvSpPr>
        <p:spPr/>
        <p:txBody>
          <a:bodyPr/>
          <a:lstStyle>
            <a:lvl1pPr>
              <a:buClr>
                <a:schemeClr val="bg2"/>
              </a:buClr>
              <a:defRPr>
                <a:solidFill>
                  <a:schemeClr val="tx1">
                    <a:lumMod val="65000"/>
                    <a:lumOff val="35000"/>
                  </a:schemeClr>
                </a:solidFill>
              </a:defRPr>
            </a:lvl1pPr>
            <a:lvl2pPr>
              <a:buClr>
                <a:schemeClr val="bg2"/>
              </a:buClr>
              <a:defRPr>
                <a:solidFill>
                  <a:schemeClr val="tx1">
                    <a:lumMod val="65000"/>
                    <a:lumOff val="35000"/>
                  </a:schemeClr>
                </a:solidFill>
              </a:defRPr>
            </a:lvl2pPr>
            <a:lvl3pPr>
              <a:buClr>
                <a:schemeClr val="bg2"/>
              </a:buClr>
              <a:defRPr>
                <a:solidFill>
                  <a:schemeClr val="tx1">
                    <a:lumMod val="65000"/>
                    <a:lumOff val="35000"/>
                  </a:schemeClr>
                </a:solidFill>
              </a:defRPr>
            </a:lvl3pPr>
            <a:lvl4pPr>
              <a:buClr>
                <a:schemeClr val="bg2"/>
              </a:buClr>
              <a:defRPr>
                <a:solidFill>
                  <a:schemeClr val="tx1">
                    <a:lumMod val="65000"/>
                    <a:lumOff val="35000"/>
                  </a:schemeClr>
                </a:solidFill>
              </a:defRPr>
            </a:lvl4pPr>
            <a:lvl5pPr>
              <a:buClr>
                <a:schemeClr val="bg2"/>
              </a:buClr>
              <a:defRPr>
                <a:solidFill>
                  <a:schemeClr val="tx1">
                    <a:lumMod val="65000"/>
                    <a:lumOff val="35000"/>
                  </a:schemeClr>
                </a:solidFill>
              </a:defRPr>
            </a:lvl5pPr>
          </a:lstStyle>
          <a:p>
            <a:pPr lvl="0"/>
            <a:r>
              <a:rPr lang="de-DE" noProof="0" dirty="0"/>
              <a:t>Textmasterformate durch Klicken bearbeiten</a:t>
            </a:r>
          </a:p>
          <a:p>
            <a:pPr lvl="1"/>
            <a:r>
              <a:rPr lang="de-DE" noProof="0" dirty="0"/>
              <a:t>Zweite Ebene</a:t>
            </a:r>
          </a:p>
          <a:p>
            <a:pPr lvl="2"/>
            <a:r>
              <a:rPr lang="de-DE" noProof="0" dirty="0"/>
              <a:t>Dritte Ebene</a:t>
            </a:r>
          </a:p>
          <a:p>
            <a:pPr lvl="3"/>
            <a:r>
              <a:rPr lang="de-DE" noProof="0" dirty="0"/>
              <a:t>Vierte Ebene</a:t>
            </a:r>
          </a:p>
          <a:p>
            <a:pPr lvl="4"/>
            <a:r>
              <a:rPr lang="de-DE" noProof="0" dirty="0"/>
              <a:t>Fünfte Ebene</a:t>
            </a:r>
          </a:p>
        </p:txBody>
      </p:sp>
      <p:sp>
        <p:nvSpPr>
          <p:cNvPr id="7" name="Rectangle 3"/>
          <p:cNvSpPr>
            <a:spLocks noGrp="1" noChangeArrowheads="1"/>
          </p:cNvSpPr>
          <p:nvPr>
            <p:ph type="subTitle" idx="13"/>
          </p:nvPr>
        </p:nvSpPr>
        <p:spPr>
          <a:xfrm>
            <a:off x="467544" y="512676"/>
            <a:ext cx="5326063" cy="269875"/>
          </a:xfrm>
        </p:spPr>
        <p:txBody>
          <a:bodyPr wrap="none"/>
          <a:lstStyle>
            <a:lvl1pPr marL="0" indent="0">
              <a:buFont typeface="Arial" pitchFamily="34" charset="0"/>
              <a:buNone/>
              <a:defRPr sz="2000" b="1">
                <a:solidFill>
                  <a:schemeClr val="bg1">
                    <a:lumMod val="50000"/>
                  </a:schemeClr>
                </a:solidFill>
              </a:defRPr>
            </a:lvl1pPr>
          </a:lstStyle>
          <a:p>
            <a:r>
              <a:rPr lang="de-DE" noProof="0" dirty="0"/>
              <a:t>Subheadline</a:t>
            </a:r>
          </a:p>
        </p:txBody>
      </p:sp>
      <p:sp>
        <p:nvSpPr>
          <p:cNvPr id="5" name="Rectangle 5"/>
          <p:cNvSpPr>
            <a:spLocks noGrp="1" noChangeArrowheads="1"/>
          </p:cNvSpPr>
          <p:nvPr>
            <p:ph type="ftr" sz="quarter" idx="14"/>
          </p:nvPr>
        </p:nvSpPr>
        <p:spPr>
          <a:ln/>
        </p:spPr>
        <p:txBody>
          <a:bodyPr/>
          <a:lstStyle>
            <a:lvl1pPr>
              <a:defRPr/>
            </a:lvl1pPr>
          </a:lstStyle>
          <a:p>
            <a:pPr>
              <a:defRPr/>
            </a:pPr>
            <a:r>
              <a:rPr lang="de-DE" dirty="0"/>
              <a:t>Prof. Dr. Achim Rettberg – University </a:t>
            </a:r>
            <a:r>
              <a:rPr lang="de-DE" dirty="0" err="1"/>
              <a:t>of</a:t>
            </a:r>
            <a:r>
              <a:rPr lang="de-DE" dirty="0"/>
              <a:t> Applied </a:t>
            </a:r>
            <a:r>
              <a:rPr lang="de-DE" dirty="0" err="1"/>
              <a:t>Sciences</a:t>
            </a:r>
            <a:r>
              <a:rPr lang="de-DE" dirty="0"/>
              <a:t> Hamm-Lippstadt</a:t>
            </a:r>
          </a:p>
        </p:txBody>
      </p:sp>
      <p:sp>
        <p:nvSpPr>
          <p:cNvPr id="8" name="Rectangle 15"/>
          <p:cNvSpPr>
            <a:spLocks noGrp="1" noChangeArrowheads="1"/>
          </p:cNvSpPr>
          <p:nvPr>
            <p:ph type="dt" sz="half" idx="16"/>
          </p:nvPr>
        </p:nvSpPr>
        <p:spPr>
          <a:ln/>
        </p:spPr>
        <p:txBody>
          <a:bodyPr/>
          <a:lstStyle>
            <a:lvl1pPr>
              <a:defRPr/>
            </a:lvl1pPr>
          </a:lstStyle>
          <a:p>
            <a:pPr>
              <a:defRPr/>
            </a:pPr>
            <a:fld id="{EEA6CC5D-69A9-BA4B-AC99-9F8254D0981E}" type="datetime1">
              <a:rPr lang="de-DE" smtClean="0"/>
              <a:t>14.06.2026</a:t>
            </a:fld>
            <a:endParaRPr lang="de-DE" dirty="0"/>
          </a:p>
        </p:txBody>
      </p:sp>
      <p:sp>
        <p:nvSpPr>
          <p:cNvPr id="9" name="Rectangle 6"/>
          <p:cNvSpPr>
            <a:spLocks noGrp="1" noChangeArrowheads="1"/>
          </p:cNvSpPr>
          <p:nvPr>
            <p:ph type="sldNum" sz="quarter" idx="4"/>
          </p:nvPr>
        </p:nvSpPr>
        <p:spPr bwMode="auto">
          <a:xfrm>
            <a:off x="8676456" y="6655197"/>
            <a:ext cx="468052" cy="158179"/>
          </a:xfrm>
          <a:prstGeom prst="rect">
            <a:avLst/>
          </a:prstGeom>
          <a:noFill/>
          <a:ln w="9525">
            <a:noFill/>
            <a:miter lim="800000"/>
            <a:headEnd/>
            <a:tailEnd/>
          </a:ln>
          <a:effectLst/>
        </p:spPr>
        <p:txBody>
          <a:bodyPr vert="horz" wrap="none" lIns="0" tIns="0" rIns="0" bIns="0" numCol="1" anchor="t" anchorCtr="0" compatLnSpc="1">
            <a:prstTxWarp prst="textNoShape">
              <a:avLst/>
            </a:prstTxWarp>
          </a:bodyPr>
          <a:lstStyle>
            <a:lvl1pPr algn="l">
              <a:lnSpc>
                <a:spcPct val="100000"/>
              </a:lnSpc>
              <a:spcAft>
                <a:spcPct val="0"/>
              </a:spcAft>
              <a:buClrTx/>
              <a:buSzTx/>
              <a:buFontTx/>
              <a:buNone/>
              <a:defRPr sz="1000" b="0">
                <a:solidFill>
                  <a:schemeClr val="bg1"/>
                </a:solidFill>
                <a:latin typeface="Arial" pitchFamily="34" charset="0"/>
              </a:defRPr>
            </a:lvl1pPr>
          </a:lstStyle>
          <a:p>
            <a:pPr>
              <a:defRPr/>
            </a:pPr>
            <a:r>
              <a:rPr lang="de-DE" dirty="0"/>
              <a:t>&lt; </a:t>
            </a:r>
            <a:fld id="{1A61C92B-C297-4AC9-B551-2D8A658A0122}" type="slidenum">
              <a:rPr lang="de-DE" smtClean="0"/>
              <a:pPr>
                <a:defRPr/>
              </a:pPr>
              <a:t>‹#›</a:t>
            </a:fld>
            <a:r>
              <a:rPr lang="de-DE" dirty="0"/>
              <a:t> &gt;</a:t>
            </a:r>
          </a:p>
        </p:txBody>
      </p:sp>
    </p:spTree>
    <p:extLst>
      <p:ext uri="{BB962C8B-B14F-4D97-AF65-F5344CB8AC3E}">
        <p14:creationId xmlns:p14="http://schemas.microsoft.com/office/powerpoint/2010/main" val="35025703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Inhaltsplatzhalter 2"/>
          <p:cNvSpPr>
            <a:spLocks noGrp="1"/>
          </p:cNvSpPr>
          <p:nvPr>
            <p:ph sz="half" idx="1"/>
          </p:nvPr>
        </p:nvSpPr>
        <p:spPr>
          <a:xfrm>
            <a:off x="539750" y="944724"/>
            <a:ext cx="3830638" cy="5440201"/>
          </a:xfrm>
        </p:spPr>
        <p:txBody>
          <a:bodyPr/>
          <a:lstStyle>
            <a:lvl1pPr>
              <a:defRPr sz="1600"/>
            </a:lvl1pPr>
            <a:lvl2pPr>
              <a:defRPr sz="1600"/>
            </a:lvl2pPr>
            <a:lvl3pPr>
              <a:defRPr sz="1600"/>
            </a:lvl3pPr>
            <a:lvl4pPr>
              <a:defRPr sz="1600"/>
            </a:lvl4pPr>
            <a:lvl5pPr>
              <a:defRPr sz="1600"/>
            </a:lvl5pPr>
            <a:lvl6pPr>
              <a:defRPr sz="1800"/>
            </a:lvl6pPr>
            <a:lvl7pPr>
              <a:defRPr sz="1800"/>
            </a:lvl7pPr>
            <a:lvl8pPr>
              <a:defRPr sz="1800"/>
            </a:lvl8pPr>
            <a:lvl9pPr>
              <a:defRPr sz="1800"/>
            </a:lvl9pPr>
          </a:lstStyle>
          <a:p>
            <a:pPr lvl="0"/>
            <a:r>
              <a:rPr lang="de-DE" dirty="0"/>
              <a:t>Textmasterformate durch Klicken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Inhaltsplatzhalter 3"/>
          <p:cNvSpPr>
            <a:spLocks noGrp="1"/>
          </p:cNvSpPr>
          <p:nvPr>
            <p:ph sz="half" idx="2"/>
          </p:nvPr>
        </p:nvSpPr>
        <p:spPr>
          <a:xfrm>
            <a:off x="4522788" y="944724"/>
            <a:ext cx="3830637" cy="5440201"/>
          </a:xfrm>
        </p:spPr>
        <p:txBody>
          <a:bodyPr/>
          <a:lstStyle>
            <a:lvl1pPr>
              <a:defRPr sz="1600"/>
            </a:lvl1pPr>
            <a:lvl2pPr>
              <a:defRPr sz="1600"/>
            </a:lvl2pPr>
            <a:lvl3pPr>
              <a:defRPr sz="1600"/>
            </a:lvl3pPr>
            <a:lvl4pPr>
              <a:defRPr sz="1600"/>
            </a:lvl4pPr>
            <a:lvl5pPr>
              <a:defRPr sz="1600"/>
            </a:lvl5pPr>
            <a:lvl6pPr>
              <a:defRPr sz="1800"/>
            </a:lvl6pPr>
            <a:lvl7pPr>
              <a:defRPr sz="1800"/>
            </a:lvl7pPr>
            <a:lvl8pPr>
              <a:defRPr sz="1800"/>
            </a:lvl8pPr>
            <a:lvl9pPr>
              <a:defRPr sz="1800"/>
            </a:lvl9pPr>
          </a:lstStyle>
          <a:p>
            <a:pPr lvl="0"/>
            <a:r>
              <a:rPr lang="de-DE" dirty="0"/>
              <a:t>Textmasterformate durch Klicken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8" name="Rectangle 3"/>
          <p:cNvSpPr>
            <a:spLocks noGrp="1" noChangeArrowheads="1"/>
          </p:cNvSpPr>
          <p:nvPr>
            <p:ph type="subTitle" idx="13"/>
          </p:nvPr>
        </p:nvSpPr>
        <p:spPr>
          <a:xfrm>
            <a:off x="467544" y="512676"/>
            <a:ext cx="5326063" cy="269875"/>
          </a:xfrm>
        </p:spPr>
        <p:txBody>
          <a:bodyPr wrap="none"/>
          <a:lstStyle>
            <a:lvl1pPr marL="0" indent="0">
              <a:buFont typeface="Arial" pitchFamily="34" charset="0"/>
              <a:buNone/>
              <a:defRPr sz="2000" b="1">
                <a:solidFill>
                  <a:schemeClr val="bg1">
                    <a:lumMod val="50000"/>
                  </a:schemeClr>
                </a:solidFill>
              </a:defRPr>
            </a:lvl1pPr>
          </a:lstStyle>
          <a:p>
            <a:r>
              <a:rPr lang="de-DE" dirty="0"/>
              <a:t>Subheadline</a:t>
            </a:r>
          </a:p>
        </p:txBody>
      </p:sp>
      <p:sp>
        <p:nvSpPr>
          <p:cNvPr id="6" name="Rectangle 5"/>
          <p:cNvSpPr>
            <a:spLocks noGrp="1" noChangeArrowheads="1"/>
          </p:cNvSpPr>
          <p:nvPr>
            <p:ph type="ftr" sz="quarter" idx="14"/>
          </p:nvPr>
        </p:nvSpPr>
        <p:spPr>
          <a:ln/>
        </p:spPr>
        <p:txBody>
          <a:bodyPr/>
          <a:lstStyle>
            <a:lvl1pPr>
              <a:defRPr/>
            </a:lvl1pPr>
          </a:lstStyle>
          <a:p>
            <a:pPr>
              <a:defRPr/>
            </a:pPr>
            <a:r>
              <a:rPr lang="de-DE" dirty="0"/>
              <a:t>Prof. Dr. Achim Rettberg – University </a:t>
            </a:r>
            <a:r>
              <a:rPr lang="de-DE" dirty="0" err="1"/>
              <a:t>of</a:t>
            </a:r>
            <a:r>
              <a:rPr lang="de-DE" dirty="0"/>
              <a:t> Applied </a:t>
            </a:r>
            <a:r>
              <a:rPr lang="de-DE" dirty="0" err="1"/>
              <a:t>Sciences</a:t>
            </a:r>
            <a:r>
              <a:rPr lang="de-DE" dirty="0"/>
              <a:t> Hamm-Lippstadt</a:t>
            </a:r>
          </a:p>
        </p:txBody>
      </p:sp>
      <p:sp>
        <p:nvSpPr>
          <p:cNvPr id="9" name="Rectangle 15"/>
          <p:cNvSpPr>
            <a:spLocks noGrp="1" noChangeArrowheads="1"/>
          </p:cNvSpPr>
          <p:nvPr>
            <p:ph type="dt" sz="half" idx="16"/>
          </p:nvPr>
        </p:nvSpPr>
        <p:spPr>
          <a:ln/>
        </p:spPr>
        <p:txBody>
          <a:bodyPr/>
          <a:lstStyle>
            <a:lvl1pPr>
              <a:defRPr/>
            </a:lvl1pPr>
          </a:lstStyle>
          <a:p>
            <a:pPr>
              <a:defRPr/>
            </a:pPr>
            <a:fld id="{0B1EAA1D-2E15-9046-9A40-4947ABB751C4}" type="datetime1">
              <a:rPr lang="de-DE" smtClean="0"/>
              <a:t>14.06.2026</a:t>
            </a:fld>
            <a:endParaRPr lang="de-DE"/>
          </a:p>
        </p:txBody>
      </p:sp>
      <p:sp>
        <p:nvSpPr>
          <p:cNvPr id="10" name="Rectangle 6"/>
          <p:cNvSpPr>
            <a:spLocks noGrp="1" noChangeArrowheads="1"/>
          </p:cNvSpPr>
          <p:nvPr>
            <p:ph type="sldNum" sz="quarter" idx="4"/>
          </p:nvPr>
        </p:nvSpPr>
        <p:spPr bwMode="auto">
          <a:xfrm>
            <a:off x="8676456" y="6655197"/>
            <a:ext cx="468052" cy="158179"/>
          </a:xfrm>
          <a:prstGeom prst="rect">
            <a:avLst/>
          </a:prstGeom>
          <a:noFill/>
          <a:ln w="9525">
            <a:noFill/>
            <a:miter lim="800000"/>
            <a:headEnd/>
            <a:tailEnd/>
          </a:ln>
          <a:effectLst/>
        </p:spPr>
        <p:txBody>
          <a:bodyPr vert="horz" wrap="none" lIns="0" tIns="0" rIns="0" bIns="0" numCol="1" anchor="t" anchorCtr="0" compatLnSpc="1">
            <a:prstTxWarp prst="textNoShape">
              <a:avLst/>
            </a:prstTxWarp>
          </a:bodyPr>
          <a:lstStyle>
            <a:lvl1pPr algn="l">
              <a:lnSpc>
                <a:spcPct val="100000"/>
              </a:lnSpc>
              <a:spcAft>
                <a:spcPct val="0"/>
              </a:spcAft>
              <a:buClrTx/>
              <a:buSzTx/>
              <a:buFontTx/>
              <a:buNone/>
              <a:defRPr sz="1000" b="0">
                <a:solidFill>
                  <a:schemeClr val="bg1"/>
                </a:solidFill>
                <a:latin typeface="Arial" pitchFamily="34" charset="0"/>
              </a:defRPr>
            </a:lvl1pPr>
          </a:lstStyle>
          <a:p>
            <a:pPr>
              <a:defRPr/>
            </a:pPr>
            <a:r>
              <a:rPr lang="de-DE" dirty="0"/>
              <a:t>&lt; </a:t>
            </a:r>
            <a:fld id="{1A61C92B-C297-4AC9-B551-2D8A658A0122}" type="slidenum">
              <a:rPr lang="de-DE" smtClean="0"/>
              <a:pPr>
                <a:defRPr/>
              </a:pPr>
              <a:t>‹#›</a:t>
            </a:fld>
            <a:r>
              <a:rPr lang="de-DE" dirty="0"/>
              <a:t> &gt;</a:t>
            </a:r>
          </a:p>
        </p:txBody>
      </p:sp>
    </p:spTree>
    <p:extLst>
      <p:ext uri="{BB962C8B-B14F-4D97-AF65-F5344CB8AC3E}">
        <p14:creationId xmlns:p14="http://schemas.microsoft.com/office/powerpoint/2010/main" val="33802738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el und Tabelle">
    <p:spTree>
      <p:nvGrpSpPr>
        <p:cNvPr id="1" name=""/>
        <p:cNvGrpSpPr/>
        <p:nvPr/>
      </p:nvGrpSpPr>
      <p:grpSpPr>
        <a:xfrm>
          <a:off x="0" y="0"/>
          <a:ext cx="0" cy="0"/>
          <a:chOff x="0" y="0"/>
          <a:chExt cx="0" cy="0"/>
        </a:xfrm>
      </p:grpSpPr>
      <p:sp>
        <p:nvSpPr>
          <p:cNvPr id="2" name="Titel 1"/>
          <p:cNvSpPr>
            <a:spLocks noGrp="1"/>
          </p:cNvSpPr>
          <p:nvPr>
            <p:ph type="title"/>
          </p:nvPr>
        </p:nvSpPr>
        <p:spPr>
          <a:xfrm>
            <a:off x="539750" y="116632"/>
            <a:ext cx="5326063" cy="360362"/>
          </a:xfrm>
        </p:spPr>
        <p:txBody>
          <a:bodyPr/>
          <a:lstStyle/>
          <a:p>
            <a:r>
              <a:rPr lang="de-DE"/>
              <a:t>Titelmasterformat durch Klicken bearbeiten</a:t>
            </a:r>
          </a:p>
        </p:txBody>
      </p:sp>
      <p:sp>
        <p:nvSpPr>
          <p:cNvPr id="3" name="Tabellenplatzhalter 2"/>
          <p:cNvSpPr>
            <a:spLocks noGrp="1"/>
          </p:cNvSpPr>
          <p:nvPr>
            <p:ph type="tbl" idx="1"/>
          </p:nvPr>
        </p:nvSpPr>
        <p:spPr>
          <a:xfrm>
            <a:off x="539750" y="908720"/>
            <a:ext cx="7813675" cy="5476205"/>
          </a:xfrm>
        </p:spPr>
        <p:txBody>
          <a:bodyPr/>
          <a:lstStyle/>
          <a:p>
            <a:pPr lvl="0"/>
            <a:endParaRPr lang="de-DE" noProof="0"/>
          </a:p>
        </p:txBody>
      </p:sp>
      <p:sp>
        <p:nvSpPr>
          <p:cNvPr id="7" name="Rectangle 3"/>
          <p:cNvSpPr>
            <a:spLocks noGrp="1" noChangeArrowheads="1"/>
          </p:cNvSpPr>
          <p:nvPr>
            <p:ph type="subTitle" idx="13"/>
          </p:nvPr>
        </p:nvSpPr>
        <p:spPr>
          <a:xfrm>
            <a:off x="539750" y="469057"/>
            <a:ext cx="5326063" cy="269875"/>
          </a:xfrm>
        </p:spPr>
        <p:txBody>
          <a:bodyPr wrap="none"/>
          <a:lstStyle>
            <a:lvl1pPr marL="0" indent="0">
              <a:buFont typeface="Arial" pitchFamily="34" charset="0"/>
              <a:buNone/>
              <a:defRPr sz="2000" b="1">
                <a:solidFill>
                  <a:schemeClr val="bg1">
                    <a:lumMod val="50000"/>
                  </a:schemeClr>
                </a:solidFill>
              </a:defRPr>
            </a:lvl1pPr>
          </a:lstStyle>
          <a:p>
            <a:r>
              <a:rPr lang="de-DE" dirty="0"/>
              <a:t>Subheadline</a:t>
            </a:r>
          </a:p>
        </p:txBody>
      </p:sp>
      <p:sp>
        <p:nvSpPr>
          <p:cNvPr id="5" name="Rectangle 5"/>
          <p:cNvSpPr>
            <a:spLocks noGrp="1" noChangeArrowheads="1"/>
          </p:cNvSpPr>
          <p:nvPr>
            <p:ph type="ftr" sz="quarter" idx="14"/>
          </p:nvPr>
        </p:nvSpPr>
        <p:spPr>
          <a:ln/>
        </p:spPr>
        <p:txBody>
          <a:bodyPr/>
          <a:lstStyle>
            <a:lvl1pPr>
              <a:defRPr/>
            </a:lvl1pPr>
          </a:lstStyle>
          <a:p>
            <a:pPr>
              <a:defRPr/>
            </a:pPr>
            <a:r>
              <a:rPr lang="de-DE" dirty="0"/>
              <a:t>Prof. Dr. Achim Rettberg – University </a:t>
            </a:r>
            <a:r>
              <a:rPr lang="de-DE" dirty="0" err="1"/>
              <a:t>of</a:t>
            </a:r>
            <a:r>
              <a:rPr lang="de-DE" dirty="0"/>
              <a:t> Applied </a:t>
            </a:r>
            <a:r>
              <a:rPr lang="de-DE" dirty="0" err="1"/>
              <a:t>Sciences</a:t>
            </a:r>
            <a:r>
              <a:rPr lang="de-DE" dirty="0"/>
              <a:t> Hamm-Lippstadt</a:t>
            </a:r>
          </a:p>
        </p:txBody>
      </p:sp>
      <p:sp>
        <p:nvSpPr>
          <p:cNvPr id="8" name="Rectangle 15"/>
          <p:cNvSpPr>
            <a:spLocks noGrp="1" noChangeArrowheads="1"/>
          </p:cNvSpPr>
          <p:nvPr>
            <p:ph type="dt" sz="half" idx="16"/>
          </p:nvPr>
        </p:nvSpPr>
        <p:spPr>
          <a:ln/>
        </p:spPr>
        <p:txBody>
          <a:bodyPr/>
          <a:lstStyle>
            <a:lvl1pPr>
              <a:defRPr/>
            </a:lvl1pPr>
          </a:lstStyle>
          <a:p>
            <a:pPr>
              <a:defRPr/>
            </a:pPr>
            <a:fld id="{25B5056C-E1FC-1F4E-A35C-F2D495D58E09}" type="datetime1">
              <a:rPr lang="de-DE" smtClean="0"/>
              <a:t>14.06.2026</a:t>
            </a:fld>
            <a:endParaRPr lang="de-DE"/>
          </a:p>
        </p:txBody>
      </p:sp>
      <p:sp>
        <p:nvSpPr>
          <p:cNvPr id="9" name="Rectangle 6"/>
          <p:cNvSpPr>
            <a:spLocks noGrp="1" noChangeArrowheads="1"/>
          </p:cNvSpPr>
          <p:nvPr>
            <p:ph type="sldNum" sz="quarter" idx="4"/>
          </p:nvPr>
        </p:nvSpPr>
        <p:spPr bwMode="auto">
          <a:xfrm>
            <a:off x="8676456" y="6655197"/>
            <a:ext cx="468052" cy="158179"/>
          </a:xfrm>
          <a:prstGeom prst="rect">
            <a:avLst/>
          </a:prstGeom>
          <a:noFill/>
          <a:ln w="9525">
            <a:noFill/>
            <a:miter lim="800000"/>
            <a:headEnd/>
            <a:tailEnd/>
          </a:ln>
          <a:effectLst/>
        </p:spPr>
        <p:txBody>
          <a:bodyPr vert="horz" wrap="none" lIns="0" tIns="0" rIns="0" bIns="0" numCol="1" anchor="t" anchorCtr="0" compatLnSpc="1">
            <a:prstTxWarp prst="textNoShape">
              <a:avLst/>
            </a:prstTxWarp>
          </a:bodyPr>
          <a:lstStyle>
            <a:lvl1pPr algn="l">
              <a:lnSpc>
                <a:spcPct val="100000"/>
              </a:lnSpc>
              <a:spcAft>
                <a:spcPct val="0"/>
              </a:spcAft>
              <a:buClrTx/>
              <a:buSzTx/>
              <a:buFontTx/>
              <a:buNone/>
              <a:defRPr sz="1000" b="0">
                <a:solidFill>
                  <a:schemeClr val="bg1"/>
                </a:solidFill>
                <a:latin typeface="Arial" pitchFamily="34" charset="0"/>
              </a:defRPr>
            </a:lvl1pPr>
          </a:lstStyle>
          <a:p>
            <a:pPr>
              <a:defRPr/>
            </a:pPr>
            <a:r>
              <a:rPr lang="de-DE" dirty="0"/>
              <a:t>&lt; </a:t>
            </a:r>
            <a:fld id="{1A61C92B-C297-4AC9-B551-2D8A658A0122}" type="slidenum">
              <a:rPr lang="de-DE" smtClean="0"/>
              <a:pPr>
                <a:defRPr/>
              </a:pPr>
              <a:t>‹#›</a:t>
            </a:fld>
            <a:r>
              <a:rPr lang="de-DE" dirty="0"/>
              <a:t> &gt;</a:t>
            </a:r>
          </a:p>
        </p:txBody>
      </p:sp>
    </p:spTree>
    <p:extLst>
      <p:ext uri="{BB962C8B-B14F-4D97-AF65-F5344CB8AC3E}">
        <p14:creationId xmlns:p14="http://schemas.microsoft.com/office/powerpoint/2010/main" val="28356273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Nur Titel">
    <p:spTree>
      <p:nvGrpSpPr>
        <p:cNvPr id="1" name=""/>
        <p:cNvGrpSpPr/>
        <p:nvPr/>
      </p:nvGrpSpPr>
      <p:grpSpPr>
        <a:xfrm>
          <a:off x="0" y="0"/>
          <a:ext cx="0" cy="0"/>
          <a:chOff x="0" y="0"/>
          <a:chExt cx="0" cy="0"/>
        </a:xfrm>
      </p:grpSpPr>
      <p:sp>
        <p:nvSpPr>
          <p:cNvPr id="5" name="Titel 1"/>
          <p:cNvSpPr>
            <a:spLocks noGrp="1"/>
          </p:cNvSpPr>
          <p:nvPr>
            <p:ph type="title"/>
          </p:nvPr>
        </p:nvSpPr>
        <p:spPr>
          <a:xfrm>
            <a:off x="539750" y="116632"/>
            <a:ext cx="5326063" cy="360362"/>
          </a:xfrm>
        </p:spPr>
        <p:txBody>
          <a:bodyPr/>
          <a:lstStyle/>
          <a:p>
            <a:r>
              <a:rPr lang="de-DE" dirty="0"/>
              <a:t>Titelmasterformat durch Klicken bearbeiten</a:t>
            </a:r>
          </a:p>
        </p:txBody>
      </p:sp>
      <p:sp>
        <p:nvSpPr>
          <p:cNvPr id="7" name="Rectangle 3"/>
          <p:cNvSpPr>
            <a:spLocks noGrp="1" noChangeArrowheads="1"/>
          </p:cNvSpPr>
          <p:nvPr>
            <p:ph type="subTitle" idx="1"/>
          </p:nvPr>
        </p:nvSpPr>
        <p:spPr>
          <a:xfrm>
            <a:off x="539750" y="469057"/>
            <a:ext cx="5326063" cy="269875"/>
          </a:xfrm>
        </p:spPr>
        <p:txBody>
          <a:bodyPr wrap="none"/>
          <a:lstStyle>
            <a:lvl1pPr marL="0" indent="0">
              <a:buFont typeface="Arial" pitchFamily="34" charset="0"/>
              <a:buNone/>
              <a:defRPr sz="2000" b="1">
                <a:solidFill>
                  <a:schemeClr val="bg1">
                    <a:lumMod val="50000"/>
                  </a:schemeClr>
                </a:solidFill>
              </a:defRPr>
            </a:lvl1pPr>
          </a:lstStyle>
          <a:p>
            <a:r>
              <a:rPr lang="de-DE" dirty="0"/>
              <a:t>Subheadline</a:t>
            </a:r>
          </a:p>
        </p:txBody>
      </p:sp>
      <p:sp>
        <p:nvSpPr>
          <p:cNvPr id="4" name="Rectangle 5"/>
          <p:cNvSpPr>
            <a:spLocks noGrp="1" noChangeArrowheads="1"/>
          </p:cNvSpPr>
          <p:nvPr>
            <p:ph type="ftr" sz="quarter" idx="10"/>
          </p:nvPr>
        </p:nvSpPr>
        <p:spPr>
          <a:ln/>
        </p:spPr>
        <p:txBody>
          <a:bodyPr/>
          <a:lstStyle>
            <a:lvl1pPr>
              <a:defRPr/>
            </a:lvl1pPr>
          </a:lstStyle>
          <a:p>
            <a:pPr>
              <a:defRPr/>
            </a:pPr>
            <a:r>
              <a:rPr lang="de-DE" dirty="0"/>
              <a:t>Prof. Dr. Achim Rettberg – University </a:t>
            </a:r>
            <a:r>
              <a:rPr lang="de-DE" dirty="0" err="1"/>
              <a:t>of</a:t>
            </a:r>
            <a:r>
              <a:rPr lang="de-DE" dirty="0"/>
              <a:t> Applied </a:t>
            </a:r>
            <a:r>
              <a:rPr lang="de-DE" dirty="0" err="1"/>
              <a:t>Sciences</a:t>
            </a:r>
            <a:r>
              <a:rPr lang="de-DE" dirty="0"/>
              <a:t> Hamm-Lippstadt</a:t>
            </a:r>
          </a:p>
        </p:txBody>
      </p:sp>
      <p:sp>
        <p:nvSpPr>
          <p:cNvPr id="8" name="Rectangle 15"/>
          <p:cNvSpPr>
            <a:spLocks noGrp="1" noChangeArrowheads="1"/>
          </p:cNvSpPr>
          <p:nvPr>
            <p:ph type="dt" sz="half" idx="12"/>
          </p:nvPr>
        </p:nvSpPr>
        <p:spPr>
          <a:ln/>
        </p:spPr>
        <p:txBody>
          <a:bodyPr/>
          <a:lstStyle>
            <a:lvl1pPr>
              <a:defRPr/>
            </a:lvl1pPr>
          </a:lstStyle>
          <a:p>
            <a:pPr>
              <a:defRPr/>
            </a:pPr>
            <a:fld id="{E5DC69DE-E521-EC4C-AFF3-2A6651E3F1AC}" type="datetime1">
              <a:rPr lang="de-DE" smtClean="0"/>
              <a:t>14.06.2026</a:t>
            </a:fld>
            <a:endParaRPr lang="de-DE"/>
          </a:p>
        </p:txBody>
      </p:sp>
      <p:sp>
        <p:nvSpPr>
          <p:cNvPr id="9" name="Rectangle 6"/>
          <p:cNvSpPr>
            <a:spLocks noGrp="1" noChangeArrowheads="1"/>
          </p:cNvSpPr>
          <p:nvPr>
            <p:ph type="sldNum" sz="quarter" idx="4"/>
          </p:nvPr>
        </p:nvSpPr>
        <p:spPr bwMode="auto">
          <a:xfrm>
            <a:off x="8676456" y="6655197"/>
            <a:ext cx="468052" cy="158179"/>
          </a:xfrm>
          <a:prstGeom prst="rect">
            <a:avLst/>
          </a:prstGeom>
          <a:noFill/>
          <a:ln w="9525">
            <a:noFill/>
            <a:miter lim="800000"/>
            <a:headEnd/>
            <a:tailEnd/>
          </a:ln>
          <a:effectLst/>
        </p:spPr>
        <p:txBody>
          <a:bodyPr vert="horz" wrap="none" lIns="0" tIns="0" rIns="0" bIns="0" numCol="1" anchor="t" anchorCtr="0" compatLnSpc="1">
            <a:prstTxWarp prst="textNoShape">
              <a:avLst/>
            </a:prstTxWarp>
          </a:bodyPr>
          <a:lstStyle>
            <a:lvl1pPr algn="l">
              <a:lnSpc>
                <a:spcPct val="100000"/>
              </a:lnSpc>
              <a:spcAft>
                <a:spcPct val="0"/>
              </a:spcAft>
              <a:buClrTx/>
              <a:buSzTx/>
              <a:buFontTx/>
              <a:buNone/>
              <a:defRPr sz="1000" b="0">
                <a:solidFill>
                  <a:schemeClr val="bg1"/>
                </a:solidFill>
                <a:latin typeface="Arial" pitchFamily="34" charset="0"/>
              </a:defRPr>
            </a:lvl1pPr>
          </a:lstStyle>
          <a:p>
            <a:pPr>
              <a:defRPr/>
            </a:pPr>
            <a:r>
              <a:rPr lang="de-DE" dirty="0"/>
              <a:t>&lt; </a:t>
            </a:r>
            <a:fld id="{1A61C92B-C297-4AC9-B551-2D8A658A0122}" type="slidenum">
              <a:rPr lang="de-DE" smtClean="0"/>
              <a:pPr>
                <a:defRPr/>
              </a:pPr>
              <a:t>‹#›</a:t>
            </a:fld>
            <a:r>
              <a:rPr lang="de-DE" dirty="0"/>
              <a:t> &gt;</a:t>
            </a:r>
          </a:p>
        </p:txBody>
      </p:sp>
    </p:spTree>
    <p:extLst>
      <p:ext uri="{BB962C8B-B14F-4D97-AF65-F5344CB8AC3E}">
        <p14:creationId xmlns:p14="http://schemas.microsoft.com/office/powerpoint/2010/main" val="27743108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55478" y="2026738"/>
            <a:ext cx="7233045" cy="338554"/>
          </a:xfrm>
          <a:prstGeom prst="rect">
            <a:avLst/>
          </a:prstGeom>
        </p:spPr>
        <p:txBody>
          <a:bodyPr wrap="square" lIns="0" tIns="0" rIns="0" bIns="0">
            <a:spAutoFit/>
          </a:bodyPr>
          <a:lstStyle>
            <a:lvl1pPr>
              <a:defRPr b="0" i="0">
                <a:solidFill>
                  <a:schemeClr val="tx1"/>
                </a:solidFill>
              </a:defRPr>
            </a:lvl1pPr>
          </a:lstStyle>
          <a:p>
            <a:endParaRPr/>
          </a:p>
        </p:txBody>
      </p:sp>
      <p:sp>
        <p:nvSpPr>
          <p:cNvPr id="3" name="Holder 3"/>
          <p:cNvSpPr>
            <a:spLocks noGrp="1"/>
          </p:cNvSpPr>
          <p:nvPr>
            <p:ph type="subTitle" idx="4"/>
          </p:nvPr>
        </p:nvSpPr>
        <p:spPr>
          <a:xfrm>
            <a:off x="1371601" y="3840480"/>
            <a:ext cx="6400799" cy="338554"/>
          </a:xfrm>
          <a:prstGeom prst="rect">
            <a:avLst/>
          </a:prstGeom>
        </p:spPr>
        <p:txBody>
          <a:bodyPr wrap="square" lIns="0" tIns="0" rIns="0" bIns="0">
            <a:spAutoFit/>
          </a:bodyPr>
          <a:lstStyle>
            <a:lvl1pPr>
              <a:defRPr/>
            </a:lvl1pPr>
          </a:lstStyle>
          <a:p>
            <a:endParaRPr/>
          </a:p>
        </p:txBody>
      </p:sp>
      <p:sp>
        <p:nvSpPr>
          <p:cNvPr id="7" name="Rectangle 5"/>
          <p:cNvSpPr>
            <a:spLocks noGrp="1" noChangeArrowheads="1"/>
          </p:cNvSpPr>
          <p:nvPr>
            <p:ph type="ftr" sz="quarter" idx="10"/>
          </p:nvPr>
        </p:nvSpPr>
        <p:spPr>
          <a:xfrm>
            <a:off x="182563" y="6656388"/>
            <a:ext cx="4389437" cy="144462"/>
          </a:xfrm>
          <a:ln/>
        </p:spPr>
        <p:txBody>
          <a:bodyPr/>
          <a:lstStyle>
            <a:lvl1pPr>
              <a:defRPr/>
            </a:lvl1pPr>
          </a:lstStyle>
          <a:p>
            <a:pPr>
              <a:defRPr/>
            </a:pPr>
            <a:r>
              <a:rPr lang="de-DE" dirty="0"/>
              <a:t>Prof. Dr. Achim Rettberg – University </a:t>
            </a:r>
            <a:r>
              <a:rPr lang="de-DE" dirty="0" err="1"/>
              <a:t>of</a:t>
            </a:r>
            <a:r>
              <a:rPr lang="de-DE" dirty="0"/>
              <a:t> Applied </a:t>
            </a:r>
            <a:r>
              <a:rPr lang="de-DE" dirty="0" err="1"/>
              <a:t>Sciences</a:t>
            </a:r>
            <a:r>
              <a:rPr lang="de-DE" dirty="0"/>
              <a:t> Hamm-Lippstadt</a:t>
            </a:r>
          </a:p>
        </p:txBody>
      </p:sp>
      <p:sp>
        <p:nvSpPr>
          <p:cNvPr id="8" name="Rectangle 15"/>
          <p:cNvSpPr>
            <a:spLocks noGrp="1" noChangeArrowheads="1"/>
          </p:cNvSpPr>
          <p:nvPr>
            <p:ph type="dt" sz="half" idx="12"/>
          </p:nvPr>
        </p:nvSpPr>
        <p:spPr>
          <a:xfrm>
            <a:off x="7812360" y="6656388"/>
            <a:ext cx="755650" cy="144462"/>
          </a:xfrm>
          <a:ln/>
        </p:spPr>
        <p:txBody>
          <a:bodyPr/>
          <a:lstStyle>
            <a:lvl1pPr>
              <a:defRPr/>
            </a:lvl1pPr>
          </a:lstStyle>
          <a:p>
            <a:pPr>
              <a:defRPr/>
            </a:pPr>
            <a:fld id="{D1C5E747-687F-9C49-A498-1184E7908D39}" type="datetime1">
              <a:rPr lang="de-DE" smtClean="0"/>
              <a:t>14.06.2026</a:t>
            </a:fld>
            <a:endParaRPr lang="de-DE"/>
          </a:p>
        </p:txBody>
      </p:sp>
      <p:sp>
        <p:nvSpPr>
          <p:cNvPr id="9" name="Rectangle 6"/>
          <p:cNvSpPr>
            <a:spLocks noGrp="1" noChangeArrowheads="1"/>
          </p:cNvSpPr>
          <p:nvPr>
            <p:ph type="sldNum" sz="quarter" idx="13"/>
          </p:nvPr>
        </p:nvSpPr>
        <p:spPr bwMode="auto">
          <a:xfrm>
            <a:off x="8676456" y="6655197"/>
            <a:ext cx="468052" cy="158179"/>
          </a:xfrm>
          <a:prstGeom prst="rect">
            <a:avLst/>
          </a:prstGeom>
          <a:noFill/>
          <a:ln w="9525">
            <a:noFill/>
            <a:miter lim="800000"/>
            <a:headEnd/>
            <a:tailEnd/>
          </a:ln>
          <a:effectLst/>
        </p:spPr>
        <p:txBody>
          <a:bodyPr vert="horz" wrap="none" lIns="0" tIns="0" rIns="0" bIns="0" numCol="1" anchor="t" anchorCtr="0" compatLnSpc="1">
            <a:prstTxWarp prst="textNoShape">
              <a:avLst/>
            </a:prstTxWarp>
          </a:bodyPr>
          <a:lstStyle>
            <a:lvl1pPr algn="l">
              <a:lnSpc>
                <a:spcPct val="100000"/>
              </a:lnSpc>
              <a:spcAft>
                <a:spcPct val="0"/>
              </a:spcAft>
              <a:buClrTx/>
              <a:buSzTx/>
              <a:buFontTx/>
              <a:buNone/>
              <a:defRPr sz="1000" b="0">
                <a:solidFill>
                  <a:schemeClr val="bg1"/>
                </a:solidFill>
                <a:latin typeface="Arial" pitchFamily="34" charset="0"/>
              </a:defRPr>
            </a:lvl1pPr>
          </a:lstStyle>
          <a:p>
            <a:pPr>
              <a:defRPr/>
            </a:pPr>
            <a:r>
              <a:rPr lang="de-DE" dirty="0"/>
              <a:t>&lt; </a:t>
            </a:r>
            <a:fld id="{1A61C92B-C297-4AC9-B551-2D8A658A0122}" type="slidenum">
              <a:rPr lang="de-DE" smtClean="0"/>
              <a:pPr>
                <a:defRPr/>
              </a:pPr>
              <a:t>‹#›</a:t>
            </a:fld>
            <a:r>
              <a:rPr lang="de-DE" dirty="0"/>
              <a:t> &gt;</a:t>
            </a:r>
          </a:p>
        </p:txBody>
      </p:sp>
    </p:spTree>
    <p:extLst>
      <p:ext uri="{BB962C8B-B14F-4D97-AF65-F5344CB8AC3E}">
        <p14:creationId xmlns:p14="http://schemas.microsoft.com/office/powerpoint/2010/main" val="19127189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
        <p:nvSpPr>
          <p:cNvPr id="5" name="Rectangle 5"/>
          <p:cNvSpPr>
            <a:spLocks noGrp="1" noChangeArrowheads="1"/>
          </p:cNvSpPr>
          <p:nvPr>
            <p:ph type="ftr" sz="quarter" idx="10"/>
          </p:nvPr>
        </p:nvSpPr>
        <p:spPr>
          <a:xfrm>
            <a:off x="182563" y="6656388"/>
            <a:ext cx="4389437" cy="144462"/>
          </a:xfrm>
          <a:ln/>
        </p:spPr>
        <p:txBody>
          <a:bodyPr/>
          <a:lstStyle>
            <a:lvl1pPr>
              <a:defRPr/>
            </a:lvl1pPr>
          </a:lstStyle>
          <a:p>
            <a:pPr>
              <a:defRPr/>
            </a:pPr>
            <a:r>
              <a:rPr lang="de-DE" dirty="0"/>
              <a:t>Prof. Dr. Achim Rettberg – University </a:t>
            </a:r>
            <a:r>
              <a:rPr lang="de-DE" dirty="0" err="1"/>
              <a:t>of</a:t>
            </a:r>
            <a:r>
              <a:rPr lang="de-DE" dirty="0"/>
              <a:t> Applied </a:t>
            </a:r>
            <a:r>
              <a:rPr lang="de-DE" dirty="0" err="1"/>
              <a:t>Sciences</a:t>
            </a:r>
            <a:r>
              <a:rPr lang="de-DE" dirty="0"/>
              <a:t> Hamm-Lippstadt</a:t>
            </a:r>
          </a:p>
        </p:txBody>
      </p:sp>
      <p:sp>
        <p:nvSpPr>
          <p:cNvPr id="6" name="Rectangle 15"/>
          <p:cNvSpPr>
            <a:spLocks noGrp="1" noChangeArrowheads="1"/>
          </p:cNvSpPr>
          <p:nvPr>
            <p:ph type="dt" sz="half" idx="12"/>
          </p:nvPr>
        </p:nvSpPr>
        <p:spPr>
          <a:xfrm>
            <a:off x="7812360" y="6656388"/>
            <a:ext cx="755650" cy="144462"/>
          </a:xfrm>
          <a:ln/>
        </p:spPr>
        <p:txBody>
          <a:bodyPr/>
          <a:lstStyle>
            <a:lvl1pPr>
              <a:defRPr/>
            </a:lvl1pPr>
          </a:lstStyle>
          <a:p>
            <a:pPr>
              <a:defRPr/>
            </a:pPr>
            <a:fld id="{8171E94B-46F9-304A-8F0C-ACC28ECEDCF5}" type="datetime1">
              <a:rPr lang="de-DE" smtClean="0"/>
              <a:t>14.06.2026</a:t>
            </a:fld>
            <a:endParaRPr lang="de-DE"/>
          </a:p>
        </p:txBody>
      </p:sp>
      <p:sp>
        <p:nvSpPr>
          <p:cNvPr id="7" name="Slide Number Placeholder 6"/>
          <p:cNvSpPr>
            <a:spLocks noGrp="1" noChangeArrowheads="1"/>
          </p:cNvSpPr>
          <p:nvPr>
            <p:ph type="sldNum" sz="quarter" idx="4"/>
          </p:nvPr>
        </p:nvSpPr>
        <p:spPr bwMode="auto">
          <a:xfrm>
            <a:off x="8676456" y="6655197"/>
            <a:ext cx="468052" cy="158179"/>
          </a:xfrm>
          <a:prstGeom prst="rect">
            <a:avLst/>
          </a:prstGeom>
          <a:noFill/>
          <a:ln w="9525">
            <a:noFill/>
            <a:miter lim="800000"/>
            <a:headEnd/>
            <a:tailEnd/>
          </a:ln>
          <a:effectLst/>
        </p:spPr>
        <p:txBody>
          <a:bodyPr vert="horz" wrap="none" lIns="0" tIns="0" rIns="0" bIns="0" numCol="1" anchor="t" anchorCtr="0" compatLnSpc="1">
            <a:prstTxWarp prst="textNoShape">
              <a:avLst/>
            </a:prstTxWarp>
          </a:bodyPr>
          <a:lstStyle>
            <a:lvl1pPr algn="l">
              <a:lnSpc>
                <a:spcPct val="100000"/>
              </a:lnSpc>
              <a:spcAft>
                <a:spcPct val="0"/>
              </a:spcAft>
              <a:buClrTx/>
              <a:buSzTx/>
              <a:buFontTx/>
              <a:buNone/>
              <a:defRPr sz="1000" b="0">
                <a:solidFill>
                  <a:schemeClr val="bg1"/>
                </a:solidFill>
                <a:latin typeface="Arial" pitchFamily="34" charset="0"/>
              </a:defRPr>
            </a:lvl1pPr>
          </a:lstStyle>
          <a:p>
            <a:pPr>
              <a:defRPr/>
            </a:pPr>
            <a:r>
              <a:rPr lang="de-DE" dirty="0"/>
              <a:t>&lt; </a:t>
            </a:r>
            <a:fld id="{1A61C92B-C297-4AC9-B551-2D8A658A0122}" type="slidenum">
              <a:rPr lang="de-DE" smtClean="0"/>
              <a:pPr>
                <a:defRPr/>
              </a:pPr>
              <a:t>‹#›</a:t>
            </a:fld>
            <a:r>
              <a:rPr lang="de-DE" dirty="0"/>
              <a:t> &gt;</a:t>
            </a:r>
          </a:p>
        </p:txBody>
      </p:sp>
    </p:spTree>
    <p:extLst>
      <p:ext uri="{BB962C8B-B14F-4D97-AF65-F5344CB8AC3E}">
        <p14:creationId xmlns:p14="http://schemas.microsoft.com/office/powerpoint/2010/main" val="36378911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490541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gif"/><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2"/>
          <p:cNvSpPr>
            <a:spLocks noChangeArrowheads="1"/>
          </p:cNvSpPr>
          <p:nvPr userDrawn="1"/>
        </p:nvSpPr>
        <p:spPr bwMode="auto">
          <a:xfrm>
            <a:off x="0" y="6597650"/>
            <a:ext cx="4572000" cy="260350"/>
          </a:xfrm>
          <a:prstGeom prst="rect">
            <a:avLst/>
          </a:prstGeom>
          <a:solidFill>
            <a:srgbClr val="2190FF"/>
          </a:solidFill>
          <a:ln>
            <a:noFill/>
          </a:ln>
        </p:spPr>
        <p:txBody>
          <a:bodyPr wrap="none" anchor="ctr"/>
          <a:lstStyle/>
          <a:p>
            <a:pPr algn="ctr">
              <a:lnSpc>
                <a:spcPct val="100000"/>
              </a:lnSpc>
              <a:spcAft>
                <a:spcPct val="0"/>
              </a:spcAft>
              <a:buClrTx/>
              <a:buSzTx/>
              <a:buFontTx/>
              <a:buNone/>
            </a:pPr>
            <a:endParaRPr lang="de-DE" sz="1800" noProof="0">
              <a:solidFill>
                <a:schemeClr val="tx2"/>
              </a:solidFill>
            </a:endParaRPr>
          </a:p>
        </p:txBody>
      </p:sp>
      <p:sp>
        <p:nvSpPr>
          <p:cNvPr id="1026" name="Rectangle 12"/>
          <p:cNvSpPr>
            <a:spLocks noChangeArrowheads="1"/>
          </p:cNvSpPr>
          <p:nvPr userDrawn="1"/>
        </p:nvSpPr>
        <p:spPr bwMode="auto">
          <a:xfrm>
            <a:off x="4572000" y="6597650"/>
            <a:ext cx="4572000" cy="260350"/>
          </a:xfrm>
          <a:prstGeom prst="rect">
            <a:avLst/>
          </a:prstGeom>
          <a:solidFill>
            <a:schemeClr val="accent2"/>
          </a:solidFill>
          <a:ln>
            <a:noFill/>
          </a:ln>
        </p:spPr>
        <p:txBody>
          <a:bodyPr wrap="none" anchor="ctr"/>
          <a:lstStyle/>
          <a:p>
            <a:pPr algn="ctr">
              <a:lnSpc>
                <a:spcPct val="100000"/>
              </a:lnSpc>
              <a:spcAft>
                <a:spcPct val="0"/>
              </a:spcAft>
              <a:buClrTx/>
              <a:buSzTx/>
              <a:buFontTx/>
              <a:buNone/>
            </a:pPr>
            <a:endParaRPr lang="de-DE" sz="1800" noProof="0">
              <a:solidFill>
                <a:schemeClr val="tx2"/>
              </a:solidFill>
            </a:endParaRPr>
          </a:p>
        </p:txBody>
      </p:sp>
      <p:sp>
        <p:nvSpPr>
          <p:cNvPr id="1027" name="Rectangle 2"/>
          <p:cNvSpPr>
            <a:spLocks noGrp="1" noChangeArrowheads="1"/>
          </p:cNvSpPr>
          <p:nvPr>
            <p:ph type="title"/>
          </p:nvPr>
        </p:nvSpPr>
        <p:spPr bwMode="auto">
          <a:xfrm>
            <a:off x="467544" y="125413"/>
            <a:ext cx="5326063" cy="3603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none" lIns="0" tIns="0" rIns="0" bIns="0" numCol="1" anchor="t" anchorCtr="0" compatLnSpc="1">
            <a:prstTxWarp prst="textNoShape">
              <a:avLst/>
            </a:prstTxWarp>
          </a:bodyPr>
          <a:lstStyle/>
          <a:p>
            <a:pPr lvl="0"/>
            <a:r>
              <a:rPr lang="de-DE" noProof="0" dirty="0"/>
              <a:t>Titelmasterformat durch Klicken bearbeiten</a:t>
            </a:r>
          </a:p>
        </p:txBody>
      </p:sp>
      <p:sp>
        <p:nvSpPr>
          <p:cNvPr id="1028" name="Rectangle 3"/>
          <p:cNvSpPr>
            <a:spLocks noGrp="1" noChangeArrowheads="1"/>
          </p:cNvSpPr>
          <p:nvPr>
            <p:ph type="body" idx="1"/>
          </p:nvPr>
        </p:nvSpPr>
        <p:spPr bwMode="auto">
          <a:xfrm>
            <a:off x="468313" y="908050"/>
            <a:ext cx="8099425" cy="547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de-DE" noProof="0" dirty="0"/>
              <a:t>Textmasterformate durch Klicken bearbeiten</a:t>
            </a:r>
          </a:p>
          <a:p>
            <a:pPr lvl="1"/>
            <a:r>
              <a:rPr lang="de-DE" noProof="0" dirty="0"/>
              <a:t>Zweite Ebene</a:t>
            </a:r>
          </a:p>
          <a:p>
            <a:pPr lvl="2"/>
            <a:r>
              <a:rPr lang="de-DE" noProof="0" dirty="0"/>
              <a:t>Dritte Ebene</a:t>
            </a:r>
          </a:p>
          <a:p>
            <a:pPr lvl="3"/>
            <a:r>
              <a:rPr lang="de-DE" noProof="0" dirty="0"/>
              <a:t>Vierte Ebene</a:t>
            </a:r>
          </a:p>
          <a:p>
            <a:pPr lvl="4"/>
            <a:r>
              <a:rPr lang="de-DE" noProof="0" dirty="0"/>
              <a:t>Fünfte Ebene</a:t>
            </a:r>
          </a:p>
        </p:txBody>
      </p:sp>
      <p:sp>
        <p:nvSpPr>
          <p:cNvPr id="1029" name="Rectangle 5"/>
          <p:cNvSpPr>
            <a:spLocks noGrp="1" noChangeArrowheads="1"/>
          </p:cNvSpPr>
          <p:nvPr>
            <p:ph type="ftr" sz="quarter" idx="3"/>
          </p:nvPr>
        </p:nvSpPr>
        <p:spPr bwMode="ltGray">
          <a:xfrm>
            <a:off x="182563" y="6656388"/>
            <a:ext cx="4389437" cy="144462"/>
          </a:xfrm>
          <a:prstGeom prst="rect">
            <a:avLst/>
          </a:prstGeom>
          <a:noFill/>
          <a:ln w="9525">
            <a:noFill/>
            <a:miter lim="800000"/>
            <a:headEnd/>
            <a:tailEnd/>
          </a:ln>
          <a:effectLst/>
        </p:spPr>
        <p:txBody>
          <a:bodyPr vert="horz" wrap="none" lIns="0" tIns="0" rIns="0" bIns="0" numCol="1" anchor="t" anchorCtr="0" compatLnSpc="1">
            <a:prstTxWarp prst="textNoShape">
              <a:avLst/>
            </a:prstTxWarp>
          </a:bodyPr>
          <a:lstStyle>
            <a:lvl1pPr>
              <a:lnSpc>
                <a:spcPct val="100000"/>
              </a:lnSpc>
              <a:spcAft>
                <a:spcPct val="0"/>
              </a:spcAft>
              <a:buClrTx/>
              <a:buSzTx/>
              <a:buFontTx/>
              <a:buNone/>
              <a:defRPr sz="1000" dirty="0">
                <a:solidFill>
                  <a:srgbClr val="FFFFFF"/>
                </a:solidFill>
                <a:latin typeface="Arial" pitchFamily="34" charset="0"/>
              </a:defRPr>
            </a:lvl1pPr>
          </a:lstStyle>
          <a:p>
            <a:pPr>
              <a:defRPr/>
            </a:pPr>
            <a:r>
              <a:rPr lang="de-DE" dirty="0"/>
              <a:t>Prof. Dr. Achim Rettberg – University </a:t>
            </a:r>
            <a:r>
              <a:rPr lang="de-DE" dirty="0" err="1"/>
              <a:t>of</a:t>
            </a:r>
            <a:r>
              <a:rPr lang="de-DE" dirty="0"/>
              <a:t> Applied </a:t>
            </a:r>
            <a:r>
              <a:rPr lang="de-DE" dirty="0" err="1"/>
              <a:t>Sciences</a:t>
            </a:r>
            <a:r>
              <a:rPr lang="de-DE" dirty="0"/>
              <a:t> Hamm-Lippstadt</a:t>
            </a:r>
          </a:p>
        </p:txBody>
      </p:sp>
      <p:sp>
        <p:nvSpPr>
          <p:cNvPr id="1030" name="Rectangle 6"/>
          <p:cNvSpPr>
            <a:spLocks noGrp="1" noChangeArrowheads="1"/>
          </p:cNvSpPr>
          <p:nvPr>
            <p:ph type="sldNum" sz="quarter" idx="4"/>
          </p:nvPr>
        </p:nvSpPr>
        <p:spPr bwMode="auto">
          <a:xfrm>
            <a:off x="8748464" y="6655197"/>
            <a:ext cx="396044" cy="158179"/>
          </a:xfrm>
          <a:prstGeom prst="rect">
            <a:avLst/>
          </a:prstGeom>
          <a:noFill/>
          <a:ln w="9525">
            <a:noFill/>
            <a:miter lim="800000"/>
            <a:headEnd/>
            <a:tailEnd/>
          </a:ln>
          <a:effectLst/>
        </p:spPr>
        <p:txBody>
          <a:bodyPr vert="horz" wrap="none" lIns="0" tIns="0" rIns="0" bIns="0" numCol="1" anchor="t" anchorCtr="0" compatLnSpc="1">
            <a:prstTxWarp prst="textNoShape">
              <a:avLst/>
            </a:prstTxWarp>
          </a:bodyPr>
          <a:lstStyle>
            <a:lvl1pPr algn="l">
              <a:lnSpc>
                <a:spcPct val="100000"/>
              </a:lnSpc>
              <a:spcAft>
                <a:spcPct val="0"/>
              </a:spcAft>
              <a:buClrTx/>
              <a:buSzTx/>
              <a:buFontTx/>
              <a:buNone/>
              <a:defRPr sz="1000" b="0">
                <a:solidFill>
                  <a:schemeClr val="bg1"/>
                </a:solidFill>
                <a:latin typeface="Arial" pitchFamily="34" charset="0"/>
              </a:defRPr>
            </a:lvl1pPr>
          </a:lstStyle>
          <a:p>
            <a:pPr>
              <a:defRPr/>
            </a:pPr>
            <a:r>
              <a:rPr lang="de-DE" dirty="0"/>
              <a:t>&lt;</a:t>
            </a:r>
            <a:fld id="{1A61C92B-C297-4AC9-B551-2D8A658A0122}" type="slidenum">
              <a:rPr lang="de-DE" smtClean="0"/>
              <a:pPr>
                <a:defRPr/>
              </a:pPr>
              <a:t>‹#›</a:t>
            </a:fld>
            <a:r>
              <a:rPr lang="de-DE" dirty="0"/>
              <a:t>&gt;</a:t>
            </a:r>
          </a:p>
        </p:txBody>
      </p:sp>
      <p:sp>
        <p:nvSpPr>
          <p:cNvPr id="1033" name="Line 10"/>
          <p:cNvSpPr>
            <a:spLocks noChangeShapeType="1"/>
          </p:cNvSpPr>
          <p:nvPr userDrawn="1"/>
        </p:nvSpPr>
        <p:spPr bwMode="auto">
          <a:xfrm>
            <a:off x="0" y="796925"/>
            <a:ext cx="9144000" cy="0"/>
          </a:xfrm>
          <a:prstGeom prst="line">
            <a:avLst/>
          </a:prstGeom>
          <a:noFill/>
          <a:ln w="19050">
            <a:solidFill>
              <a:schemeClr val="tx1"/>
            </a:solidFill>
            <a:round/>
            <a:headEnd/>
            <a:tailEnd/>
          </a:ln>
          <a:extLst>
            <a:ext uri="{909E8E84-426E-40dd-AFC4-6F175D3DCCD1}">
              <a14:hiddenFill xmlns:a14="http://schemas.microsoft.com/office/drawing/2010/main" xmlns="">
                <a:noFill/>
              </a14:hiddenFill>
            </a:ext>
          </a:extLst>
        </p:spPr>
        <p:txBody>
          <a:bodyPr/>
          <a:lstStyle/>
          <a:p>
            <a:endParaRPr lang="de-DE" noProof="0"/>
          </a:p>
        </p:txBody>
      </p:sp>
      <p:sp>
        <p:nvSpPr>
          <p:cNvPr id="1039" name="Rectangle 15"/>
          <p:cNvSpPr>
            <a:spLocks noGrp="1" noChangeArrowheads="1"/>
          </p:cNvSpPr>
          <p:nvPr>
            <p:ph type="dt" sz="half" idx="2"/>
          </p:nvPr>
        </p:nvSpPr>
        <p:spPr bwMode="ltGray">
          <a:xfrm>
            <a:off x="7812360" y="6656388"/>
            <a:ext cx="755650" cy="144462"/>
          </a:xfrm>
          <a:prstGeom prst="rect">
            <a:avLst/>
          </a:prstGeom>
          <a:noFill/>
          <a:ln w="9525">
            <a:noFill/>
            <a:miter lim="800000"/>
            <a:headEnd/>
            <a:tailEnd/>
          </a:ln>
          <a:effectLst/>
        </p:spPr>
        <p:txBody>
          <a:bodyPr vert="horz" wrap="none" lIns="0" tIns="0" rIns="0" bIns="0" numCol="1" anchor="t" anchorCtr="0" compatLnSpc="1">
            <a:prstTxWarp prst="textNoShape">
              <a:avLst/>
            </a:prstTxWarp>
          </a:bodyPr>
          <a:lstStyle>
            <a:lvl1pPr algn="r">
              <a:lnSpc>
                <a:spcPct val="100000"/>
              </a:lnSpc>
              <a:spcAft>
                <a:spcPct val="0"/>
              </a:spcAft>
              <a:buClrTx/>
              <a:buSzTx/>
              <a:buFontTx/>
              <a:buNone/>
              <a:defRPr sz="1000">
                <a:solidFill>
                  <a:schemeClr val="bg1"/>
                </a:solidFill>
                <a:latin typeface="Arial" pitchFamily="34" charset="0"/>
              </a:defRPr>
            </a:lvl1pPr>
          </a:lstStyle>
          <a:p>
            <a:pPr>
              <a:defRPr/>
            </a:pPr>
            <a:fld id="{0B2D14DF-C64B-D248-822C-9E9F774E507A}" type="datetime1">
              <a:rPr lang="de-DE" noProof="0" smtClean="0"/>
              <a:t>14.06.2026</a:t>
            </a:fld>
            <a:endParaRPr lang="de-DE" noProof="0" dirty="0"/>
          </a:p>
        </p:txBody>
      </p:sp>
      <p:sp>
        <p:nvSpPr>
          <p:cNvPr id="1036" name="AutoShape 16"/>
          <p:cNvSpPr>
            <a:spLocks noChangeArrowheads="1"/>
          </p:cNvSpPr>
          <p:nvPr userDrawn="1"/>
        </p:nvSpPr>
        <p:spPr bwMode="auto">
          <a:xfrm>
            <a:off x="0" y="250825"/>
            <a:ext cx="107950" cy="107950"/>
          </a:xfrm>
          <a:prstGeom prst="homePlate">
            <a:avLst>
              <a:gd name="adj" fmla="val 100000"/>
            </a:avLst>
          </a:prstGeom>
          <a:solidFill>
            <a:schemeClr val="bg2"/>
          </a:solidFill>
          <a:ln>
            <a:noFill/>
          </a:ln>
        </p:spPr>
        <p:txBody>
          <a:bodyPr wrap="none" lIns="0" tIns="0" rIns="0" bIns="0" anchor="ctr"/>
          <a:lstStyle/>
          <a:p>
            <a:endParaRPr lang="de-DE" noProof="0"/>
          </a:p>
        </p:txBody>
      </p:sp>
      <p:pic>
        <p:nvPicPr>
          <p:cNvPr id="13" name="Grafik 4" descr="8-7-6-5-4-3-4-5-6-7-8_S.gif"/>
          <p:cNvPicPr>
            <a:picLocks noChangeAspect="1"/>
          </p:cNvPicPr>
          <p:nvPr userDrawn="1"/>
        </p:nvPicPr>
        <p:blipFill>
          <a:blip r:embed="rId10" cstate="screen">
            <a:extLst>
              <a:ext uri="{28A0092B-C50C-407E-A947-70E740481C1C}">
                <a14:useLocalDpi xmlns:a14="http://schemas.microsoft.com/office/drawing/2010/main"/>
              </a:ext>
            </a:extLst>
          </a:blip>
          <a:stretch>
            <a:fillRect/>
          </a:stretch>
        </p:blipFill>
        <p:spPr>
          <a:xfrm>
            <a:off x="8280412" y="116633"/>
            <a:ext cx="828092" cy="636596"/>
          </a:xfrm>
          <a:prstGeom prst="rect">
            <a:avLst/>
          </a:prstGeom>
        </p:spPr>
      </p:pic>
    </p:spTree>
    <p:extLst>
      <p:ext uri="{BB962C8B-B14F-4D97-AF65-F5344CB8AC3E}">
        <p14:creationId xmlns:p14="http://schemas.microsoft.com/office/powerpoint/2010/main" val="3081472507"/>
      </p:ext>
    </p:extLst>
  </p:cSld>
  <p:clrMap bg1="lt1" tx1="dk1" bg2="lt2" tx2="dk2" accent1="accent1" accent2="accent2" accent3="accent3" accent4="accent4" accent5="accent5" accent6="accent6" hlink="hlink" folHlink="folHlink"/>
  <p:sldLayoutIdLst>
    <p:sldLayoutId id="2147483907" r:id="rId1"/>
    <p:sldLayoutId id="2147483902" r:id="rId2"/>
    <p:sldLayoutId id="2147483903" r:id="rId3"/>
    <p:sldLayoutId id="2147483905" r:id="rId4"/>
    <p:sldLayoutId id="2147483906" r:id="rId5"/>
    <p:sldLayoutId id="2147483908" r:id="rId6"/>
    <p:sldLayoutId id="2147483909" r:id="rId7"/>
    <p:sldLayoutId id="2147483910" r:id="rId8"/>
  </p:sldLayoutIdLst>
  <p:hf hdr="0"/>
  <p:txStyles>
    <p:titleStyle>
      <a:lvl1pPr algn="l" rtl="0" eaLnBrk="0" fontAlgn="base" hangingPunct="0">
        <a:spcBef>
          <a:spcPct val="0"/>
        </a:spcBef>
        <a:spcAft>
          <a:spcPct val="0"/>
        </a:spcAft>
        <a:defRPr sz="2200" b="1">
          <a:solidFill>
            <a:schemeClr val="tx1">
              <a:lumMod val="65000"/>
              <a:lumOff val="35000"/>
            </a:schemeClr>
          </a:solidFill>
          <a:latin typeface="+mj-lt"/>
          <a:ea typeface="+mj-ea"/>
          <a:cs typeface="+mj-cs"/>
        </a:defRPr>
      </a:lvl1pPr>
      <a:lvl2pPr algn="l" rtl="0" eaLnBrk="0" fontAlgn="base" hangingPunct="0">
        <a:spcBef>
          <a:spcPct val="0"/>
        </a:spcBef>
        <a:spcAft>
          <a:spcPct val="0"/>
        </a:spcAft>
        <a:defRPr sz="2200" b="1">
          <a:solidFill>
            <a:schemeClr val="tx2"/>
          </a:solidFill>
          <a:latin typeface="Arial" pitchFamily="34" charset="0"/>
        </a:defRPr>
      </a:lvl2pPr>
      <a:lvl3pPr algn="l" rtl="0" eaLnBrk="0" fontAlgn="base" hangingPunct="0">
        <a:spcBef>
          <a:spcPct val="0"/>
        </a:spcBef>
        <a:spcAft>
          <a:spcPct val="0"/>
        </a:spcAft>
        <a:defRPr sz="2200" b="1">
          <a:solidFill>
            <a:schemeClr val="tx2"/>
          </a:solidFill>
          <a:latin typeface="Arial" pitchFamily="34" charset="0"/>
        </a:defRPr>
      </a:lvl3pPr>
      <a:lvl4pPr algn="l" rtl="0" eaLnBrk="0" fontAlgn="base" hangingPunct="0">
        <a:spcBef>
          <a:spcPct val="0"/>
        </a:spcBef>
        <a:spcAft>
          <a:spcPct val="0"/>
        </a:spcAft>
        <a:defRPr sz="2200" b="1">
          <a:solidFill>
            <a:schemeClr val="tx2"/>
          </a:solidFill>
          <a:latin typeface="Arial" pitchFamily="34" charset="0"/>
        </a:defRPr>
      </a:lvl4pPr>
      <a:lvl5pPr algn="l" rtl="0" eaLnBrk="0" fontAlgn="base" hangingPunct="0">
        <a:spcBef>
          <a:spcPct val="0"/>
        </a:spcBef>
        <a:spcAft>
          <a:spcPct val="0"/>
        </a:spcAft>
        <a:defRPr sz="2200" b="1">
          <a:solidFill>
            <a:schemeClr val="tx2"/>
          </a:solidFill>
          <a:latin typeface="Arial" pitchFamily="34" charset="0"/>
        </a:defRPr>
      </a:lvl5pPr>
      <a:lvl6pPr marL="457200" algn="l" rtl="0" fontAlgn="base">
        <a:spcBef>
          <a:spcPct val="0"/>
        </a:spcBef>
        <a:spcAft>
          <a:spcPct val="0"/>
        </a:spcAft>
        <a:defRPr sz="2200" b="1">
          <a:solidFill>
            <a:schemeClr val="tx2"/>
          </a:solidFill>
          <a:latin typeface="Arial" pitchFamily="34" charset="0"/>
        </a:defRPr>
      </a:lvl6pPr>
      <a:lvl7pPr marL="914400" algn="l" rtl="0" fontAlgn="base">
        <a:spcBef>
          <a:spcPct val="0"/>
        </a:spcBef>
        <a:spcAft>
          <a:spcPct val="0"/>
        </a:spcAft>
        <a:defRPr sz="2200" b="1">
          <a:solidFill>
            <a:schemeClr val="tx2"/>
          </a:solidFill>
          <a:latin typeface="Arial" pitchFamily="34" charset="0"/>
        </a:defRPr>
      </a:lvl7pPr>
      <a:lvl8pPr marL="1371600" algn="l" rtl="0" fontAlgn="base">
        <a:spcBef>
          <a:spcPct val="0"/>
        </a:spcBef>
        <a:spcAft>
          <a:spcPct val="0"/>
        </a:spcAft>
        <a:defRPr sz="2200" b="1">
          <a:solidFill>
            <a:schemeClr val="tx2"/>
          </a:solidFill>
          <a:latin typeface="Arial" pitchFamily="34" charset="0"/>
        </a:defRPr>
      </a:lvl8pPr>
      <a:lvl9pPr marL="1828800" algn="l" rtl="0" fontAlgn="base">
        <a:spcBef>
          <a:spcPct val="0"/>
        </a:spcBef>
        <a:spcAft>
          <a:spcPct val="0"/>
        </a:spcAft>
        <a:defRPr sz="2200" b="1">
          <a:solidFill>
            <a:schemeClr val="tx2"/>
          </a:solidFill>
          <a:latin typeface="Arial" pitchFamily="34" charset="0"/>
        </a:defRPr>
      </a:lvl9pPr>
    </p:titleStyle>
    <p:bodyStyle>
      <a:lvl1pPr marL="266700" indent="-266700" algn="l" rtl="0" eaLnBrk="0" fontAlgn="base" hangingPunct="0">
        <a:lnSpc>
          <a:spcPct val="90000"/>
        </a:lnSpc>
        <a:spcBef>
          <a:spcPct val="0"/>
        </a:spcBef>
        <a:spcAft>
          <a:spcPts val="600"/>
        </a:spcAft>
        <a:buClr>
          <a:schemeClr val="bg2"/>
        </a:buClr>
        <a:buSzPct val="85000"/>
        <a:buFont typeface="Wingdings 3" pitchFamily="18" charset="2"/>
        <a:buChar char=""/>
        <a:defRPr sz="2400">
          <a:solidFill>
            <a:schemeClr val="tx1">
              <a:lumMod val="65000"/>
              <a:lumOff val="35000"/>
            </a:schemeClr>
          </a:solidFill>
          <a:latin typeface="+mn-lt"/>
          <a:ea typeface="+mn-ea"/>
          <a:cs typeface="+mn-cs"/>
        </a:defRPr>
      </a:lvl1pPr>
      <a:lvl2pPr marL="719138" indent="-268288" algn="l" rtl="0" eaLnBrk="0" fontAlgn="base" hangingPunct="0">
        <a:lnSpc>
          <a:spcPct val="90000"/>
        </a:lnSpc>
        <a:spcBef>
          <a:spcPct val="0"/>
        </a:spcBef>
        <a:spcAft>
          <a:spcPts val="600"/>
        </a:spcAft>
        <a:buClr>
          <a:schemeClr val="bg2"/>
        </a:buClr>
        <a:buSzPct val="85000"/>
        <a:buFont typeface="Wingdings 3" pitchFamily="18" charset="2"/>
        <a:buChar char=""/>
        <a:defRPr sz="2000">
          <a:solidFill>
            <a:schemeClr val="tx1">
              <a:lumMod val="65000"/>
              <a:lumOff val="35000"/>
            </a:schemeClr>
          </a:solidFill>
          <a:latin typeface="+mn-lt"/>
        </a:defRPr>
      </a:lvl2pPr>
      <a:lvl3pPr marL="1165225" indent="-271463" algn="l" rtl="0" eaLnBrk="0" fontAlgn="base" hangingPunct="0">
        <a:lnSpc>
          <a:spcPct val="90000"/>
        </a:lnSpc>
        <a:spcBef>
          <a:spcPct val="0"/>
        </a:spcBef>
        <a:spcAft>
          <a:spcPts val="600"/>
        </a:spcAft>
        <a:buClr>
          <a:schemeClr val="bg2"/>
        </a:buClr>
        <a:buSzPct val="85000"/>
        <a:buFont typeface="Wingdings 3" pitchFamily="18" charset="2"/>
        <a:buChar char=""/>
        <a:defRPr sz="1800">
          <a:solidFill>
            <a:schemeClr val="tx1">
              <a:lumMod val="65000"/>
              <a:lumOff val="35000"/>
            </a:schemeClr>
          </a:solidFill>
          <a:latin typeface="+mn-lt"/>
        </a:defRPr>
      </a:lvl3pPr>
      <a:lvl4pPr marL="1612900" indent="-265113" algn="l" rtl="0" eaLnBrk="0" fontAlgn="base" hangingPunct="0">
        <a:lnSpc>
          <a:spcPct val="90000"/>
        </a:lnSpc>
        <a:spcBef>
          <a:spcPct val="0"/>
        </a:spcBef>
        <a:spcAft>
          <a:spcPts val="600"/>
        </a:spcAft>
        <a:buClr>
          <a:schemeClr val="bg2"/>
        </a:buClr>
        <a:buSzPct val="85000"/>
        <a:buFont typeface="Wingdings 3" pitchFamily="18" charset="2"/>
        <a:buChar char=""/>
        <a:defRPr sz="1600">
          <a:solidFill>
            <a:schemeClr val="tx1">
              <a:lumMod val="65000"/>
              <a:lumOff val="35000"/>
            </a:schemeClr>
          </a:solidFill>
          <a:latin typeface="+mn-lt"/>
        </a:defRPr>
      </a:lvl4pPr>
      <a:lvl5pPr marL="2060575" indent="-271463" algn="l" rtl="0" eaLnBrk="0" fontAlgn="base" hangingPunct="0">
        <a:lnSpc>
          <a:spcPct val="90000"/>
        </a:lnSpc>
        <a:spcBef>
          <a:spcPct val="0"/>
        </a:spcBef>
        <a:spcAft>
          <a:spcPts val="600"/>
        </a:spcAft>
        <a:buClr>
          <a:schemeClr val="bg2"/>
        </a:buClr>
        <a:buSzPct val="85000"/>
        <a:buFont typeface="Wingdings 3" pitchFamily="18" charset="2"/>
        <a:buChar char=""/>
        <a:defRPr sz="1600">
          <a:solidFill>
            <a:schemeClr val="tx1">
              <a:lumMod val="65000"/>
              <a:lumOff val="35000"/>
            </a:schemeClr>
          </a:solidFill>
          <a:latin typeface="+mn-lt"/>
        </a:defRPr>
      </a:lvl5pPr>
      <a:lvl6pPr marL="1806575" indent="-271463" algn="l" rtl="0" fontAlgn="base">
        <a:lnSpc>
          <a:spcPct val="90000"/>
        </a:lnSpc>
        <a:spcBef>
          <a:spcPct val="0"/>
        </a:spcBef>
        <a:spcAft>
          <a:spcPts val="600"/>
        </a:spcAft>
        <a:buClr>
          <a:srgbClr val="B9B9B9"/>
        </a:buClr>
        <a:buSzPct val="75000"/>
        <a:buFont typeface="Arial" pitchFamily="34" charset="0"/>
        <a:buChar char="►"/>
        <a:defRPr sz="1600">
          <a:solidFill>
            <a:schemeClr val="tx1"/>
          </a:solidFill>
          <a:latin typeface="+mn-lt"/>
        </a:defRPr>
      </a:lvl6pPr>
      <a:lvl7pPr marL="2263775" indent="-271463" algn="l" rtl="0" fontAlgn="base">
        <a:lnSpc>
          <a:spcPct val="90000"/>
        </a:lnSpc>
        <a:spcBef>
          <a:spcPct val="0"/>
        </a:spcBef>
        <a:spcAft>
          <a:spcPts val="600"/>
        </a:spcAft>
        <a:buClr>
          <a:srgbClr val="B9B9B9"/>
        </a:buClr>
        <a:buSzPct val="75000"/>
        <a:buFont typeface="Arial" pitchFamily="34" charset="0"/>
        <a:buChar char="►"/>
        <a:defRPr sz="1600">
          <a:solidFill>
            <a:schemeClr val="tx1"/>
          </a:solidFill>
          <a:latin typeface="+mn-lt"/>
        </a:defRPr>
      </a:lvl7pPr>
      <a:lvl8pPr marL="2720975" indent="-271463" algn="l" rtl="0" fontAlgn="base">
        <a:lnSpc>
          <a:spcPct val="90000"/>
        </a:lnSpc>
        <a:spcBef>
          <a:spcPct val="0"/>
        </a:spcBef>
        <a:spcAft>
          <a:spcPts val="600"/>
        </a:spcAft>
        <a:buClr>
          <a:srgbClr val="B9B9B9"/>
        </a:buClr>
        <a:buSzPct val="75000"/>
        <a:buFont typeface="Arial" pitchFamily="34" charset="0"/>
        <a:buChar char="►"/>
        <a:defRPr sz="1600">
          <a:solidFill>
            <a:schemeClr val="tx1"/>
          </a:solidFill>
          <a:latin typeface="+mn-lt"/>
        </a:defRPr>
      </a:lvl8pPr>
      <a:lvl9pPr marL="3178175" indent="-271463" algn="l" rtl="0" fontAlgn="base">
        <a:lnSpc>
          <a:spcPct val="90000"/>
        </a:lnSpc>
        <a:spcBef>
          <a:spcPct val="0"/>
        </a:spcBef>
        <a:spcAft>
          <a:spcPts val="600"/>
        </a:spcAft>
        <a:buClr>
          <a:srgbClr val="B9B9B9"/>
        </a:buClr>
        <a:buSzPct val="75000"/>
        <a:buFont typeface="Arial" pitchFamily="34" charset="0"/>
        <a:buChar char="►"/>
        <a:defRPr sz="1600">
          <a:solidFill>
            <a:schemeClr val="tx1"/>
          </a:solidFill>
          <a:latin typeface="+mn-lt"/>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8.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8.xml"/><Relationship Id="rId5" Type="http://schemas.openxmlformats.org/officeDocument/2006/relationships/image" Target="../media/image3.png"/><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2">
            <a:lumMod val="50000"/>
          </a:schemeClr>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2"/>
          </p:nvPr>
        </p:nvSpPr>
        <p:spPr/>
        <p:txBody>
          <a:bodyPr/>
          <a:lstStyle/>
          <a:p>
            <a:pPr>
              <a:defRPr/>
            </a:pPr>
            <a:fld id="{BD306EEC-5963-564C-98B6-D7B34F509262}" type="datetime1">
              <a:rPr lang="de-DE" smtClean="0"/>
              <a:t>14.06.2026</a:t>
            </a:fld>
            <a:endParaRPr lang="de-DE"/>
          </a:p>
        </p:txBody>
      </p:sp>
      <p:sp>
        <p:nvSpPr>
          <p:cNvPr id="5" name="Footer Placeholder 4"/>
          <p:cNvSpPr>
            <a:spLocks noGrp="1"/>
          </p:cNvSpPr>
          <p:nvPr>
            <p:ph type="ftr" sz="quarter" idx="10"/>
          </p:nvPr>
        </p:nvSpPr>
        <p:spPr/>
        <p:txBody>
          <a:bodyPr/>
          <a:lstStyle/>
          <a:p>
            <a:pPr>
              <a:defRPr/>
            </a:pPr>
            <a:r>
              <a:rPr lang="de-DE"/>
              <a:t>Prof. Dr. Achim Rettberg – University of Applied Sciences Hamm-Lippstadt</a:t>
            </a:r>
            <a:endParaRPr lang="de-DE" dirty="0"/>
          </a:p>
        </p:txBody>
      </p:sp>
      <p:sp>
        <p:nvSpPr>
          <p:cNvPr id="6" name="Slide Number Placeholder 5"/>
          <p:cNvSpPr>
            <a:spLocks noGrp="1"/>
          </p:cNvSpPr>
          <p:nvPr>
            <p:ph type="sldNum" sz="quarter" idx="13"/>
          </p:nvPr>
        </p:nvSpPr>
        <p:spPr/>
        <p:txBody>
          <a:bodyPr/>
          <a:lstStyle/>
          <a:p>
            <a:pPr>
              <a:defRPr/>
            </a:pPr>
            <a:r>
              <a:rPr lang="de-DE"/>
              <a:t>&lt; </a:t>
            </a:r>
            <a:fld id="{1A61C92B-C297-4AC9-B551-2D8A658A0122}" type="slidenum">
              <a:rPr lang="de-DE" smtClean="0"/>
              <a:pPr>
                <a:defRPr/>
              </a:pPr>
              <a:t>1</a:t>
            </a:fld>
            <a:r>
              <a:rPr lang="de-DE"/>
              <a:t> &gt;</a:t>
            </a:r>
            <a:endParaRPr lang="de-DE" dirty="0"/>
          </a:p>
        </p:txBody>
      </p:sp>
      <p:sp>
        <p:nvSpPr>
          <p:cNvPr id="2" name="Shape 0">
            <a:extLst>
              <a:ext uri="{FF2B5EF4-FFF2-40B4-BE49-F238E27FC236}">
                <a16:creationId xmlns:a16="http://schemas.microsoft.com/office/drawing/2014/main" id="{EFD6B431-75C9-CAEC-9096-FB234D7D6F6D}"/>
              </a:ext>
            </a:extLst>
          </p:cNvPr>
          <p:cNvSpPr/>
          <p:nvPr/>
        </p:nvSpPr>
        <p:spPr>
          <a:xfrm>
            <a:off x="6126480" y="3566160"/>
            <a:ext cx="420624" cy="1005840"/>
          </a:xfrm>
          <a:prstGeom prst="rect">
            <a:avLst/>
          </a:prstGeom>
          <a:solidFill>
            <a:srgbClr val="1C7293">
              <a:alpha val="75000"/>
            </a:srgbClr>
          </a:solidFill>
          <a:ln/>
        </p:spPr>
        <p:txBody>
          <a:bodyPr/>
          <a:lstStyle/>
          <a:p>
            <a:endParaRPr lang="de-DE"/>
          </a:p>
        </p:txBody>
      </p:sp>
      <p:sp>
        <p:nvSpPr>
          <p:cNvPr id="3" name="Shape 1">
            <a:extLst>
              <a:ext uri="{FF2B5EF4-FFF2-40B4-BE49-F238E27FC236}">
                <a16:creationId xmlns:a16="http://schemas.microsoft.com/office/drawing/2014/main" id="{35C2ABB3-25C2-163E-66D1-1E419345073B}"/>
              </a:ext>
            </a:extLst>
          </p:cNvPr>
          <p:cNvSpPr/>
          <p:nvPr/>
        </p:nvSpPr>
        <p:spPr>
          <a:xfrm>
            <a:off x="6291072" y="4005072"/>
            <a:ext cx="420624" cy="566928"/>
          </a:xfrm>
          <a:prstGeom prst="rect">
            <a:avLst/>
          </a:prstGeom>
          <a:solidFill>
            <a:srgbClr val="E8833A">
              <a:alpha val="80000"/>
            </a:srgbClr>
          </a:solidFill>
          <a:ln/>
        </p:spPr>
        <p:txBody>
          <a:bodyPr/>
          <a:lstStyle/>
          <a:p>
            <a:endParaRPr lang="de-DE"/>
          </a:p>
        </p:txBody>
      </p:sp>
      <p:sp>
        <p:nvSpPr>
          <p:cNvPr id="7" name="Shape 2">
            <a:extLst>
              <a:ext uri="{FF2B5EF4-FFF2-40B4-BE49-F238E27FC236}">
                <a16:creationId xmlns:a16="http://schemas.microsoft.com/office/drawing/2014/main" id="{CC53DFC9-96B4-68B6-3880-91E1FCBC4A96}"/>
              </a:ext>
            </a:extLst>
          </p:cNvPr>
          <p:cNvSpPr/>
          <p:nvPr/>
        </p:nvSpPr>
        <p:spPr>
          <a:xfrm>
            <a:off x="6693408" y="3566160"/>
            <a:ext cx="420624" cy="1005840"/>
          </a:xfrm>
          <a:prstGeom prst="rect">
            <a:avLst/>
          </a:prstGeom>
          <a:solidFill>
            <a:srgbClr val="1C7293">
              <a:alpha val="75000"/>
            </a:srgbClr>
          </a:solidFill>
          <a:ln/>
        </p:spPr>
        <p:txBody>
          <a:bodyPr/>
          <a:lstStyle/>
          <a:p>
            <a:endParaRPr lang="de-DE"/>
          </a:p>
        </p:txBody>
      </p:sp>
      <p:sp>
        <p:nvSpPr>
          <p:cNvPr id="8" name="Shape 3">
            <a:extLst>
              <a:ext uri="{FF2B5EF4-FFF2-40B4-BE49-F238E27FC236}">
                <a16:creationId xmlns:a16="http://schemas.microsoft.com/office/drawing/2014/main" id="{CC87A532-1A59-949C-08C7-3B770B322AA3}"/>
              </a:ext>
            </a:extLst>
          </p:cNvPr>
          <p:cNvSpPr/>
          <p:nvPr/>
        </p:nvSpPr>
        <p:spPr>
          <a:xfrm>
            <a:off x="6858000" y="4005072"/>
            <a:ext cx="420624" cy="566928"/>
          </a:xfrm>
          <a:prstGeom prst="rect">
            <a:avLst/>
          </a:prstGeom>
          <a:solidFill>
            <a:srgbClr val="E8833A">
              <a:alpha val="80000"/>
            </a:srgbClr>
          </a:solidFill>
          <a:ln/>
        </p:spPr>
        <p:txBody>
          <a:bodyPr/>
          <a:lstStyle/>
          <a:p>
            <a:endParaRPr lang="de-DE"/>
          </a:p>
        </p:txBody>
      </p:sp>
      <p:sp>
        <p:nvSpPr>
          <p:cNvPr id="9" name="Shape 4">
            <a:extLst>
              <a:ext uri="{FF2B5EF4-FFF2-40B4-BE49-F238E27FC236}">
                <a16:creationId xmlns:a16="http://schemas.microsoft.com/office/drawing/2014/main" id="{C7F33DE1-C869-988E-F284-670342CFE64A}"/>
              </a:ext>
            </a:extLst>
          </p:cNvPr>
          <p:cNvSpPr/>
          <p:nvPr/>
        </p:nvSpPr>
        <p:spPr>
          <a:xfrm>
            <a:off x="7260336" y="4160520"/>
            <a:ext cx="420624" cy="411480"/>
          </a:xfrm>
          <a:prstGeom prst="rect">
            <a:avLst/>
          </a:prstGeom>
          <a:solidFill>
            <a:srgbClr val="1C7293">
              <a:alpha val="75000"/>
            </a:srgbClr>
          </a:solidFill>
          <a:ln/>
        </p:spPr>
        <p:txBody>
          <a:bodyPr/>
          <a:lstStyle/>
          <a:p>
            <a:endParaRPr lang="de-DE"/>
          </a:p>
        </p:txBody>
      </p:sp>
      <p:sp>
        <p:nvSpPr>
          <p:cNvPr id="10" name="Shape 5">
            <a:extLst>
              <a:ext uri="{FF2B5EF4-FFF2-40B4-BE49-F238E27FC236}">
                <a16:creationId xmlns:a16="http://schemas.microsoft.com/office/drawing/2014/main" id="{22534CBA-F15B-8041-03E5-70125FAEF2DE}"/>
              </a:ext>
            </a:extLst>
          </p:cNvPr>
          <p:cNvSpPr/>
          <p:nvPr/>
        </p:nvSpPr>
        <p:spPr>
          <a:xfrm>
            <a:off x="7424928" y="4005072"/>
            <a:ext cx="420624" cy="566928"/>
          </a:xfrm>
          <a:prstGeom prst="rect">
            <a:avLst/>
          </a:prstGeom>
          <a:solidFill>
            <a:srgbClr val="E8833A">
              <a:alpha val="80000"/>
            </a:srgbClr>
          </a:solidFill>
          <a:ln/>
        </p:spPr>
        <p:txBody>
          <a:bodyPr/>
          <a:lstStyle/>
          <a:p>
            <a:endParaRPr lang="de-DE"/>
          </a:p>
        </p:txBody>
      </p:sp>
      <p:sp>
        <p:nvSpPr>
          <p:cNvPr id="11" name="Shape 6">
            <a:extLst>
              <a:ext uri="{FF2B5EF4-FFF2-40B4-BE49-F238E27FC236}">
                <a16:creationId xmlns:a16="http://schemas.microsoft.com/office/drawing/2014/main" id="{1CCA9249-CFDD-90F2-FF0A-8E00FC1B71E6}"/>
              </a:ext>
            </a:extLst>
          </p:cNvPr>
          <p:cNvSpPr/>
          <p:nvPr/>
        </p:nvSpPr>
        <p:spPr>
          <a:xfrm>
            <a:off x="7991856" y="4005072"/>
            <a:ext cx="420624" cy="566928"/>
          </a:xfrm>
          <a:prstGeom prst="rect">
            <a:avLst/>
          </a:prstGeom>
          <a:solidFill>
            <a:srgbClr val="E8833A">
              <a:alpha val="80000"/>
            </a:srgbClr>
          </a:solidFill>
          <a:ln/>
        </p:spPr>
        <p:txBody>
          <a:bodyPr/>
          <a:lstStyle/>
          <a:p>
            <a:endParaRPr lang="de-DE"/>
          </a:p>
        </p:txBody>
      </p:sp>
      <p:pic>
        <p:nvPicPr>
          <p:cNvPr id="12" name="Image 0" descr="preencoded.png">
            <a:extLst>
              <a:ext uri="{FF2B5EF4-FFF2-40B4-BE49-F238E27FC236}">
                <a16:creationId xmlns:a16="http://schemas.microsoft.com/office/drawing/2014/main" id="{FF35058D-8803-6171-A619-CC7CE40455FB}"/>
              </a:ext>
            </a:extLst>
          </p:cNvPr>
          <p:cNvPicPr>
            <a:picLocks noChangeAspect="1"/>
          </p:cNvPicPr>
          <p:nvPr/>
        </p:nvPicPr>
        <p:blipFill>
          <a:blip r:embed="rId3"/>
          <a:stretch>
            <a:fillRect/>
          </a:stretch>
        </p:blipFill>
        <p:spPr>
          <a:xfrm>
            <a:off x="457200" y="502920"/>
            <a:ext cx="548640" cy="548640"/>
          </a:xfrm>
          <a:prstGeom prst="rect">
            <a:avLst/>
          </a:prstGeom>
        </p:spPr>
      </p:pic>
      <p:sp>
        <p:nvSpPr>
          <p:cNvPr id="13" name="Text 7">
            <a:extLst>
              <a:ext uri="{FF2B5EF4-FFF2-40B4-BE49-F238E27FC236}">
                <a16:creationId xmlns:a16="http://schemas.microsoft.com/office/drawing/2014/main" id="{63644BEA-BDE5-B9F6-F797-13B76D2ED5DD}"/>
              </a:ext>
            </a:extLst>
          </p:cNvPr>
          <p:cNvSpPr/>
          <p:nvPr/>
        </p:nvSpPr>
        <p:spPr>
          <a:xfrm>
            <a:off x="1097280" y="548640"/>
            <a:ext cx="7315200" cy="365760"/>
          </a:xfrm>
          <a:prstGeom prst="rect">
            <a:avLst/>
          </a:prstGeom>
          <a:noFill/>
          <a:ln/>
        </p:spPr>
        <p:txBody>
          <a:bodyPr wrap="square" lIns="0" tIns="0" rIns="0" bIns="0" rtlCol="0" anchor="ctr"/>
          <a:lstStyle/>
          <a:p>
            <a:pPr marL="0" indent="0">
              <a:buNone/>
            </a:pPr>
            <a:r>
              <a:rPr lang="en-US" sz="1300" b="1" kern="0" spc="200" dirty="0">
                <a:solidFill>
                  <a:srgbClr val="9FC1D6"/>
                </a:solidFill>
                <a:latin typeface="Calibri" pitchFamily="34" charset="0"/>
                <a:ea typeface="Calibri" pitchFamily="34" charset="-122"/>
                <a:cs typeface="Calibri" pitchFamily="34" charset="-120"/>
              </a:rPr>
              <a:t>HW/SW CODESIGN SEMINAR</a:t>
            </a:r>
            <a:endParaRPr lang="en-US" sz="1300" dirty="0"/>
          </a:p>
        </p:txBody>
      </p:sp>
      <p:sp>
        <p:nvSpPr>
          <p:cNvPr id="14" name="Text 8">
            <a:extLst>
              <a:ext uri="{FF2B5EF4-FFF2-40B4-BE49-F238E27FC236}">
                <a16:creationId xmlns:a16="http://schemas.microsoft.com/office/drawing/2014/main" id="{428C14E0-2CBE-9916-B8EC-351F04F1A833}"/>
              </a:ext>
            </a:extLst>
          </p:cNvPr>
          <p:cNvSpPr/>
          <p:nvPr/>
        </p:nvSpPr>
        <p:spPr>
          <a:xfrm>
            <a:off x="457200" y="1417320"/>
            <a:ext cx="8229600" cy="1554480"/>
          </a:xfrm>
          <a:prstGeom prst="rect">
            <a:avLst/>
          </a:prstGeom>
          <a:noFill/>
          <a:ln/>
        </p:spPr>
        <p:txBody>
          <a:bodyPr wrap="square" lIns="0" tIns="0" rIns="0" bIns="0" rtlCol="0" anchor="ctr"/>
          <a:lstStyle/>
          <a:p>
            <a:pPr marL="0" indent="0">
              <a:lnSpc>
                <a:spcPct val="100000"/>
              </a:lnSpc>
              <a:buNone/>
            </a:pPr>
            <a:r>
              <a:rPr lang="en-US" sz="4000" b="1" dirty="0">
                <a:solidFill>
                  <a:srgbClr val="FFFFFF"/>
                </a:solidFill>
                <a:latin typeface="Cambria" pitchFamily="34" charset="0"/>
                <a:ea typeface="Cambria" pitchFamily="34" charset="-122"/>
                <a:cs typeface="Cambria" pitchFamily="34" charset="-120"/>
              </a:rPr>
              <a:t>Force-Directed Scheduling</a:t>
            </a:r>
            <a:endParaRPr lang="en-US" sz="4000" dirty="0"/>
          </a:p>
          <a:p>
            <a:pPr marL="0" indent="0">
              <a:lnSpc>
                <a:spcPct val="100000"/>
              </a:lnSpc>
              <a:buNone/>
            </a:pPr>
            <a:r>
              <a:rPr lang="en-US" sz="4000" b="1" dirty="0">
                <a:solidFill>
                  <a:srgbClr val="FFFFFF"/>
                </a:solidFill>
                <a:latin typeface="Cambria" pitchFamily="34" charset="0"/>
                <a:ea typeface="Cambria" pitchFamily="34" charset="-122"/>
                <a:cs typeface="Cambria" pitchFamily="34" charset="-120"/>
              </a:rPr>
              <a:t>for High-Level Synthesis</a:t>
            </a:r>
            <a:endParaRPr lang="en-US" sz="4000" dirty="0"/>
          </a:p>
        </p:txBody>
      </p:sp>
      <p:sp>
        <p:nvSpPr>
          <p:cNvPr id="15" name="Text 9">
            <a:extLst>
              <a:ext uri="{FF2B5EF4-FFF2-40B4-BE49-F238E27FC236}">
                <a16:creationId xmlns:a16="http://schemas.microsoft.com/office/drawing/2014/main" id="{4D221A0D-F1C5-DEF1-4C63-1209D18D25CA}"/>
              </a:ext>
            </a:extLst>
          </p:cNvPr>
          <p:cNvSpPr/>
          <p:nvPr/>
        </p:nvSpPr>
        <p:spPr>
          <a:xfrm>
            <a:off x="457200" y="2971800"/>
            <a:ext cx="7863840" cy="457200"/>
          </a:xfrm>
          <a:prstGeom prst="rect">
            <a:avLst/>
          </a:prstGeom>
          <a:noFill/>
          <a:ln/>
        </p:spPr>
        <p:txBody>
          <a:bodyPr wrap="square" lIns="0" tIns="0" rIns="0" bIns="0" rtlCol="0" anchor="ctr"/>
          <a:lstStyle/>
          <a:p>
            <a:pPr marL="0" indent="0">
              <a:buNone/>
            </a:pPr>
            <a:r>
              <a:rPr lang="en-US" sz="1700" i="1" dirty="0">
                <a:solidFill>
                  <a:srgbClr val="E8833A"/>
                </a:solidFill>
                <a:latin typeface="Calibri" pitchFamily="34" charset="0"/>
                <a:ea typeface="Calibri" pitchFamily="34" charset="-122"/>
                <a:cs typeface="Calibri" pitchFamily="34" charset="-120"/>
              </a:rPr>
              <a:t>Mechanism, Comparative Context, and Critical Evaluation</a:t>
            </a:r>
            <a:endParaRPr lang="en-US" sz="1700" dirty="0"/>
          </a:p>
        </p:txBody>
      </p:sp>
      <p:sp>
        <p:nvSpPr>
          <p:cNvPr id="16" name="Text 10">
            <a:extLst>
              <a:ext uri="{FF2B5EF4-FFF2-40B4-BE49-F238E27FC236}">
                <a16:creationId xmlns:a16="http://schemas.microsoft.com/office/drawing/2014/main" id="{C32B5555-85C1-A9C3-E7EE-F70EA56A7252}"/>
              </a:ext>
            </a:extLst>
          </p:cNvPr>
          <p:cNvSpPr/>
          <p:nvPr/>
        </p:nvSpPr>
        <p:spPr>
          <a:xfrm>
            <a:off x="457200" y="3886200"/>
            <a:ext cx="8229600" cy="1005840"/>
          </a:xfrm>
          <a:prstGeom prst="rect">
            <a:avLst/>
          </a:prstGeom>
          <a:noFill/>
          <a:ln/>
        </p:spPr>
        <p:txBody>
          <a:bodyPr wrap="square" lIns="0" tIns="0" rIns="0" bIns="0" rtlCol="0" anchor="ctr"/>
          <a:lstStyle/>
          <a:p>
            <a:pPr marL="0" indent="0">
              <a:lnSpc>
                <a:spcPct val="115000"/>
              </a:lnSpc>
              <a:buNone/>
            </a:pPr>
            <a:r>
              <a:rPr lang="en-US" sz="1500" b="1" dirty="0">
                <a:solidFill>
                  <a:srgbClr val="FFFFFF"/>
                </a:solidFill>
                <a:latin typeface="Calibri" pitchFamily="34" charset="0"/>
                <a:ea typeface="Calibri" pitchFamily="34" charset="-122"/>
                <a:cs typeface="Calibri" pitchFamily="34" charset="-120"/>
              </a:rPr>
              <a:t>Md Jubair Salehin Razin</a:t>
            </a:r>
            <a:endParaRPr lang="en-US" sz="1500" dirty="0"/>
          </a:p>
          <a:p>
            <a:pPr marL="0" indent="0">
              <a:lnSpc>
                <a:spcPct val="115000"/>
              </a:lnSpc>
              <a:buNone/>
            </a:pPr>
            <a:r>
              <a:rPr lang="en-US" sz="1250" dirty="0">
                <a:solidFill>
                  <a:srgbClr val="9FC1D6"/>
                </a:solidFill>
                <a:latin typeface="Calibri" pitchFamily="34" charset="0"/>
                <a:ea typeface="Calibri" pitchFamily="34" charset="-122"/>
                <a:cs typeface="Calibri" pitchFamily="34" charset="-120"/>
              </a:rPr>
              <a:t>Student ID 1230281  ·  Electronic Engineering, HSHL</a:t>
            </a:r>
            <a:endParaRPr lang="en-US" sz="1500" dirty="0"/>
          </a:p>
          <a:p>
            <a:pPr marL="0" indent="0">
              <a:lnSpc>
                <a:spcPct val="115000"/>
              </a:lnSpc>
              <a:buNone/>
            </a:pPr>
            <a:r>
              <a:rPr lang="en-US" sz="1250" dirty="0">
                <a:solidFill>
                  <a:srgbClr val="9FC1D6"/>
                </a:solidFill>
                <a:latin typeface="Calibri" pitchFamily="34" charset="0"/>
                <a:ea typeface="Calibri" pitchFamily="34" charset="-122"/>
                <a:cs typeface="Calibri" pitchFamily="34" charset="-120"/>
              </a:rPr>
              <a:t>Supervisor: Prof. Dr. Achim Rettberg</a:t>
            </a:r>
            <a:endParaRPr lang="en-US" sz="1500" dirty="0"/>
          </a:p>
        </p:txBody>
      </p:sp>
    </p:spTree>
    <p:extLst>
      <p:ext uri="{BB962C8B-B14F-4D97-AF65-F5344CB8AC3E}">
        <p14:creationId xmlns:p14="http://schemas.microsoft.com/office/powerpoint/2010/main" val="30911205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2"/>
          </p:nvPr>
        </p:nvSpPr>
        <p:spPr/>
        <p:txBody>
          <a:bodyPr/>
          <a:lstStyle/>
          <a:p>
            <a:pPr>
              <a:defRPr/>
            </a:pPr>
            <a:fld id="{BC3D5FFD-D629-EB49-AAC5-C3A2BD184236}" type="datetime1">
              <a:rPr lang="de-DE" smtClean="0"/>
              <a:t>14.06.2026</a:t>
            </a:fld>
            <a:endParaRPr lang="de-DE"/>
          </a:p>
        </p:txBody>
      </p:sp>
      <p:sp>
        <p:nvSpPr>
          <p:cNvPr id="4" name="Footer Placeholder 3"/>
          <p:cNvSpPr>
            <a:spLocks noGrp="1"/>
          </p:cNvSpPr>
          <p:nvPr>
            <p:ph type="ftr" sz="quarter" idx="10"/>
          </p:nvPr>
        </p:nvSpPr>
        <p:spPr/>
        <p:txBody>
          <a:bodyPr/>
          <a:lstStyle/>
          <a:p>
            <a:pPr>
              <a:defRPr/>
            </a:pPr>
            <a:r>
              <a:rPr lang="de-DE"/>
              <a:t>Prof. Dr. Achim Rettberg – University of Applied Sciences Hamm-Lippstadt</a:t>
            </a:r>
            <a:endParaRPr lang="de-DE" dirty="0"/>
          </a:p>
        </p:txBody>
      </p:sp>
      <p:sp>
        <p:nvSpPr>
          <p:cNvPr id="6" name="Slide Number Placeholder 5"/>
          <p:cNvSpPr>
            <a:spLocks noGrp="1"/>
          </p:cNvSpPr>
          <p:nvPr>
            <p:ph type="sldNum" sz="quarter" idx="4"/>
          </p:nvPr>
        </p:nvSpPr>
        <p:spPr/>
        <p:txBody>
          <a:bodyPr/>
          <a:lstStyle/>
          <a:p>
            <a:pPr>
              <a:defRPr/>
            </a:pPr>
            <a:r>
              <a:rPr lang="de-DE"/>
              <a:t>&lt; </a:t>
            </a:r>
            <a:fld id="{1A61C92B-C297-4AC9-B551-2D8A658A0122}" type="slidenum">
              <a:rPr lang="de-DE" smtClean="0"/>
              <a:pPr>
                <a:defRPr/>
              </a:pPr>
              <a:t>2</a:t>
            </a:fld>
            <a:r>
              <a:rPr lang="de-DE"/>
              <a:t> &gt;</a:t>
            </a:r>
            <a:endParaRPr lang="de-DE" dirty="0"/>
          </a:p>
        </p:txBody>
      </p:sp>
      <p:sp>
        <p:nvSpPr>
          <p:cNvPr id="2" name="Shape 0">
            <a:extLst>
              <a:ext uri="{FF2B5EF4-FFF2-40B4-BE49-F238E27FC236}">
                <a16:creationId xmlns:a16="http://schemas.microsoft.com/office/drawing/2014/main" id="{590E9813-7582-2425-2E7A-F3BE2D7532FE}"/>
              </a:ext>
            </a:extLst>
          </p:cNvPr>
          <p:cNvSpPr/>
          <p:nvPr/>
        </p:nvSpPr>
        <p:spPr>
          <a:xfrm>
            <a:off x="457200" y="384048"/>
            <a:ext cx="402336" cy="402336"/>
          </a:xfrm>
          <a:prstGeom prst="ellipse">
            <a:avLst/>
          </a:prstGeom>
          <a:solidFill>
            <a:srgbClr val="1C7293"/>
          </a:solidFill>
          <a:ln/>
        </p:spPr>
        <p:txBody>
          <a:bodyPr/>
          <a:lstStyle/>
          <a:p>
            <a:endParaRPr lang="de-DE"/>
          </a:p>
        </p:txBody>
      </p:sp>
      <p:sp>
        <p:nvSpPr>
          <p:cNvPr id="5" name="Text 1">
            <a:extLst>
              <a:ext uri="{FF2B5EF4-FFF2-40B4-BE49-F238E27FC236}">
                <a16:creationId xmlns:a16="http://schemas.microsoft.com/office/drawing/2014/main" id="{0DE889F6-1369-2E21-DE1E-31250EC43FC9}"/>
              </a:ext>
            </a:extLst>
          </p:cNvPr>
          <p:cNvSpPr/>
          <p:nvPr/>
        </p:nvSpPr>
        <p:spPr>
          <a:xfrm>
            <a:off x="457200" y="384048"/>
            <a:ext cx="402336"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2">
            <a:extLst>
              <a:ext uri="{FF2B5EF4-FFF2-40B4-BE49-F238E27FC236}">
                <a16:creationId xmlns:a16="http://schemas.microsoft.com/office/drawing/2014/main" id="{623763A6-B5F8-E37A-4986-54250CE5E67F}"/>
              </a:ext>
            </a:extLst>
          </p:cNvPr>
          <p:cNvSpPr/>
          <p:nvPr/>
        </p:nvSpPr>
        <p:spPr>
          <a:xfrm>
            <a:off x="969264" y="411480"/>
            <a:ext cx="7680960" cy="292608"/>
          </a:xfrm>
          <a:prstGeom prst="rect">
            <a:avLst/>
          </a:prstGeom>
          <a:noFill/>
          <a:ln/>
        </p:spPr>
        <p:txBody>
          <a:bodyPr wrap="square" lIns="0" tIns="0" rIns="0" bIns="0" rtlCol="0" anchor="ctr"/>
          <a:lstStyle/>
          <a:p>
            <a:pPr marL="0" indent="0">
              <a:buNone/>
            </a:pPr>
            <a:r>
              <a:rPr lang="en-US" sz="1100" b="1" kern="0" spc="200" dirty="0">
                <a:solidFill>
                  <a:srgbClr val="1C7293"/>
                </a:solidFill>
                <a:latin typeface="Calibri" pitchFamily="34" charset="0"/>
                <a:ea typeface="Calibri" pitchFamily="34" charset="-122"/>
                <a:cs typeface="Calibri" pitchFamily="34" charset="-120"/>
              </a:rPr>
              <a:t>MOTIVATION</a:t>
            </a:r>
            <a:endParaRPr lang="en-US" sz="1100" dirty="0"/>
          </a:p>
        </p:txBody>
      </p:sp>
      <p:sp>
        <p:nvSpPr>
          <p:cNvPr id="8" name="Text 3">
            <a:extLst>
              <a:ext uri="{FF2B5EF4-FFF2-40B4-BE49-F238E27FC236}">
                <a16:creationId xmlns:a16="http://schemas.microsoft.com/office/drawing/2014/main" id="{68D9FA99-A00B-3620-D743-FCB213C6E244}"/>
              </a:ext>
            </a:extLst>
          </p:cNvPr>
          <p:cNvSpPr/>
          <p:nvPr/>
        </p:nvSpPr>
        <p:spPr>
          <a:xfrm>
            <a:off x="457200" y="841248"/>
            <a:ext cx="8229600" cy="566928"/>
          </a:xfrm>
          <a:prstGeom prst="rect">
            <a:avLst/>
          </a:prstGeom>
          <a:noFill/>
          <a:ln/>
        </p:spPr>
        <p:txBody>
          <a:bodyPr wrap="square" lIns="0" tIns="0" rIns="0" bIns="0" rtlCol="0" anchor="ctr"/>
          <a:lstStyle/>
          <a:p>
            <a:pPr marL="0" indent="0">
              <a:buNone/>
            </a:pPr>
            <a:r>
              <a:rPr lang="en-US" sz="2700" b="1" dirty="0">
                <a:solidFill>
                  <a:srgbClr val="12273F"/>
                </a:solidFill>
                <a:latin typeface="Cambria" pitchFamily="34" charset="0"/>
                <a:ea typeface="Cambria" pitchFamily="34" charset="-122"/>
                <a:cs typeface="Cambria" pitchFamily="34" charset="-120"/>
              </a:rPr>
              <a:t>Where scheduling sits in high-level synthesis</a:t>
            </a:r>
            <a:endParaRPr lang="en-US" sz="2700" dirty="0"/>
          </a:p>
        </p:txBody>
      </p:sp>
      <p:sp>
        <p:nvSpPr>
          <p:cNvPr id="9" name="Shape 4">
            <a:extLst>
              <a:ext uri="{FF2B5EF4-FFF2-40B4-BE49-F238E27FC236}">
                <a16:creationId xmlns:a16="http://schemas.microsoft.com/office/drawing/2014/main" id="{45AF20FD-EFB0-051D-E78C-82ECE9F8C3C4}"/>
              </a:ext>
            </a:extLst>
          </p:cNvPr>
          <p:cNvSpPr/>
          <p:nvPr/>
        </p:nvSpPr>
        <p:spPr>
          <a:xfrm>
            <a:off x="548640" y="1691640"/>
            <a:ext cx="1783080" cy="868680"/>
          </a:xfrm>
          <a:prstGeom prst="roundRect">
            <a:avLst>
              <a:gd name="adj" fmla="val 8421"/>
            </a:avLst>
          </a:prstGeom>
          <a:solidFill>
            <a:srgbClr val="E6EEF3"/>
          </a:solidFill>
          <a:ln w="15875">
            <a:solidFill>
              <a:srgbClr val="1C7293"/>
            </a:solidFill>
            <a:prstDash val="solid"/>
          </a:ln>
          <a:effectLst>
            <a:outerShdw blurRad="114300" dist="38100" dir="5400000" algn="bl" rotWithShape="0">
              <a:srgbClr val="94A3B8">
                <a:alpha val="30000"/>
              </a:srgbClr>
            </a:outerShdw>
          </a:effectLst>
        </p:spPr>
        <p:txBody>
          <a:bodyPr/>
          <a:lstStyle/>
          <a:p>
            <a:endParaRPr lang="de-DE"/>
          </a:p>
        </p:txBody>
      </p:sp>
      <p:sp>
        <p:nvSpPr>
          <p:cNvPr id="10" name="Text 5">
            <a:extLst>
              <a:ext uri="{FF2B5EF4-FFF2-40B4-BE49-F238E27FC236}">
                <a16:creationId xmlns:a16="http://schemas.microsoft.com/office/drawing/2014/main" id="{31BC2906-D6A4-A267-97DE-F6FDA521E81E}"/>
              </a:ext>
            </a:extLst>
          </p:cNvPr>
          <p:cNvSpPr/>
          <p:nvPr/>
        </p:nvSpPr>
        <p:spPr>
          <a:xfrm>
            <a:off x="548640" y="1691640"/>
            <a:ext cx="1783080" cy="868680"/>
          </a:xfrm>
          <a:prstGeom prst="rect">
            <a:avLst/>
          </a:prstGeom>
          <a:noFill/>
          <a:ln/>
        </p:spPr>
        <p:txBody>
          <a:bodyPr wrap="square" lIns="25400" tIns="25400" rIns="25400" bIns="25400" rtlCol="0" anchor="ctr"/>
          <a:lstStyle/>
          <a:p>
            <a:pPr marL="0" indent="0" algn="ctr">
              <a:buNone/>
            </a:pPr>
            <a:r>
              <a:rPr lang="en-US" sz="1350" b="1" dirty="0">
                <a:solidFill>
                  <a:srgbClr val="1E293B"/>
                </a:solidFill>
                <a:latin typeface="Calibri" pitchFamily="34" charset="0"/>
                <a:ea typeface="Calibri" pitchFamily="34" charset="-122"/>
                <a:cs typeface="Calibri" pitchFamily="34" charset="-120"/>
              </a:rPr>
              <a:t>Behavioral</a:t>
            </a:r>
            <a:endParaRPr lang="en-US" sz="1350" dirty="0"/>
          </a:p>
          <a:p>
            <a:pPr marL="0" indent="0" algn="ctr">
              <a:buNone/>
            </a:pPr>
            <a:r>
              <a:rPr lang="en-US" sz="1350" b="1" dirty="0">
                <a:solidFill>
                  <a:srgbClr val="1E293B"/>
                </a:solidFill>
                <a:latin typeface="Calibri" pitchFamily="34" charset="0"/>
                <a:ea typeface="Calibri" pitchFamily="34" charset="-122"/>
                <a:cs typeface="Calibri" pitchFamily="34" charset="-120"/>
              </a:rPr>
              <a:t>description</a:t>
            </a:r>
            <a:endParaRPr lang="en-US" sz="1350" dirty="0"/>
          </a:p>
        </p:txBody>
      </p:sp>
      <p:sp>
        <p:nvSpPr>
          <p:cNvPr id="11" name="Shape 6">
            <a:extLst>
              <a:ext uri="{FF2B5EF4-FFF2-40B4-BE49-F238E27FC236}">
                <a16:creationId xmlns:a16="http://schemas.microsoft.com/office/drawing/2014/main" id="{58874135-FB16-C610-4051-D683FA00E0EF}"/>
              </a:ext>
            </a:extLst>
          </p:cNvPr>
          <p:cNvSpPr/>
          <p:nvPr/>
        </p:nvSpPr>
        <p:spPr>
          <a:xfrm>
            <a:off x="2368296" y="2125980"/>
            <a:ext cx="310896" cy="0"/>
          </a:xfrm>
          <a:prstGeom prst="line">
            <a:avLst/>
          </a:prstGeom>
          <a:noFill/>
          <a:ln w="25400">
            <a:solidFill>
              <a:srgbClr val="64748B"/>
            </a:solidFill>
            <a:prstDash val="solid"/>
            <a:tailEnd type="triangle"/>
          </a:ln>
        </p:spPr>
        <p:txBody>
          <a:bodyPr/>
          <a:lstStyle/>
          <a:p>
            <a:endParaRPr lang="de-DE"/>
          </a:p>
        </p:txBody>
      </p:sp>
      <p:sp>
        <p:nvSpPr>
          <p:cNvPr id="12" name="Shape 7">
            <a:extLst>
              <a:ext uri="{FF2B5EF4-FFF2-40B4-BE49-F238E27FC236}">
                <a16:creationId xmlns:a16="http://schemas.microsoft.com/office/drawing/2014/main" id="{83FC87AA-9EC9-4ECA-AAA7-E4AC0FA6D201}"/>
              </a:ext>
            </a:extLst>
          </p:cNvPr>
          <p:cNvSpPr/>
          <p:nvPr/>
        </p:nvSpPr>
        <p:spPr>
          <a:xfrm>
            <a:off x="2715768" y="1691640"/>
            <a:ext cx="1783080" cy="868680"/>
          </a:xfrm>
          <a:prstGeom prst="roundRect">
            <a:avLst>
              <a:gd name="adj" fmla="val 8421"/>
            </a:avLst>
          </a:prstGeom>
          <a:solidFill>
            <a:srgbClr val="FBEADC"/>
          </a:solidFill>
          <a:ln w="15875">
            <a:solidFill>
              <a:srgbClr val="E8833A"/>
            </a:solidFill>
            <a:prstDash val="solid"/>
          </a:ln>
          <a:effectLst>
            <a:outerShdw blurRad="114300" dist="38100" dir="5400000" algn="bl" rotWithShape="0">
              <a:srgbClr val="94A3B8">
                <a:alpha val="30000"/>
              </a:srgbClr>
            </a:outerShdw>
          </a:effectLst>
        </p:spPr>
        <p:txBody>
          <a:bodyPr/>
          <a:lstStyle/>
          <a:p>
            <a:endParaRPr lang="de-DE"/>
          </a:p>
        </p:txBody>
      </p:sp>
      <p:sp>
        <p:nvSpPr>
          <p:cNvPr id="13" name="Text 8">
            <a:extLst>
              <a:ext uri="{FF2B5EF4-FFF2-40B4-BE49-F238E27FC236}">
                <a16:creationId xmlns:a16="http://schemas.microsoft.com/office/drawing/2014/main" id="{7CEBA597-9E92-FA3D-5596-2836DC9F7B2E}"/>
              </a:ext>
            </a:extLst>
          </p:cNvPr>
          <p:cNvSpPr/>
          <p:nvPr/>
        </p:nvSpPr>
        <p:spPr>
          <a:xfrm>
            <a:off x="2715768" y="1691640"/>
            <a:ext cx="1783080" cy="868680"/>
          </a:xfrm>
          <a:prstGeom prst="rect">
            <a:avLst/>
          </a:prstGeom>
          <a:noFill/>
          <a:ln/>
        </p:spPr>
        <p:txBody>
          <a:bodyPr wrap="square" lIns="25400" tIns="25400" rIns="25400" bIns="25400" rtlCol="0" anchor="ctr"/>
          <a:lstStyle/>
          <a:p>
            <a:pPr marL="0" indent="0" algn="ctr">
              <a:buNone/>
            </a:pPr>
            <a:r>
              <a:rPr lang="en-US" sz="1350" b="1" dirty="0">
                <a:solidFill>
                  <a:srgbClr val="1E293B"/>
                </a:solidFill>
                <a:latin typeface="Calibri" pitchFamily="34" charset="0"/>
                <a:ea typeface="Calibri" pitchFamily="34" charset="-122"/>
                <a:cs typeface="Calibri" pitchFamily="34" charset="-120"/>
              </a:rPr>
              <a:t>Scheduling</a:t>
            </a:r>
            <a:endParaRPr lang="en-US" sz="1350" dirty="0"/>
          </a:p>
        </p:txBody>
      </p:sp>
      <p:sp>
        <p:nvSpPr>
          <p:cNvPr id="14" name="Shape 9">
            <a:extLst>
              <a:ext uri="{FF2B5EF4-FFF2-40B4-BE49-F238E27FC236}">
                <a16:creationId xmlns:a16="http://schemas.microsoft.com/office/drawing/2014/main" id="{7CFAF9BA-6110-DF61-DA58-4AE1680CE741}"/>
              </a:ext>
            </a:extLst>
          </p:cNvPr>
          <p:cNvSpPr/>
          <p:nvPr/>
        </p:nvSpPr>
        <p:spPr>
          <a:xfrm>
            <a:off x="4535424" y="2125980"/>
            <a:ext cx="310896" cy="0"/>
          </a:xfrm>
          <a:prstGeom prst="line">
            <a:avLst/>
          </a:prstGeom>
          <a:noFill/>
          <a:ln w="25400">
            <a:solidFill>
              <a:srgbClr val="64748B"/>
            </a:solidFill>
            <a:prstDash val="solid"/>
            <a:tailEnd type="triangle"/>
          </a:ln>
        </p:spPr>
        <p:txBody>
          <a:bodyPr/>
          <a:lstStyle/>
          <a:p>
            <a:endParaRPr lang="de-DE"/>
          </a:p>
        </p:txBody>
      </p:sp>
      <p:sp>
        <p:nvSpPr>
          <p:cNvPr id="15" name="Shape 10">
            <a:extLst>
              <a:ext uri="{FF2B5EF4-FFF2-40B4-BE49-F238E27FC236}">
                <a16:creationId xmlns:a16="http://schemas.microsoft.com/office/drawing/2014/main" id="{5F4F2D4E-576D-9205-2E21-6E4CFB65E198}"/>
              </a:ext>
            </a:extLst>
          </p:cNvPr>
          <p:cNvSpPr/>
          <p:nvPr/>
        </p:nvSpPr>
        <p:spPr>
          <a:xfrm>
            <a:off x="4882896" y="1691640"/>
            <a:ext cx="1783080" cy="868680"/>
          </a:xfrm>
          <a:prstGeom prst="roundRect">
            <a:avLst>
              <a:gd name="adj" fmla="val 8421"/>
            </a:avLst>
          </a:prstGeom>
          <a:solidFill>
            <a:srgbClr val="E6EEF3"/>
          </a:solidFill>
          <a:ln w="15875">
            <a:solidFill>
              <a:srgbClr val="1C7293"/>
            </a:solidFill>
            <a:prstDash val="solid"/>
          </a:ln>
          <a:effectLst>
            <a:outerShdw blurRad="114300" dist="38100" dir="5400000" algn="bl" rotWithShape="0">
              <a:srgbClr val="94A3B8">
                <a:alpha val="30000"/>
              </a:srgbClr>
            </a:outerShdw>
          </a:effectLst>
        </p:spPr>
        <p:txBody>
          <a:bodyPr/>
          <a:lstStyle/>
          <a:p>
            <a:endParaRPr lang="de-DE"/>
          </a:p>
        </p:txBody>
      </p:sp>
      <p:sp>
        <p:nvSpPr>
          <p:cNvPr id="16" name="Text 11">
            <a:extLst>
              <a:ext uri="{FF2B5EF4-FFF2-40B4-BE49-F238E27FC236}">
                <a16:creationId xmlns:a16="http://schemas.microsoft.com/office/drawing/2014/main" id="{02526095-A9A4-9B7D-0B35-1D81D4F061F6}"/>
              </a:ext>
            </a:extLst>
          </p:cNvPr>
          <p:cNvSpPr/>
          <p:nvPr/>
        </p:nvSpPr>
        <p:spPr>
          <a:xfrm>
            <a:off x="4882896" y="1691640"/>
            <a:ext cx="1783080" cy="868680"/>
          </a:xfrm>
          <a:prstGeom prst="rect">
            <a:avLst/>
          </a:prstGeom>
          <a:noFill/>
          <a:ln/>
        </p:spPr>
        <p:txBody>
          <a:bodyPr wrap="square" lIns="25400" tIns="25400" rIns="25400" bIns="25400" rtlCol="0" anchor="ctr"/>
          <a:lstStyle/>
          <a:p>
            <a:pPr marL="0" indent="0" algn="ctr">
              <a:buNone/>
            </a:pPr>
            <a:r>
              <a:rPr lang="en-US" sz="1350" b="1" dirty="0">
                <a:solidFill>
                  <a:srgbClr val="1E293B"/>
                </a:solidFill>
                <a:latin typeface="Calibri" pitchFamily="34" charset="0"/>
                <a:ea typeface="Calibri" pitchFamily="34" charset="-122"/>
                <a:cs typeface="Calibri" pitchFamily="34" charset="-120"/>
              </a:rPr>
              <a:t>Binding</a:t>
            </a:r>
            <a:endParaRPr lang="en-US" sz="1350" dirty="0"/>
          </a:p>
        </p:txBody>
      </p:sp>
      <p:sp>
        <p:nvSpPr>
          <p:cNvPr id="17" name="Shape 12">
            <a:extLst>
              <a:ext uri="{FF2B5EF4-FFF2-40B4-BE49-F238E27FC236}">
                <a16:creationId xmlns:a16="http://schemas.microsoft.com/office/drawing/2014/main" id="{4A8441A3-C4EC-823C-0247-4094716A31AC}"/>
              </a:ext>
            </a:extLst>
          </p:cNvPr>
          <p:cNvSpPr/>
          <p:nvPr/>
        </p:nvSpPr>
        <p:spPr>
          <a:xfrm>
            <a:off x="6702552" y="2125980"/>
            <a:ext cx="310896" cy="0"/>
          </a:xfrm>
          <a:prstGeom prst="line">
            <a:avLst/>
          </a:prstGeom>
          <a:noFill/>
          <a:ln w="25400">
            <a:solidFill>
              <a:srgbClr val="64748B"/>
            </a:solidFill>
            <a:prstDash val="solid"/>
            <a:tailEnd type="triangle"/>
          </a:ln>
        </p:spPr>
        <p:txBody>
          <a:bodyPr/>
          <a:lstStyle/>
          <a:p>
            <a:endParaRPr lang="de-DE"/>
          </a:p>
        </p:txBody>
      </p:sp>
      <p:sp>
        <p:nvSpPr>
          <p:cNvPr id="18" name="Shape 13">
            <a:extLst>
              <a:ext uri="{FF2B5EF4-FFF2-40B4-BE49-F238E27FC236}">
                <a16:creationId xmlns:a16="http://schemas.microsoft.com/office/drawing/2014/main" id="{542FF96C-2B32-EFB9-5DD5-B2EC8ED6E65E}"/>
              </a:ext>
            </a:extLst>
          </p:cNvPr>
          <p:cNvSpPr/>
          <p:nvPr/>
        </p:nvSpPr>
        <p:spPr>
          <a:xfrm>
            <a:off x="7050024" y="1691640"/>
            <a:ext cx="1783080" cy="868680"/>
          </a:xfrm>
          <a:prstGeom prst="roundRect">
            <a:avLst>
              <a:gd name="adj" fmla="val 8421"/>
            </a:avLst>
          </a:prstGeom>
          <a:solidFill>
            <a:srgbClr val="E6EEF3"/>
          </a:solidFill>
          <a:ln w="15875">
            <a:solidFill>
              <a:srgbClr val="12273F"/>
            </a:solidFill>
            <a:prstDash val="solid"/>
          </a:ln>
          <a:effectLst>
            <a:outerShdw blurRad="114300" dist="38100" dir="5400000" algn="bl" rotWithShape="0">
              <a:srgbClr val="94A3B8">
                <a:alpha val="30000"/>
              </a:srgbClr>
            </a:outerShdw>
          </a:effectLst>
        </p:spPr>
        <p:txBody>
          <a:bodyPr/>
          <a:lstStyle/>
          <a:p>
            <a:endParaRPr lang="de-DE"/>
          </a:p>
        </p:txBody>
      </p:sp>
      <p:sp>
        <p:nvSpPr>
          <p:cNvPr id="19" name="Text 14">
            <a:extLst>
              <a:ext uri="{FF2B5EF4-FFF2-40B4-BE49-F238E27FC236}">
                <a16:creationId xmlns:a16="http://schemas.microsoft.com/office/drawing/2014/main" id="{96E79A61-14F2-0A17-FBE0-E416BFBC4F05}"/>
              </a:ext>
            </a:extLst>
          </p:cNvPr>
          <p:cNvSpPr/>
          <p:nvPr/>
        </p:nvSpPr>
        <p:spPr>
          <a:xfrm>
            <a:off x="7050024" y="1691640"/>
            <a:ext cx="1783080" cy="868680"/>
          </a:xfrm>
          <a:prstGeom prst="rect">
            <a:avLst/>
          </a:prstGeom>
          <a:noFill/>
          <a:ln/>
        </p:spPr>
        <p:txBody>
          <a:bodyPr wrap="square" lIns="25400" tIns="25400" rIns="25400" bIns="25400" rtlCol="0" anchor="ctr"/>
          <a:lstStyle/>
          <a:p>
            <a:pPr marL="0" indent="0" algn="ctr">
              <a:buNone/>
            </a:pPr>
            <a:r>
              <a:rPr lang="en-US" sz="1350" b="1" dirty="0">
                <a:solidFill>
                  <a:srgbClr val="1E293B"/>
                </a:solidFill>
                <a:latin typeface="Calibri" pitchFamily="34" charset="0"/>
                <a:ea typeface="Calibri" pitchFamily="34" charset="-122"/>
                <a:cs typeface="Calibri" pitchFamily="34" charset="-120"/>
              </a:rPr>
              <a:t>RTL netlist</a:t>
            </a:r>
            <a:endParaRPr lang="en-US" sz="1350" dirty="0"/>
          </a:p>
          <a:p>
            <a:pPr marL="0" indent="0" algn="ctr">
              <a:buNone/>
            </a:pPr>
            <a:r>
              <a:rPr lang="en-US" sz="1350" b="1" dirty="0">
                <a:solidFill>
                  <a:srgbClr val="1E293B"/>
                </a:solidFill>
                <a:latin typeface="Calibri" pitchFamily="34" charset="0"/>
                <a:ea typeface="Calibri" pitchFamily="34" charset="-122"/>
                <a:cs typeface="Calibri" pitchFamily="34" charset="-120"/>
              </a:rPr>
              <a:t>(VHDL entities)</a:t>
            </a:r>
            <a:endParaRPr lang="en-US" sz="1350" dirty="0"/>
          </a:p>
        </p:txBody>
      </p:sp>
      <p:sp>
        <p:nvSpPr>
          <p:cNvPr id="20" name="Text 15">
            <a:extLst>
              <a:ext uri="{FF2B5EF4-FFF2-40B4-BE49-F238E27FC236}">
                <a16:creationId xmlns:a16="http://schemas.microsoft.com/office/drawing/2014/main" id="{8D2A289E-BCA8-0251-C329-B77FAF0D0B8D}"/>
              </a:ext>
            </a:extLst>
          </p:cNvPr>
          <p:cNvSpPr/>
          <p:nvPr/>
        </p:nvSpPr>
        <p:spPr>
          <a:xfrm>
            <a:off x="548640" y="2788920"/>
            <a:ext cx="8046720" cy="502920"/>
          </a:xfrm>
          <a:prstGeom prst="rect">
            <a:avLst/>
          </a:prstGeom>
          <a:noFill/>
          <a:ln/>
        </p:spPr>
        <p:txBody>
          <a:bodyPr wrap="square" lIns="0" tIns="0" rIns="0" bIns="0" rtlCol="0" anchor="ctr"/>
          <a:lstStyle/>
          <a:p>
            <a:pPr marL="0" indent="0">
              <a:buNone/>
            </a:pPr>
            <a:r>
              <a:rPr lang="en-US" sz="1350" i="1" dirty="0">
                <a:solidFill>
                  <a:srgbClr val="64748B"/>
                </a:solidFill>
                <a:latin typeface="Calibri" pitchFamily="34" charset="0"/>
                <a:ea typeface="Calibri" pitchFamily="34" charset="-122"/>
                <a:cs typeface="Calibri" pitchFamily="34" charset="-120"/>
              </a:rPr>
              <a:t>Scheduling assigns every operation to a control step — it fixes the temporal concurrency, and so it largely decides how many functional units the design will need.</a:t>
            </a:r>
            <a:endParaRPr lang="en-US" sz="1350" dirty="0"/>
          </a:p>
        </p:txBody>
      </p:sp>
      <p:sp>
        <p:nvSpPr>
          <p:cNvPr id="21" name="Shape 16">
            <a:extLst>
              <a:ext uri="{FF2B5EF4-FFF2-40B4-BE49-F238E27FC236}">
                <a16:creationId xmlns:a16="http://schemas.microsoft.com/office/drawing/2014/main" id="{09CF0E01-D1C6-F28C-46A8-3EAE2FEB7095}"/>
              </a:ext>
            </a:extLst>
          </p:cNvPr>
          <p:cNvSpPr/>
          <p:nvPr/>
        </p:nvSpPr>
        <p:spPr>
          <a:xfrm>
            <a:off x="548640" y="3429000"/>
            <a:ext cx="3886200" cy="1325880"/>
          </a:xfrm>
          <a:prstGeom prst="roundRect">
            <a:avLst>
              <a:gd name="adj" fmla="val 4828"/>
            </a:avLst>
          </a:prstGeom>
          <a:solidFill>
            <a:srgbClr val="FFFFFF"/>
          </a:solidFill>
          <a:ln w="12700">
            <a:solidFill>
              <a:srgbClr val="CBD5E1"/>
            </a:solidFill>
            <a:prstDash val="solid"/>
          </a:ln>
          <a:effectLst>
            <a:outerShdw blurRad="114300" dist="38100" dir="5400000" algn="bl" rotWithShape="0">
              <a:srgbClr val="94A3B8">
                <a:alpha val="30000"/>
              </a:srgbClr>
            </a:outerShdw>
          </a:effectLst>
        </p:spPr>
        <p:txBody>
          <a:bodyPr/>
          <a:lstStyle/>
          <a:p>
            <a:endParaRPr lang="de-DE"/>
          </a:p>
        </p:txBody>
      </p:sp>
      <p:sp>
        <p:nvSpPr>
          <p:cNvPr id="22" name="Text 17">
            <a:extLst>
              <a:ext uri="{FF2B5EF4-FFF2-40B4-BE49-F238E27FC236}">
                <a16:creationId xmlns:a16="http://schemas.microsoft.com/office/drawing/2014/main" id="{BC4EC8A0-7BB8-2F46-8192-5520FD024608}"/>
              </a:ext>
            </a:extLst>
          </p:cNvPr>
          <p:cNvSpPr/>
          <p:nvPr/>
        </p:nvSpPr>
        <p:spPr>
          <a:xfrm>
            <a:off x="731520" y="3584448"/>
            <a:ext cx="3566160" cy="1005840"/>
          </a:xfrm>
          <a:prstGeom prst="rect">
            <a:avLst/>
          </a:prstGeom>
          <a:noFill/>
          <a:ln/>
        </p:spPr>
        <p:txBody>
          <a:bodyPr wrap="square" lIns="0" tIns="0" rIns="0" bIns="0" rtlCol="0" anchor="ctr"/>
          <a:lstStyle/>
          <a:p>
            <a:pPr marL="0" indent="0">
              <a:lnSpc>
                <a:spcPct val="110000"/>
              </a:lnSpc>
              <a:buNone/>
            </a:pPr>
            <a:r>
              <a:rPr lang="en-US" sz="1450" b="1" dirty="0">
                <a:solidFill>
                  <a:srgbClr val="1C7293"/>
                </a:solidFill>
                <a:latin typeface="Calibri" pitchFamily="34" charset="0"/>
                <a:ea typeface="Calibri" pitchFamily="34" charset="-122"/>
                <a:cs typeface="Calibri" pitchFamily="34" charset="-120"/>
              </a:rPr>
              <a:t>Resource-constrained
</a:t>
            </a:r>
            <a:r>
              <a:rPr lang="en-US" sz="1250" dirty="0">
                <a:solidFill>
                  <a:srgbClr val="1E293B"/>
                </a:solidFill>
                <a:latin typeface="Calibri" pitchFamily="34" charset="0"/>
                <a:ea typeface="Calibri" pitchFamily="34" charset="-122"/>
                <a:cs typeface="Calibri" pitchFamily="34" charset="-120"/>
              </a:rPr>
              <a:t>Units fixed → minimise latency</a:t>
            </a:r>
            <a:endParaRPr lang="en-US" sz="1450" dirty="0"/>
          </a:p>
        </p:txBody>
      </p:sp>
      <p:sp>
        <p:nvSpPr>
          <p:cNvPr id="23" name="Shape 18">
            <a:extLst>
              <a:ext uri="{FF2B5EF4-FFF2-40B4-BE49-F238E27FC236}">
                <a16:creationId xmlns:a16="http://schemas.microsoft.com/office/drawing/2014/main" id="{39B616EF-29F8-3176-B4D3-A9B006A13741}"/>
              </a:ext>
            </a:extLst>
          </p:cNvPr>
          <p:cNvSpPr/>
          <p:nvPr/>
        </p:nvSpPr>
        <p:spPr>
          <a:xfrm>
            <a:off x="4709160" y="3429000"/>
            <a:ext cx="3886200" cy="1325880"/>
          </a:xfrm>
          <a:prstGeom prst="roundRect">
            <a:avLst>
              <a:gd name="adj" fmla="val 4828"/>
            </a:avLst>
          </a:prstGeom>
          <a:solidFill>
            <a:srgbClr val="FBEADC"/>
          </a:solidFill>
          <a:ln w="15875">
            <a:solidFill>
              <a:srgbClr val="E8833A"/>
            </a:solidFill>
            <a:prstDash val="solid"/>
          </a:ln>
          <a:effectLst>
            <a:outerShdw blurRad="114300" dist="38100" dir="5400000" algn="bl" rotWithShape="0">
              <a:srgbClr val="94A3B8">
                <a:alpha val="30000"/>
              </a:srgbClr>
            </a:outerShdw>
          </a:effectLst>
        </p:spPr>
        <p:txBody>
          <a:bodyPr/>
          <a:lstStyle/>
          <a:p>
            <a:endParaRPr lang="de-DE"/>
          </a:p>
        </p:txBody>
      </p:sp>
      <p:sp>
        <p:nvSpPr>
          <p:cNvPr id="24" name="Text 19">
            <a:extLst>
              <a:ext uri="{FF2B5EF4-FFF2-40B4-BE49-F238E27FC236}">
                <a16:creationId xmlns:a16="http://schemas.microsoft.com/office/drawing/2014/main" id="{AEE03F24-3A11-4AC4-8BC6-91E9CE35F230}"/>
              </a:ext>
            </a:extLst>
          </p:cNvPr>
          <p:cNvSpPr/>
          <p:nvPr/>
        </p:nvSpPr>
        <p:spPr>
          <a:xfrm>
            <a:off x="4892040" y="3584448"/>
            <a:ext cx="3566160" cy="1005840"/>
          </a:xfrm>
          <a:prstGeom prst="rect">
            <a:avLst/>
          </a:prstGeom>
          <a:noFill/>
          <a:ln/>
        </p:spPr>
        <p:txBody>
          <a:bodyPr wrap="square" lIns="0" tIns="0" rIns="0" bIns="0" rtlCol="0" anchor="ctr"/>
          <a:lstStyle/>
          <a:p>
            <a:pPr marL="0" indent="0">
              <a:lnSpc>
                <a:spcPct val="110000"/>
              </a:lnSpc>
              <a:buNone/>
            </a:pPr>
            <a:r>
              <a:rPr lang="en-US" sz="1450" b="1" dirty="0">
                <a:solidFill>
                  <a:srgbClr val="E8833A"/>
                </a:solidFill>
                <a:latin typeface="Calibri" pitchFamily="34" charset="0"/>
                <a:ea typeface="Calibri" pitchFamily="34" charset="-122"/>
                <a:cs typeface="Calibri" pitchFamily="34" charset="-120"/>
              </a:rPr>
              <a:t>Time-constrained  ← FDS
</a:t>
            </a:r>
            <a:r>
              <a:rPr lang="en-US" sz="1250" dirty="0">
                <a:solidFill>
                  <a:srgbClr val="1E293B"/>
                </a:solidFill>
                <a:latin typeface="Calibri" pitchFamily="34" charset="0"/>
                <a:ea typeface="Calibri" pitchFamily="34" charset="-122"/>
                <a:cs typeface="Calibri" pitchFamily="34" charset="-120"/>
              </a:rPr>
              <a:t>Latency fixed → minimise resources</a:t>
            </a:r>
            <a:endParaRPr lang="en-US" sz="1450" dirty="0"/>
          </a:p>
        </p:txBody>
      </p:sp>
    </p:spTree>
    <p:extLst>
      <p:ext uri="{BB962C8B-B14F-4D97-AF65-F5344CB8AC3E}">
        <p14:creationId xmlns:p14="http://schemas.microsoft.com/office/powerpoint/2010/main" val="20473550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457200" y="1241298"/>
            <a:ext cx="402336" cy="402336"/>
          </a:xfrm>
          <a:prstGeom prst="ellipse">
            <a:avLst/>
          </a:prstGeom>
          <a:solidFill>
            <a:srgbClr val="1C7293"/>
          </a:solidFill>
          <a:ln/>
        </p:spPr>
        <p:txBody>
          <a:bodyPr/>
          <a:lstStyle/>
          <a:p>
            <a:endParaRPr lang="de-DE"/>
          </a:p>
        </p:txBody>
      </p:sp>
      <p:sp>
        <p:nvSpPr>
          <p:cNvPr id="3" name="Text 1"/>
          <p:cNvSpPr/>
          <p:nvPr/>
        </p:nvSpPr>
        <p:spPr>
          <a:xfrm>
            <a:off x="457200" y="1241298"/>
            <a:ext cx="402336" cy="402336"/>
          </a:xfrm>
          <a:prstGeom prst="rect">
            <a:avLst/>
          </a:prstGeom>
          <a:noFill/>
          <a:ln/>
        </p:spPr>
        <p:txBody>
          <a:bodyPr wrap="square" lIns="0" tIns="0" rIns="0" bIns="0" rtlCol="0" anchor="ctr"/>
          <a:lstStyle/>
          <a:p>
            <a:pPr algn="ctr"/>
            <a:r>
              <a:rPr lang="en-US" b="1" dirty="0">
                <a:solidFill>
                  <a:srgbClr val="FFFFFF"/>
                </a:solidFill>
                <a:latin typeface="Calibri" pitchFamily="34" charset="0"/>
                <a:ea typeface="Calibri" pitchFamily="34" charset="-122"/>
                <a:cs typeface="Calibri" pitchFamily="34" charset="-120"/>
              </a:rPr>
              <a:t>2</a:t>
            </a:r>
            <a:endParaRPr lang="en-US" dirty="0"/>
          </a:p>
        </p:txBody>
      </p:sp>
      <p:sp>
        <p:nvSpPr>
          <p:cNvPr id="4" name="Text 2"/>
          <p:cNvSpPr/>
          <p:nvPr/>
        </p:nvSpPr>
        <p:spPr>
          <a:xfrm>
            <a:off x="969264" y="1268730"/>
            <a:ext cx="7680960" cy="292608"/>
          </a:xfrm>
          <a:prstGeom prst="rect">
            <a:avLst/>
          </a:prstGeom>
          <a:noFill/>
          <a:ln/>
        </p:spPr>
        <p:txBody>
          <a:bodyPr wrap="square" lIns="0" tIns="0" rIns="0" bIns="0" rtlCol="0" anchor="ctr"/>
          <a:lstStyle/>
          <a:p>
            <a:r>
              <a:rPr lang="en-US" sz="1100" b="1" kern="0" spc="200" dirty="0">
                <a:solidFill>
                  <a:srgbClr val="1C7293"/>
                </a:solidFill>
                <a:latin typeface="Calibri" pitchFamily="34" charset="0"/>
                <a:ea typeface="Calibri" pitchFamily="34" charset="-122"/>
                <a:cs typeface="Calibri" pitchFamily="34" charset="-120"/>
              </a:rPr>
              <a:t>THE CORE IDEA</a:t>
            </a:r>
            <a:endParaRPr lang="en-US" sz="1100" dirty="0"/>
          </a:p>
        </p:txBody>
      </p:sp>
      <p:sp>
        <p:nvSpPr>
          <p:cNvPr id="5" name="Text 3"/>
          <p:cNvSpPr/>
          <p:nvPr/>
        </p:nvSpPr>
        <p:spPr>
          <a:xfrm>
            <a:off x="457200" y="1698498"/>
            <a:ext cx="8229600" cy="566928"/>
          </a:xfrm>
          <a:prstGeom prst="rect">
            <a:avLst/>
          </a:prstGeom>
          <a:noFill/>
          <a:ln/>
        </p:spPr>
        <p:txBody>
          <a:bodyPr wrap="square" lIns="0" tIns="0" rIns="0" bIns="0" rtlCol="0" anchor="ctr"/>
          <a:lstStyle/>
          <a:p>
            <a:r>
              <a:rPr lang="en-US" sz="2700" b="1" dirty="0">
                <a:solidFill>
                  <a:srgbClr val="12273F"/>
                </a:solidFill>
                <a:latin typeface="Cambria" pitchFamily="34" charset="0"/>
                <a:ea typeface="Cambria" pitchFamily="34" charset="-122"/>
                <a:cs typeface="Cambria" pitchFamily="34" charset="-120"/>
              </a:rPr>
              <a:t>Balance the resource demand across control steps</a:t>
            </a:r>
            <a:endParaRPr lang="en-US" sz="2700" dirty="0"/>
          </a:p>
        </p:txBody>
      </p:sp>
      <p:sp>
        <p:nvSpPr>
          <p:cNvPr id="6" name="Text 4"/>
          <p:cNvSpPr/>
          <p:nvPr/>
        </p:nvSpPr>
        <p:spPr>
          <a:xfrm>
            <a:off x="548640" y="2411730"/>
            <a:ext cx="8138160" cy="640080"/>
          </a:xfrm>
          <a:prstGeom prst="rect">
            <a:avLst/>
          </a:prstGeom>
          <a:noFill/>
          <a:ln/>
        </p:spPr>
        <p:txBody>
          <a:bodyPr wrap="square" lIns="0" tIns="0" rIns="0" bIns="0" rtlCol="0" anchor="ctr"/>
          <a:lstStyle/>
          <a:p>
            <a:r>
              <a:rPr lang="en-US" sz="1500" dirty="0">
                <a:solidFill>
                  <a:srgbClr val="1E293B"/>
                </a:solidFill>
                <a:latin typeface="Calibri" pitchFamily="34" charset="0"/>
                <a:ea typeface="Calibri" pitchFamily="34" charset="-122"/>
                <a:cs typeface="Calibri" pitchFamily="34" charset="-120"/>
              </a:rPr>
              <a:t>FDS treats the per-step resource demand as a system of springs and flattens the peaks — fewer simultaneous operations means fewer functional units, at the same latency.</a:t>
            </a:r>
            <a:endParaRPr lang="en-US" sz="1500" dirty="0"/>
          </a:p>
        </p:txBody>
      </p:sp>
      <p:sp>
        <p:nvSpPr>
          <p:cNvPr id="7" name="Text 5"/>
          <p:cNvSpPr/>
          <p:nvPr/>
        </p:nvSpPr>
        <p:spPr>
          <a:xfrm>
            <a:off x="640080" y="3143250"/>
            <a:ext cx="3566160" cy="320040"/>
          </a:xfrm>
          <a:prstGeom prst="rect">
            <a:avLst/>
          </a:prstGeom>
          <a:noFill/>
          <a:ln/>
        </p:spPr>
        <p:txBody>
          <a:bodyPr wrap="square" lIns="0" tIns="0" rIns="0" bIns="0" rtlCol="0" anchor="ctr"/>
          <a:lstStyle/>
          <a:p>
            <a:pPr algn="ctr"/>
            <a:r>
              <a:rPr lang="en-US" sz="1300" b="1" dirty="0">
                <a:solidFill>
                  <a:srgbClr val="1E293B"/>
                </a:solidFill>
                <a:latin typeface="Calibri" pitchFamily="34" charset="0"/>
                <a:ea typeface="Calibri" pitchFamily="34" charset="-122"/>
                <a:cs typeface="Calibri" pitchFamily="34" charset="-120"/>
              </a:rPr>
              <a:t>Peaked (ASAP): 3 multipliers</a:t>
            </a:r>
            <a:endParaRPr lang="en-US" sz="1300" dirty="0"/>
          </a:p>
        </p:txBody>
      </p:sp>
      <p:sp>
        <p:nvSpPr>
          <p:cNvPr id="8" name="Shape 6"/>
          <p:cNvSpPr/>
          <p:nvPr/>
        </p:nvSpPr>
        <p:spPr>
          <a:xfrm>
            <a:off x="1143000" y="4331970"/>
            <a:ext cx="566928" cy="1051560"/>
          </a:xfrm>
          <a:prstGeom prst="rect">
            <a:avLst/>
          </a:prstGeom>
          <a:solidFill>
            <a:srgbClr val="1C7293"/>
          </a:solidFill>
          <a:ln w="12700">
            <a:solidFill>
              <a:srgbClr val="FFFFFF"/>
            </a:solidFill>
            <a:prstDash val="solid"/>
          </a:ln>
        </p:spPr>
        <p:txBody>
          <a:bodyPr/>
          <a:lstStyle/>
          <a:p>
            <a:endParaRPr lang="de-DE"/>
          </a:p>
        </p:txBody>
      </p:sp>
      <p:sp>
        <p:nvSpPr>
          <p:cNvPr id="9" name="Text 7"/>
          <p:cNvSpPr/>
          <p:nvPr/>
        </p:nvSpPr>
        <p:spPr>
          <a:xfrm>
            <a:off x="1143000" y="5420106"/>
            <a:ext cx="566928" cy="256032"/>
          </a:xfrm>
          <a:prstGeom prst="rect">
            <a:avLst/>
          </a:prstGeom>
          <a:noFill/>
          <a:ln/>
        </p:spPr>
        <p:txBody>
          <a:bodyPr wrap="square" lIns="0" tIns="0" rIns="0" bIns="0" rtlCol="0" anchor="ctr"/>
          <a:lstStyle/>
          <a:p>
            <a:pPr algn="ctr"/>
            <a:r>
              <a:rPr lang="en-US" sz="1100" dirty="0">
                <a:solidFill>
                  <a:srgbClr val="64748B"/>
                </a:solidFill>
                <a:latin typeface="Calibri" pitchFamily="34" charset="0"/>
                <a:ea typeface="Calibri" pitchFamily="34" charset="-122"/>
                <a:cs typeface="Calibri" pitchFamily="34" charset="-120"/>
              </a:rPr>
              <a:t>s1</a:t>
            </a:r>
            <a:endParaRPr lang="en-US" sz="1100" dirty="0"/>
          </a:p>
        </p:txBody>
      </p:sp>
      <p:sp>
        <p:nvSpPr>
          <p:cNvPr id="10" name="Shape 8"/>
          <p:cNvSpPr/>
          <p:nvPr/>
        </p:nvSpPr>
        <p:spPr>
          <a:xfrm>
            <a:off x="1965960" y="4689500"/>
            <a:ext cx="566928" cy="694030"/>
          </a:xfrm>
          <a:prstGeom prst="rect">
            <a:avLst/>
          </a:prstGeom>
          <a:solidFill>
            <a:srgbClr val="1C7293"/>
          </a:solidFill>
          <a:ln w="12700">
            <a:solidFill>
              <a:srgbClr val="FFFFFF"/>
            </a:solidFill>
            <a:prstDash val="solid"/>
          </a:ln>
        </p:spPr>
        <p:txBody>
          <a:bodyPr/>
          <a:lstStyle/>
          <a:p>
            <a:endParaRPr lang="de-DE"/>
          </a:p>
        </p:txBody>
      </p:sp>
      <p:sp>
        <p:nvSpPr>
          <p:cNvPr id="11" name="Text 9"/>
          <p:cNvSpPr/>
          <p:nvPr/>
        </p:nvSpPr>
        <p:spPr>
          <a:xfrm>
            <a:off x="1965960" y="5420106"/>
            <a:ext cx="566928" cy="256032"/>
          </a:xfrm>
          <a:prstGeom prst="rect">
            <a:avLst/>
          </a:prstGeom>
          <a:noFill/>
          <a:ln/>
        </p:spPr>
        <p:txBody>
          <a:bodyPr wrap="square" lIns="0" tIns="0" rIns="0" bIns="0" rtlCol="0" anchor="ctr"/>
          <a:lstStyle/>
          <a:p>
            <a:pPr algn="ctr"/>
            <a:r>
              <a:rPr lang="en-US" sz="1100" dirty="0">
                <a:solidFill>
                  <a:srgbClr val="64748B"/>
                </a:solidFill>
                <a:latin typeface="Calibri" pitchFamily="34" charset="0"/>
                <a:ea typeface="Calibri" pitchFamily="34" charset="-122"/>
                <a:cs typeface="Calibri" pitchFamily="34" charset="-120"/>
              </a:rPr>
              <a:t>s2</a:t>
            </a:r>
            <a:endParaRPr lang="en-US" sz="1100" dirty="0"/>
          </a:p>
        </p:txBody>
      </p:sp>
      <p:sp>
        <p:nvSpPr>
          <p:cNvPr id="12" name="Shape 10"/>
          <p:cNvSpPr/>
          <p:nvPr/>
        </p:nvSpPr>
        <p:spPr>
          <a:xfrm>
            <a:off x="2788920" y="5036516"/>
            <a:ext cx="566928" cy="347015"/>
          </a:xfrm>
          <a:prstGeom prst="rect">
            <a:avLst/>
          </a:prstGeom>
          <a:solidFill>
            <a:srgbClr val="1C7293"/>
          </a:solidFill>
          <a:ln w="12700">
            <a:solidFill>
              <a:srgbClr val="FFFFFF"/>
            </a:solidFill>
            <a:prstDash val="solid"/>
          </a:ln>
        </p:spPr>
        <p:txBody>
          <a:bodyPr/>
          <a:lstStyle/>
          <a:p>
            <a:endParaRPr lang="de-DE"/>
          </a:p>
        </p:txBody>
      </p:sp>
      <p:sp>
        <p:nvSpPr>
          <p:cNvPr id="13" name="Text 11"/>
          <p:cNvSpPr/>
          <p:nvPr/>
        </p:nvSpPr>
        <p:spPr>
          <a:xfrm>
            <a:off x="2788920" y="5420106"/>
            <a:ext cx="566928" cy="256032"/>
          </a:xfrm>
          <a:prstGeom prst="rect">
            <a:avLst/>
          </a:prstGeom>
          <a:noFill/>
          <a:ln/>
        </p:spPr>
        <p:txBody>
          <a:bodyPr wrap="square" lIns="0" tIns="0" rIns="0" bIns="0" rtlCol="0" anchor="ctr"/>
          <a:lstStyle/>
          <a:p>
            <a:pPr algn="ctr"/>
            <a:r>
              <a:rPr lang="en-US" sz="1100" dirty="0">
                <a:solidFill>
                  <a:srgbClr val="64748B"/>
                </a:solidFill>
                <a:latin typeface="Calibri" pitchFamily="34" charset="0"/>
                <a:ea typeface="Calibri" pitchFamily="34" charset="-122"/>
                <a:cs typeface="Calibri" pitchFamily="34" charset="-120"/>
              </a:rPr>
              <a:t>s3</a:t>
            </a:r>
            <a:endParaRPr lang="en-US" sz="1100" dirty="0"/>
          </a:p>
        </p:txBody>
      </p:sp>
      <p:sp>
        <p:nvSpPr>
          <p:cNvPr id="14" name="Shape 12"/>
          <p:cNvSpPr/>
          <p:nvPr/>
        </p:nvSpPr>
        <p:spPr>
          <a:xfrm>
            <a:off x="3611880" y="5383530"/>
            <a:ext cx="566928" cy="18288"/>
          </a:xfrm>
          <a:prstGeom prst="rect">
            <a:avLst/>
          </a:prstGeom>
          <a:solidFill>
            <a:srgbClr val="1C7293"/>
          </a:solidFill>
          <a:ln w="12700">
            <a:solidFill>
              <a:srgbClr val="FFFFFF"/>
            </a:solidFill>
            <a:prstDash val="solid"/>
          </a:ln>
        </p:spPr>
        <p:txBody>
          <a:bodyPr/>
          <a:lstStyle/>
          <a:p>
            <a:endParaRPr lang="de-DE"/>
          </a:p>
        </p:txBody>
      </p:sp>
      <p:sp>
        <p:nvSpPr>
          <p:cNvPr id="15" name="Text 13"/>
          <p:cNvSpPr/>
          <p:nvPr/>
        </p:nvSpPr>
        <p:spPr>
          <a:xfrm>
            <a:off x="3611880" y="5420106"/>
            <a:ext cx="566928" cy="256032"/>
          </a:xfrm>
          <a:prstGeom prst="rect">
            <a:avLst/>
          </a:prstGeom>
          <a:noFill/>
          <a:ln/>
        </p:spPr>
        <p:txBody>
          <a:bodyPr wrap="square" lIns="0" tIns="0" rIns="0" bIns="0" rtlCol="0" anchor="ctr"/>
          <a:lstStyle/>
          <a:p>
            <a:pPr algn="ctr"/>
            <a:r>
              <a:rPr lang="en-US" sz="1100" dirty="0">
                <a:solidFill>
                  <a:srgbClr val="64748B"/>
                </a:solidFill>
                <a:latin typeface="Calibri" pitchFamily="34" charset="0"/>
                <a:ea typeface="Calibri" pitchFamily="34" charset="-122"/>
                <a:cs typeface="Calibri" pitchFamily="34" charset="-120"/>
              </a:rPr>
              <a:t>s4</a:t>
            </a:r>
            <a:endParaRPr lang="en-US" sz="1100" dirty="0"/>
          </a:p>
        </p:txBody>
      </p:sp>
      <p:sp>
        <p:nvSpPr>
          <p:cNvPr id="16" name="Shape 14"/>
          <p:cNvSpPr/>
          <p:nvPr/>
        </p:nvSpPr>
        <p:spPr>
          <a:xfrm>
            <a:off x="1051560" y="5383530"/>
            <a:ext cx="3200400" cy="0"/>
          </a:xfrm>
          <a:prstGeom prst="line">
            <a:avLst/>
          </a:prstGeom>
          <a:noFill/>
          <a:ln w="12700">
            <a:solidFill>
              <a:srgbClr val="CBD5E1"/>
            </a:solidFill>
            <a:prstDash val="solid"/>
          </a:ln>
        </p:spPr>
        <p:txBody>
          <a:bodyPr/>
          <a:lstStyle/>
          <a:p>
            <a:endParaRPr lang="de-DE"/>
          </a:p>
        </p:txBody>
      </p:sp>
      <p:sp>
        <p:nvSpPr>
          <p:cNvPr id="17" name="Text 15"/>
          <p:cNvSpPr/>
          <p:nvPr/>
        </p:nvSpPr>
        <p:spPr>
          <a:xfrm>
            <a:off x="640080" y="5685282"/>
            <a:ext cx="3566160" cy="274320"/>
          </a:xfrm>
          <a:prstGeom prst="rect">
            <a:avLst/>
          </a:prstGeom>
          <a:noFill/>
          <a:ln/>
        </p:spPr>
        <p:txBody>
          <a:bodyPr wrap="square" lIns="0" tIns="0" rIns="0" bIns="0" rtlCol="0" anchor="ctr"/>
          <a:lstStyle/>
          <a:p>
            <a:pPr algn="ctr"/>
            <a:r>
              <a:rPr lang="en-US" sz="1150" i="1" dirty="0">
                <a:solidFill>
                  <a:srgbClr val="64748B"/>
                </a:solidFill>
                <a:latin typeface="Calibri" pitchFamily="34" charset="0"/>
                <a:ea typeface="Calibri" pitchFamily="34" charset="-122"/>
                <a:cs typeface="Calibri" pitchFamily="34" charset="-120"/>
              </a:rPr>
              <a:t>demand piles into early steps</a:t>
            </a:r>
            <a:endParaRPr lang="en-US" sz="1150" dirty="0"/>
          </a:p>
        </p:txBody>
      </p:sp>
      <p:sp>
        <p:nvSpPr>
          <p:cNvPr id="18" name="Shape 16"/>
          <p:cNvSpPr/>
          <p:nvPr/>
        </p:nvSpPr>
        <p:spPr>
          <a:xfrm>
            <a:off x="4343400" y="4423410"/>
            <a:ext cx="640080" cy="0"/>
          </a:xfrm>
          <a:prstGeom prst="line">
            <a:avLst/>
          </a:prstGeom>
          <a:noFill/>
          <a:ln w="31750">
            <a:solidFill>
              <a:srgbClr val="E8833A"/>
            </a:solidFill>
            <a:prstDash val="solid"/>
            <a:tailEnd type="triangle"/>
          </a:ln>
        </p:spPr>
        <p:txBody>
          <a:bodyPr/>
          <a:lstStyle/>
          <a:p>
            <a:endParaRPr lang="de-DE"/>
          </a:p>
        </p:txBody>
      </p:sp>
      <p:sp>
        <p:nvSpPr>
          <p:cNvPr id="19" name="Text 17"/>
          <p:cNvSpPr/>
          <p:nvPr/>
        </p:nvSpPr>
        <p:spPr>
          <a:xfrm>
            <a:off x="4937760" y="3143250"/>
            <a:ext cx="3566160" cy="320040"/>
          </a:xfrm>
          <a:prstGeom prst="rect">
            <a:avLst/>
          </a:prstGeom>
          <a:noFill/>
          <a:ln/>
        </p:spPr>
        <p:txBody>
          <a:bodyPr wrap="square" lIns="0" tIns="0" rIns="0" bIns="0" rtlCol="0" anchor="ctr"/>
          <a:lstStyle/>
          <a:p>
            <a:pPr algn="ctr"/>
            <a:r>
              <a:rPr lang="en-US" sz="1300" b="1" dirty="0">
                <a:solidFill>
                  <a:srgbClr val="1E293B"/>
                </a:solidFill>
                <a:latin typeface="Calibri" pitchFamily="34" charset="0"/>
                <a:ea typeface="Calibri" pitchFamily="34" charset="-122"/>
                <a:cs typeface="Calibri" pitchFamily="34" charset="-120"/>
              </a:rPr>
              <a:t>Balanced (FDS): 1 multiplier</a:t>
            </a:r>
            <a:endParaRPr lang="en-US" sz="1300" dirty="0"/>
          </a:p>
        </p:txBody>
      </p:sp>
      <p:sp>
        <p:nvSpPr>
          <p:cNvPr id="20" name="Shape 18"/>
          <p:cNvSpPr/>
          <p:nvPr/>
        </p:nvSpPr>
        <p:spPr>
          <a:xfrm>
            <a:off x="5440680" y="4689500"/>
            <a:ext cx="566928" cy="694030"/>
          </a:xfrm>
          <a:prstGeom prst="rect">
            <a:avLst/>
          </a:prstGeom>
          <a:solidFill>
            <a:srgbClr val="E8833A"/>
          </a:solidFill>
          <a:ln w="12700">
            <a:solidFill>
              <a:srgbClr val="FFFFFF"/>
            </a:solidFill>
            <a:prstDash val="solid"/>
          </a:ln>
        </p:spPr>
        <p:txBody>
          <a:bodyPr/>
          <a:lstStyle/>
          <a:p>
            <a:endParaRPr lang="de-DE"/>
          </a:p>
        </p:txBody>
      </p:sp>
      <p:sp>
        <p:nvSpPr>
          <p:cNvPr id="21" name="Text 19"/>
          <p:cNvSpPr/>
          <p:nvPr/>
        </p:nvSpPr>
        <p:spPr>
          <a:xfrm>
            <a:off x="5440680" y="5420106"/>
            <a:ext cx="566928" cy="256032"/>
          </a:xfrm>
          <a:prstGeom prst="rect">
            <a:avLst/>
          </a:prstGeom>
          <a:noFill/>
          <a:ln/>
        </p:spPr>
        <p:txBody>
          <a:bodyPr wrap="square" lIns="0" tIns="0" rIns="0" bIns="0" rtlCol="0" anchor="ctr"/>
          <a:lstStyle/>
          <a:p>
            <a:pPr algn="ctr"/>
            <a:r>
              <a:rPr lang="en-US" sz="1100" dirty="0">
                <a:solidFill>
                  <a:srgbClr val="64748B"/>
                </a:solidFill>
                <a:latin typeface="Calibri" pitchFamily="34" charset="0"/>
                <a:ea typeface="Calibri" pitchFamily="34" charset="-122"/>
                <a:cs typeface="Calibri" pitchFamily="34" charset="-120"/>
              </a:rPr>
              <a:t>s1</a:t>
            </a:r>
            <a:endParaRPr lang="en-US" sz="1100" dirty="0"/>
          </a:p>
        </p:txBody>
      </p:sp>
      <p:sp>
        <p:nvSpPr>
          <p:cNvPr id="22" name="Shape 20"/>
          <p:cNvSpPr/>
          <p:nvPr/>
        </p:nvSpPr>
        <p:spPr>
          <a:xfrm>
            <a:off x="6263640" y="4689500"/>
            <a:ext cx="566928" cy="694030"/>
          </a:xfrm>
          <a:prstGeom prst="rect">
            <a:avLst/>
          </a:prstGeom>
          <a:solidFill>
            <a:srgbClr val="E8833A"/>
          </a:solidFill>
          <a:ln w="12700">
            <a:solidFill>
              <a:srgbClr val="FFFFFF"/>
            </a:solidFill>
            <a:prstDash val="solid"/>
          </a:ln>
        </p:spPr>
        <p:txBody>
          <a:bodyPr/>
          <a:lstStyle/>
          <a:p>
            <a:endParaRPr lang="de-DE"/>
          </a:p>
        </p:txBody>
      </p:sp>
      <p:sp>
        <p:nvSpPr>
          <p:cNvPr id="23" name="Text 21"/>
          <p:cNvSpPr/>
          <p:nvPr/>
        </p:nvSpPr>
        <p:spPr>
          <a:xfrm>
            <a:off x="6263640" y="5420106"/>
            <a:ext cx="566928" cy="256032"/>
          </a:xfrm>
          <a:prstGeom prst="rect">
            <a:avLst/>
          </a:prstGeom>
          <a:noFill/>
          <a:ln/>
        </p:spPr>
        <p:txBody>
          <a:bodyPr wrap="square" lIns="0" tIns="0" rIns="0" bIns="0" rtlCol="0" anchor="ctr"/>
          <a:lstStyle/>
          <a:p>
            <a:pPr algn="ctr"/>
            <a:r>
              <a:rPr lang="en-US" sz="1100" dirty="0">
                <a:solidFill>
                  <a:srgbClr val="64748B"/>
                </a:solidFill>
                <a:latin typeface="Calibri" pitchFamily="34" charset="0"/>
                <a:ea typeface="Calibri" pitchFamily="34" charset="-122"/>
                <a:cs typeface="Calibri" pitchFamily="34" charset="-120"/>
              </a:rPr>
              <a:t>s2</a:t>
            </a:r>
            <a:endParaRPr lang="en-US" sz="1100" dirty="0"/>
          </a:p>
        </p:txBody>
      </p:sp>
      <p:sp>
        <p:nvSpPr>
          <p:cNvPr id="24" name="Shape 22"/>
          <p:cNvSpPr/>
          <p:nvPr/>
        </p:nvSpPr>
        <p:spPr>
          <a:xfrm>
            <a:off x="7086600" y="4689500"/>
            <a:ext cx="566928" cy="694030"/>
          </a:xfrm>
          <a:prstGeom prst="rect">
            <a:avLst/>
          </a:prstGeom>
          <a:solidFill>
            <a:srgbClr val="E8833A"/>
          </a:solidFill>
          <a:ln w="12700">
            <a:solidFill>
              <a:srgbClr val="FFFFFF"/>
            </a:solidFill>
            <a:prstDash val="solid"/>
          </a:ln>
        </p:spPr>
        <p:txBody>
          <a:bodyPr/>
          <a:lstStyle/>
          <a:p>
            <a:endParaRPr lang="de-DE"/>
          </a:p>
        </p:txBody>
      </p:sp>
      <p:sp>
        <p:nvSpPr>
          <p:cNvPr id="25" name="Text 23"/>
          <p:cNvSpPr/>
          <p:nvPr/>
        </p:nvSpPr>
        <p:spPr>
          <a:xfrm>
            <a:off x="7086600" y="5420106"/>
            <a:ext cx="566928" cy="256032"/>
          </a:xfrm>
          <a:prstGeom prst="rect">
            <a:avLst/>
          </a:prstGeom>
          <a:noFill/>
          <a:ln/>
        </p:spPr>
        <p:txBody>
          <a:bodyPr wrap="square" lIns="0" tIns="0" rIns="0" bIns="0" rtlCol="0" anchor="ctr"/>
          <a:lstStyle/>
          <a:p>
            <a:pPr algn="ctr"/>
            <a:r>
              <a:rPr lang="en-US" sz="1100" dirty="0">
                <a:solidFill>
                  <a:srgbClr val="64748B"/>
                </a:solidFill>
                <a:latin typeface="Calibri" pitchFamily="34" charset="0"/>
                <a:ea typeface="Calibri" pitchFamily="34" charset="-122"/>
                <a:cs typeface="Calibri" pitchFamily="34" charset="-120"/>
              </a:rPr>
              <a:t>s3</a:t>
            </a:r>
            <a:endParaRPr lang="en-US" sz="1100" dirty="0"/>
          </a:p>
        </p:txBody>
      </p:sp>
      <p:sp>
        <p:nvSpPr>
          <p:cNvPr id="26" name="Shape 24"/>
          <p:cNvSpPr/>
          <p:nvPr/>
        </p:nvSpPr>
        <p:spPr>
          <a:xfrm>
            <a:off x="7909560" y="5383530"/>
            <a:ext cx="566928" cy="18288"/>
          </a:xfrm>
          <a:prstGeom prst="rect">
            <a:avLst/>
          </a:prstGeom>
          <a:solidFill>
            <a:srgbClr val="E8833A"/>
          </a:solidFill>
          <a:ln w="12700">
            <a:solidFill>
              <a:srgbClr val="FFFFFF"/>
            </a:solidFill>
            <a:prstDash val="solid"/>
          </a:ln>
        </p:spPr>
        <p:txBody>
          <a:bodyPr/>
          <a:lstStyle/>
          <a:p>
            <a:endParaRPr lang="de-DE"/>
          </a:p>
        </p:txBody>
      </p:sp>
      <p:sp>
        <p:nvSpPr>
          <p:cNvPr id="27" name="Text 25"/>
          <p:cNvSpPr/>
          <p:nvPr/>
        </p:nvSpPr>
        <p:spPr>
          <a:xfrm>
            <a:off x="7909560" y="5420106"/>
            <a:ext cx="566928" cy="256032"/>
          </a:xfrm>
          <a:prstGeom prst="rect">
            <a:avLst/>
          </a:prstGeom>
          <a:noFill/>
          <a:ln/>
        </p:spPr>
        <p:txBody>
          <a:bodyPr wrap="square" lIns="0" tIns="0" rIns="0" bIns="0" rtlCol="0" anchor="ctr"/>
          <a:lstStyle/>
          <a:p>
            <a:pPr algn="ctr"/>
            <a:r>
              <a:rPr lang="en-US" sz="1100" dirty="0">
                <a:solidFill>
                  <a:srgbClr val="64748B"/>
                </a:solidFill>
                <a:latin typeface="Calibri" pitchFamily="34" charset="0"/>
                <a:ea typeface="Calibri" pitchFamily="34" charset="-122"/>
                <a:cs typeface="Calibri" pitchFamily="34" charset="-120"/>
              </a:rPr>
              <a:t>s4</a:t>
            </a:r>
            <a:endParaRPr lang="en-US" sz="1100" dirty="0"/>
          </a:p>
        </p:txBody>
      </p:sp>
      <p:sp>
        <p:nvSpPr>
          <p:cNvPr id="28" name="Shape 26"/>
          <p:cNvSpPr/>
          <p:nvPr/>
        </p:nvSpPr>
        <p:spPr>
          <a:xfrm>
            <a:off x="5349240" y="5383530"/>
            <a:ext cx="3200400" cy="0"/>
          </a:xfrm>
          <a:prstGeom prst="line">
            <a:avLst/>
          </a:prstGeom>
          <a:noFill/>
          <a:ln w="12700">
            <a:solidFill>
              <a:srgbClr val="CBD5E1"/>
            </a:solidFill>
            <a:prstDash val="solid"/>
          </a:ln>
        </p:spPr>
        <p:txBody>
          <a:bodyPr/>
          <a:lstStyle/>
          <a:p>
            <a:endParaRPr lang="de-DE"/>
          </a:p>
        </p:txBody>
      </p:sp>
      <p:sp>
        <p:nvSpPr>
          <p:cNvPr id="29" name="Text 27"/>
          <p:cNvSpPr/>
          <p:nvPr/>
        </p:nvSpPr>
        <p:spPr>
          <a:xfrm>
            <a:off x="4937760" y="5685282"/>
            <a:ext cx="3566160" cy="274320"/>
          </a:xfrm>
          <a:prstGeom prst="rect">
            <a:avLst/>
          </a:prstGeom>
          <a:noFill/>
          <a:ln/>
        </p:spPr>
        <p:txBody>
          <a:bodyPr wrap="square" lIns="0" tIns="0" rIns="0" bIns="0" rtlCol="0" anchor="ctr"/>
          <a:lstStyle/>
          <a:p>
            <a:pPr algn="ctr"/>
            <a:r>
              <a:rPr lang="en-US" sz="1150" i="1" dirty="0">
                <a:solidFill>
                  <a:srgbClr val="64748B"/>
                </a:solidFill>
                <a:latin typeface="Calibri" pitchFamily="34" charset="0"/>
                <a:ea typeface="Calibri" pitchFamily="34" charset="-122"/>
                <a:cs typeface="Calibri" pitchFamily="34" charset="-120"/>
              </a:rPr>
              <a:t>demand spread evenly across steps</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457200" y="1241298"/>
            <a:ext cx="402336" cy="402336"/>
          </a:xfrm>
          <a:prstGeom prst="ellipse">
            <a:avLst/>
          </a:prstGeom>
          <a:solidFill>
            <a:srgbClr val="1C7293"/>
          </a:solidFill>
          <a:ln/>
        </p:spPr>
        <p:txBody>
          <a:bodyPr/>
          <a:lstStyle/>
          <a:p>
            <a:endParaRPr lang="de-DE"/>
          </a:p>
        </p:txBody>
      </p:sp>
      <p:sp>
        <p:nvSpPr>
          <p:cNvPr id="3" name="Text 1"/>
          <p:cNvSpPr/>
          <p:nvPr/>
        </p:nvSpPr>
        <p:spPr>
          <a:xfrm>
            <a:off x="457200" y="1241298"/>
            <a:ext cx="402336" cy="402336"/>
          </a:xfrm>
          <a:prstGeom prst="rect">
            <a:avLst/>
          </a:prstGeom>
          <a:noFill/>
          <a:ln/>
        </p:spPr>
        <p:txBody>
          <a:bodyPr wrap="square" lIns="0" tIns="0" rIns="0" bIns="0" rtlCol="0" anchor="ctr"/>
          <a:lstStyle/>
          <a:p>
            <a:pPr algn="ctr"/>
            <a:r>
              <a:rPr lang="en-US" b="1" dirty="0">
                <a:solidFill>
                  <a:srgbClr val="FFFFFF"/>
                </a:solidFill>
                <a:latin typeface="Calibri" pitchFamily="34" charset="0"/>
                <a:ea typeface="Calibri" pitchFamily="34" charset="-122"/>
                <a:cs typeface="Calibri" pitchFamily="34" charset="-120"/>
              </a:rPr>
              <a:t>3</a:t>
            </a:r>
            <a:endParaRPr lang="en-US" dirty="0"/>
          </a:p>
        </p:txBody>
      </p:sp>
      <p:sp>
        <p:nvSpPr>
          <p:cNvPr id="4" name="Text 2"/>
          <p:cNvSpPr/>
          <p:nvPr/>
        </p:nvSpPr>
        <p:spPr>
          <a:xfrm>
            <a:off x="969264" y="1268730"/>
            <a:ext cx="7680960" cy="292608"/>
          </a:xfrm>
          <a:prstGeom prst="rect">
            <a:avLst/>
          </a:prstGeom>
          <a:noFill/>
          <a:ln/>
        </p:spPr>
        <p:txBody>
          <a:bodyPr wrap="square" lIns="0" tIns="0" rIns="0" bIns="0" rtlCol="0" anchor="ctr"/>
          <a:lstStyle/>
          <a:p>
            <a:r>
              <a:rPr lang="en-US" sz="1100" b="1" kern="0" spc="200" dirty="0">
                <a:solidFill>
                  <a:srgbClr val="1C7293"/>
                </a:solidFill>
                <a:latin typeface="Calibri" pitchFamily="34" charset="0"/>
                <a:ea typeface="Calibri" pitchFamily="34" charset="-122"/>
                <a:cs typeface="Calibri" pitchFamily="34" charset="-120"/>
              </a:rPr>
              <a:t>STEP 1 — TIME FRAMES &amp; MOBILITY</a:t>
            </a:r>
            <a:endParaRPr lang="en-US" sz="1100" dirty="0"/>
          </a:p>
        </p:txBody>
      </p:sp>
      <p:sp>
        <p:nvSpPr>
          <p:cNvPr id="5" name="Text 3"/>
          <p:cNvSpPr/>
          <p:nvPr/>
        </p:nvSpPr>
        <p:spPr>
          <a:xfrm>
            <a:off x="457200" y="1698498"/>
            <a:ext cx="8229600" cy="566928"/>
          </a:xfrm>
          <a:prstGeom prst="rect">
            <a:avLst/>
          </a:prstGeom>
          <a:noFill/>
          <a:ln/>
        </p:spPr>
        <p:txBody>
          <a:bodyPr wrap="square" lIns="0" tIns="0" rIns="0" bIns="0" rtlCol="0" anchor="ctr"/>
          <a:lstStyle/>
          <a:p>
            <a:r>
              <a:rPr lang="en-US" sz="2700" b="1" dirty="0">
                <a:solidFill>
                  <a:srgbClr val="12273F"/>
                </a:solidFill>
                <a:latin typeface="Cambria" pitchFamily="34" charset="0"/>
                <a:ea typeface="Cambria" pitchFamily="34" charset="-122"/>
                <a:cs typeface="Cambria" pitchFamily="34" charset="-120"/>
              </a:rPr>
              <a:t>ASAP and ALAP bound every operation</a:t>
            </a:r>
            <a:endParaRPr lang="en-US" sz="2700" dirty="0"/>
          </a:p>
        </p:txBody>
      </p:sp>
      <p:sp>
        <p:nvSpPr>
          <p:cNvPr id="6" name="Text 4"/>
          <p:cNvSpPr/>
          <p:nvPr/>
        </p:nvSpPr>
        <p:spPr>
          <a:xfrm>
            <a:off x="548640" y="2457450"/>
            <a:ext cx="3657600" cy="274320"/>
          </a:xfrm>
          <a:prstGeom prst="rect">
            <a:avLst/>
          </a:prstGeom>
          <a:noFill/>
          <a:ln/>
        </p:spPr>
        <p:txBody>
          <a:bodyPr wrap="square" lIns="0" tIns="0" rIns="0" bIns="0" rtlCol="0" anchor="ctr"/>
          <a:lstStyle/>
          <a:p>
            <a:r>
              <a:rPr lang="en-US" sz="1250" b="1" dirty="0">
                <a:solidFill>
                  <a:srgbClr val="64748B"/>
                </a:solidFill>
                <a:latin typeface="Calibri" pitchFamily="34" charset="0"/>
                <a:ea typeface="Calibri" pitchFamily="34" charset="-122"/>
                <a:cs typeface="Calibri" pitchFamily="34" charset="-120"/>
              </a:rPr>
              <a:t>Example data-flow graph</a:t>
            </a:r>
            <a:endParaRPr lang="en-US" sz="1250" dirty="0"/>
          </a:p>
        </p:txBody>
      </p:sp>
      <p:sp>
        <p:nvSpPr>
          <p:cNvPr id="7" name="Shape 5"/>
          <p:cNvSpPr/>
          <p:nvPr/>
        </p:nvSpPr>
        <p:spPr>
          <a:xfrm>
            <a:off x="1265681" y="3434330"/>
            <a:ext cx="286923" cy="573847"/>
          </a:xfrm>
          <a:prstGeom prst="line">
            <a:avLst/>
          </a:prstGeom>
          <a:noFill/>
          <a:ln w="21590">
            <a:solidFill>
              <a:srgbClr val="64748B"/>
            </a:solidFill>
            <a:prstDash val="solid"/>
            <a:tailEnd type="triangle"/>
          </a:ln>
        </p:spPr>
        <p:txBody>
          <a:bodyPr/>
          <a:lstStyle/>
          <a:p>
            <a:endParaRPr lang="de-DE"/>
          </a:p>
        </p:txBody>
      </p:sp>
      <p:sp>
        <p:nvSpPr>
          <p:cNvPr id="8" name="Shape 6"/>
          <p:cNvSpPr/>
          <p:nvPr/>
        </p:nvSpPr>
        <p:spPr>
          <a:xfrm flipH="1">
            <a:off x="1830678" y="3434330"/>
            <a:ext cx="286923" cy="573847"/>
          </a:xfrm>
          <a:prstGeom prst="line">
            <a:avLst/>
          </a:prstGeom>
          <a:noFill/>
          <a:ln w="21590">
            <a:solidFill>
              <a:srgbClr val="64748B"/>
            </a:solidFill>
            <a:prstDash val="solid"/>
            <a:tailEnd type="triangle"/>
          </a:ln>
        </p:spPr>
        <p:txBody>
          <a:bodyPr/>
          <a:lstStyle/>
          <a:p>
            <a:endParaRPr lang="de-DE"/>
          </a:p>
        </p:txBody>
      </p:sp>
      <p:sp>
        <p:nvSpPr>
          <p:cNvPr id="9" name="Shape 7"/>
          <p:cNvSpPr/>
          <p:nvPr/>
        </p:nvSpPr>
        <p:spPr>
          <a:xfrm flipH="1">
            <a:off x="2815195" y="3442867"/>
            <a:ext cx="601378" cy="1470035"/>
          </a:xfrm>
          <a:prstGeom prst="line">
            <a:avLst/>
          </a:prstGeom>
          <a:noFill/>
          <a:ln w="21590">
            <a:solidFill>
              <a:srgbClr val="64748B"/>
            </a:solidFill>
            <a:prstDash val="solid"/>
            <a:tailEnd type="triangle"/>
          </a:ln>
        </p:spPr>
        <p:txBody>
          <a:bodyPr/>
          <a:lstStyle/>
          <a:p>
            <a:endParaRPr lang="de-DE"/>
          </a:p>
        </p:txBody>
      </p:sp>
      <p:sp>
        <p:nvSpPr>
          <p:cNvPr id="10" name="Shape 8"/>
          <p:cNvSpPr/>
          <p:nvPr/>
        </p:nvSpPr>
        <p:spPr>
          <a:xfrm>
            <a:off x="1894621" y="4470779"/>
            <a:ext cx="572815" cy="520741"/>
          </a:xfrm>
          <a:prstGeom prst="line">
            <a:avLst/>
          </a:prstGeom>
          <a:noFill/>
          <a:ln w="21590">
            <a:solidFill>
              <a:srgbClr val="64748B"/>
            </a:solidFill>
            <a:prstDash val="solid"/>
            <a:tailEnd type="triangle"/>
          </a:ln>
        </p:spPr>
        <p:txBody>
          <a:bodyPr/>
          <a:lstStyle/>
          <a:p>
            <a:endParaRPr lang="de-DE"/>
          </a:p>
        </p:txBody>
      </p:sp>
      <p:sp>
        <p:nvSpPr>
          <p:cNvPr id="11" name="Shape 9"/>
          <p:cNvSpPr/>
          <p:nvPr/>
        </p:nvSpPr>
        <p:spPr>
          <a:xfrm>
            <a:off x="868680" y="2914650"/>
            <a:ext cx="548640" cy="548640"/>
          </a:xfrm>
          <a:prstGeom prst="ellipse">
            <a:avLst/>
          </a:prstGeom>
          <a:solidFill>
            <a:srgbClr val="1C7293"/>
          </a:solidFill>
          <a:ln w="19050">
            <a:solidFill>
              <a:srgbClr val="FFFFFF"/>
            </a:solidFill>
            <a:prstDash val="solid"/>
          </a:ln>
          <a:effectLst>
            <a:outerShdw blurRad="88900" dist="38100" dir="5400000" algn="bl" rotWithShape="0">
              <a:srgbClr val="8A9BB0">
                <a:alpha val="28000"/>
              </a:srgbClr>
            </a:outerShdw>
          </a:effectLst>
        </p:spPr>
        <p:txBody>
          <a:bodyPr/>
          <a:lstStyle/>
          <a:p>
            <a:endParaRPr lang="de-DE"/>
          </a:p>
        </p:txBody>
      </p:sp>
      <p:sp>
        <p:nvSpPr>
          <p:cNvPr id="12" name="Text 10"/>
          <p:cNvSpPr/>
          <p:nvPr/>
        </p:nvSpPr>
        <p:spPr>
          <a:xfrm>
            <a:off x="868680" y="2914650"/>
            <a:ext cx="548640" cy="548640"/>
          </a:xfrm>
          <a:prstGeom prst="rect">
            <a:avLst/>
          </a:prstGeom>
          <a:noFill/>
          <a:ln/>
        </p:spPr>
        <p:txBody>
          <a:bodyPr wrap="square" lIns="0" tIns="0" rIns="0" bIns="0" rtlCol="0" anchor="ctr"/>
          <a:lstStyle/>
          <a:p>
            <a:pPr algn="ctr"/>
            <a:r>
              <a:rPr lang="en-US" sz="1300" b="1" dirty="0">
                <a:solidFill>
                  <a:srgbClr val="FFFFFF"/>
                </a:solidFill>
                <a:latin typeface="Calibri" pitchFamily="34" charset="0"/>
                <a:ea typeface="Calibri" pitchFamily="34" charset="-122"/>
                <a:cs typeface="Calibri" pitchFamily="34" charset="-120"/>
              </a:rPr>
              <a:t>v1</a:t>
            </a:r>
            <a:endParaRPr lang="en-US" sz="1300" dirty="0"/>
          </a:p>
        </p:txBody>
      </p:sp>
      <p:sp>
        <p:nvSpPr>
          <p:cNvPr id="13" name="Shape 11"/>
          <p:cNvSpPr/>
          <p:nvPr/>
        </p:nvSpPr>
        <p:spPr>
          <a:xfrm>
            <a:off x="1965960" y="2914650"/>
            <a:ext cx="548640" cy="548640"/>
          </a:xfrm>
          <a:prstGeom prst="ellipse">
            <a:avLst/>
          </a:prstGeom>
          <a:solidFill>
            <a:srgbClr val="1C7293"/>
          </a:solidFill>
          <a:ln w="19050">
            <a:solidFill>
              <a:srgbClr val="FFFFFF"/>
            </a:solidFill>
            <a:prstDash val="solid"/>
          </a:ln>
          <a:effectLst>
            <a:outerShdw blurRad="88900" dist="38100" dir="5400000" algn="bl" rotWithShape="0">
              <a:srgbClr val="8A9BB0">
                <a:alpha val="28000"/>
              </a:srgbClr>
            </a:outerShdw>
          </a:effectLst>
        </p:spPr>
        <p:txBody>
          <a:bodyPr/>
          <a:lstStyle/>
          <a:p>
            <a:endParaRPr lang="de-DE"/>
          </a:p>
        </p:txBody>
      </p:sp>
      <p:sp>
        <p:nvSpPr>
          <p:cNvPr id="14" name="Text 12"/>
          <p:cNvSpPr/>
          <p:nvPr/>
        </p:nvSpPr>
        <p:spPr>
          <a:xfrm>
            <a:off x="1965960" y="2914650"/>
            <a:ext cx="548640" cy="548640"/>
          </a:xfrm>
          <a:prstGeom prst="rect">
            <a:avLst/>
          </a:prstGeom>
          <a:noFill/>
          <a:ln/>
        </p:spPr>
        <p:txBody>
          <a:bodyPr wrap="square" lIns="0" tIns="0" rIns="0" bIns="0" rtlCol="0" anchor="ctr"/>
          <a:lstStyle/>
          <a:p>
            <a:pPr algn="ctr"/>
            <a:r>
              <a:rPr lang="en-US" sz="1300" b="1" dirty="0">
                <a:solidFill>
                  <a:srgbClr val="FFFFFF"/>
                </a:solidFill>
                <a:latin typeface="Calibri" pitchFamily="34" charset="0"/>
                <a:ea typeface="Calibri" pitchFamily="34" charset="-122"/>
                <a:cs typeface="Calibri" pitchFamily="34" charset="-120"/>
              </a:rPr>
              <a:t>v2</a:t>
            </a:r>
            <a:endParaRPr lang="en-US" sz="1300" dirty="0"/>
          </a:p>
        </p:txBody>
      </p:sp>
      <p:sp>
        <p:nvSpPr>
          <p:cNvPr id="15" name="Shape 13"/>
          <p:cNvSpPr/>
          <p:nvPr/>
        </p:nvSpPr>
        <p:spPr>
          <a:xfrm>
            <a:off x="3246120" y="2914650"/>
            <a:ext cx="548640" cy="548640"/>
          </a:xfrm>
          <a:prstGeom prst="ellipse">
            <a:avLst/>
          </a:prstGeom>
          <a:solidFill>
            <a:srgbClr val="1C7293"/>
          </a:solidFill>
          <a:ln w="19050">
            <a:solidFill>
              <a:srgbClr val="FFFFFF"/>
            </a:solidFill>
            <a:prstDash val="solid"/>
          </a:ln>
          <a:effectLst>
            <a:outerShdw blurRad="88900" dist="38100" dir="5400000" algn="bl" rotWithShape="0">
              <a:srgbClr val="8A9BB0">
                <a:alpha val="28000"/>
              </a:srgbClr>
            </a:outerShdw>
          </a:effectLst>
        </p:spPr>
        <p:txBody>
          <a:bodyPr/>
          <a:lstStyle/>
          <a:p>
            <a:endParaRPr lang="de-DE"/>
          </a:p>
        </p:txBody>
      </p:sp>
      <p:sp>
        <p:nvSpPr>
          <p:cNvPr id="16" name="Text 14"/>
          <p:cNvSpPr/>
          <p:nvPr/>
        </p:nvSpPr>
        <p:spPr>
          <a:xfrm>
            <a:off x="3246120" y="2914650"/>
            <a:ext cx="548640" cy="548640"/>
          </a:xfrm>
          <a:prstGeom prst="rect">
            <a:avLst/>
          </a:prstGeom>
          <a:noFill/>
          <a:ln/>
        </p:spPr>
        <p:txBody>
          <a:bodyPr wrap="square" lIns="0" tIns="0" rIns="0" bIns="0" rtlCol="0" anchor="ctr"/>
          <a:lstStyle/>
          <a:p>
            <a:pPr algn="ctr"/>
            <a:r>
              <a:rPr lang="en-US" sz="1300" b="1" dirty="0">
                <a:solidFill>
                  <a:srgbClr val="FFFFFF"/>
                </a:solidFill>
                <a:latin typeface="Calibri" pitchFamily="34" charset="0"/>
                <a:ea typeface="Calibri" pitchFamily="34" charset="-122"/>
                <a:cs typeface="Calibri" pitchFamily="34" charset="-120"/>
              </a:rPr>
              <a:t>v3</a:t>
            </a:r>
            <a:endParaRPr lang="en-US" sz="1300" dirty="0"/>
          </a:p>
        </p:txBody>
      </p:sp>
      <p:sp>
        <p:nvSpPr>
          <p:cNvPr id="17" name="Shape 15"/>
          <p:cNvSpPr/>
          <p:nvPr/>
        </p:nvSpPr>
        <p:spPr>
          <a:xfrm>
            <a:off x="1417320" y="4011930"/>
            <a:ext cx="548640" cy="548640"/>
          </a:xfrm>
          <a:prstGeom prst="ellipse">
            <a:avLst/>
          </a:prstGeom>
          <a:solidFill>
            <a:srgbClr val="E8833A"/>
          </a:solidFill>
          <a:ln w="19050">
            <a:solidFill>
              <a:srgbClr val="FFFFFF"/>
            </a:solidFill>
            <a:prstDash val="solid"/>
          </a:ln>
          <a:effectLst>
            <a:outerShdw blurRad="88900" dist="38100" dir="5400000" algn="bl" rotWithShape="0">
              <a:srgbClr val="8A9BB0">
                <a:alpha val="28000"/>
              </a:srgbClr>
            </a:outerShdw>
          </a:effectLst>
        </p:spPr>
        <p:txBody>
          <a:bodyPr/>
          <a:lstStyle/>
          <a:p>
            <a:endParaRPr lang="de-DE"/>
          </a:p>
        </p:txBody>
      </p:sp>
      <p:sp>
        <p:nvSpPr>
          <p:cNvPr id="18" name="Text 16"/>
          <p:cNvSpPr/>
          <p:nvPr/>
        </p:nvSpPr>
        <p:spPr>
          <a:xfrm>
            <a:off x="1417320" y="4011930"/>
            <a:ext cx="548640" cy="548640"/>
          </a:xfrm>
          <a:prstGeom prst="rect">
            <a:avLst/>
          </a:prstGeom>
          <a:noFill/>
          <a:ln/>
        </p:spPr>
        <p:txBody>
          <a:bodyPr wrap="square" lIns="0" tIns="0" rIns="0" bIns="0" rtlCol="0" anchor="ctr"/>
          <a:lstStyle/>
          <a:p>
            <a:pPr algn="ctr"/>
            <a:r>
              <a:rPr lang="en-US" sz="1300" b="1" dirty="0">
                <a:solidFill>
                  <a:srgbClr val="FFFFFF"/>
                </a:solidFill>
                <a:latin typeface="Calibri" pitchFamily="34" charset="0"/>
                <a:ea typeface="Calibri" pitchFamily="34" charset="-122"/>
                <a:cs typeface="Calibri" pitchFamily="34" charset="-120"/>
              </a:rPr>
              <a:t>v4</a:t>
            </a:r>
            <a:endParaRPr lang="en-US" sz="1300" dirty="0"/>
          </a:p>
        </p:txBody>
      </p:sp>
      <p:sp>
        <p:nvSpPr>
          <p:cNvPr id="19" name="Shape 17"/>
          <p:cNvSpPr/>
          <p:nvPr/>
        </p:nvSpPr>
        <p:spPr>
          <a:xfrm>
            <a:off x="2423160" y="4926330"/>
            <a:ext cx="548640" cy="548640"/>
          </a:xfrm>
          <a:prstGeom prst="ellipse">
            <a:avLst/>
          </a:prstGeom>
          <a:solidFill>
            <a:srgbClr val="E8833A"/>
          </a:solidFill>
          <a:ln w="19050">
            <a:solidFill>
              <a:srgbClr val="FFFFFF"/>
            </a:solidFill>
            <a:prstDash val="solid"/>
          </a:ln>
          <a:effectLst>
            <a:outerShdw blurRad="88900" dist="38100" dir="5400000" algn="bl" rotWithShape="0">
              <a:srgbClr val="8A9BB0">
                <a:alpha val="28000"/>
              </a:srgbClr>
            </a:outerShdw>
          </a:effectLst>
        </p:spPr>
        <p:txBody>
          <a:bodyPr/>
          <a:lstStyle/>
          <a:p>
            <a:endParaRPr lang="de-DE"/>
          </a:p>
        </p:txBody>
      </p:sp>
      <p:sp>
        <p:nvSpPr>
          <p:cNvPr id="20" name="Text 18"/>
          <p:cNvSpPr/>
          <p:nvPr/>
        </p:nvSpPr>
        <p:spPr>
          <a:xfrm>
            <a:off x="2423160" y="4926330"/>
            <a:ext cx="548640" cy="548640"/>
          </a:xfrm>
          <a:prstGeom prst="rect">
            <a:avLst/>
          </a:prstGeom>
          <a:noFill/>
          <a:ln/>
        </p:spPr>
        <p:txBody>
          <a:bodyPr wrap="square" lIns="0" tIns="0" rIns="0" bIns="0" rtlCol="0" anchor="ctr"/>
          <a:lstStyle/>
          <a:p>
            <a:pPr algn="ctr"/>
            <a:r>
              <a:rPr lang="en-US" sz="1300" b="1" dirty="0">
                <a:solidFill>
                  <a:srgbClr val="FFFFFF"/>
                </a:solidFill>
                <a:latin typeface="Calibri" pitchFamily="34" charset="0"/>
                <a:ea typeface="Calibri" pitchFamily="34" charset="-122"/>
                <a:cs typeface="Calibri" pitchFamily="34" charset="-120"/>
              </a:rPr>
              <a:t>v5</a:t>
            </a:r>
            <a:endParaRPr lang="en-US" sz="1300" dirty="0"/>
          </a:p>
        </p:txBody>
      </p:sp>
      <p:sp>
        <p:nvSpPr>
          <p:cNvPr id="21" name="Shape 19"/>
          <p:cNvSpPr/>
          <p:nvPr/>
        </p:nvSpPr>
        <p:spPr>
          <a:xfrm>
            <a:off x="640080" y="5474970"/>
            <a:ext cx="164592" cy="164592"/>
          </a:xfrm>
          <a:prstGeom prst="ellipse">
            <a:avLst/>
          </a:prstGeom>
          <a:solidFill>
            <a:srgbClr val="1C7293"/>
          </a:solidFill>
          <a:ln/>
        </p:spPr>
        <p:txBody>
          <a:bodyPr/>
          <a:lstStyle/>
          <a:p>
            <a:endParaRPr lang="de-DE"/>
          </a:p>
        </p:txBody>
      </p:sp>
      <p:sp>
        <p:nvSpPr>
          <p:cNvPr id="22" name="Text 20"/>
          <p:cNvSpPr/>
          <p:nvPr/>
        </p:nvSpPr>
        <p:spPr>
          <a:xfrm>
            <a:off x="841248" y="5410962"/>
            <a:ext cx="1371600" cy="274320"/>
          </a:xfrm>
          <a:prstGeom prst="rect">
            <a:avLst/>
          </a:prstGeom>
          <a:noFill/>
          <a:ln/>
        </p:spPr>
        <p:txBody>
          <a:bodyPr wrap="square" lIns="0" tIns="0" rIns="0" bIns="0" rtlCol="0" anchor="ctr"/>
          <a:lstStyle/>
          <a:p>
            <a:r>
              <a:rPr lang="en-US" sz="1100" dirty="0">
                <a:solidFill>
                  <a:srgbClr val="64748B"/>
                </a:solidFill>
                <a:latin typeface="Calibri" pitchFamily="34" charset="0"/>
                <a:ea typeface="Calibri" pitchFamily="34" charset="-122"/>
                <a:cs typeface="Calibri" pitchFamily="34" charset="-120"/>
              </a:rPr>
              <a:t>× multiply</a:t>
            </a:r>
            <a:endParaRPr lang="en-US" sz="1100" dirty="0"/>
          </a:p>
        </p:txBody>
      </p:sp>
      <p:sp>
        <p:nvSpPr>
          <p:cNvPr id="23" name="Shape 21"/>
          <p:cNvSpPr/>
          <p:nvPr/>
        </p:nvSpPr>
        <p:spPr>
          <a:xfrm>
            <a:off x="2194560" y="5474970"/>
            <a:ext cx="164592" cy="164592"/>
          </a:xfrm>
          <a:prstGeom prst="ellipse">
            <a:avLst/>
          </a:prstGeom>
          <a:solidFill>
            <a:srgbClr val="E8833A"/>
          </a:solidFill>
          <a:ln/>
        </p:spPr>
        <p:txBody>
          <a:bodyPr/>
          <a:lstStyle/>
          <a:p>
            <a:endParaRPr lang="de-DE"/>
          </a:p>
        </p:txBody>
      </p:sp>
      <p:sp>
        <p:nvSpPr>
          <p:cNvPr id="24" name="Text 22"/>
          <p:cNvSpPr/>
          <p:nvPr/>
        </p:nvSpPr>
        <p:spPr>
          <a:xfrm>
            <a:off x="2395728" y="5410962"/>
            <a:ext cx="1371600" cy="274320"/>
          </a:xfrm>
          <a:prstGeom prst="rect">
            <a:avLst/>
          </a:prstGeom>
          <a:noFill/>
          <a:ln/>
        </p:spPr>
        <p:txBody>
          <a:bodyPr wrap="square" lIns="0" tIns="0" rIns="0" bIns="0" rtlCol="0" anchor="ctr"/>
          <a:lstStyle/>
          <a:p>
            <a:r>
              <a:rPr lang="en-US" sz="1100" dirty="0">
                <a:solidFill>
                  <a:srgbClr val="64748B"/>
                </a:solidFill>
                <a:latin typeface="Calibri" pitchFamily="34" charset="0"/>
                <a:ea typeface="Calibri" pitchFamily="34" charset="-122"/>
                <a:cs typeface="Calibri" pitchFamily="34" charset="-120"/>
              </a:rPr>
              <a:t>+ add</a:t>
            </a:r>
            <a:endParaRPr lang="en-US" sz="1100" dirty="0"/>
          </a:p>
        </p:txBody>
      </p:sp>
      <p:sp>
        <p:nvSpPr>
          <p:cNvPr id="25" name="Text 23"/>
          <p:cNvSpPr/>
          <p:nvPr/>
        </p:nvSpPr>
        <p:spPr>
          <a:xfrm>
            <a:off x="4572000" y="2457450"/>
            <a:ext cx="4114800" cy="274320"/>
          </a:xfrm>
          <a:prstGeom prst="rect">
            <a:avLst/>
          </a:prstGeom>
          <a:noFill/>
          <a:ln/>
        </p:spPr>
        <p:txBody>
          <a:bodyPr wrap="square" lIns="0" tIns="0" rIns="0" bIns="0" rtlCol="0" anchor="ctr"/>
          <a:lstStyle/>
          <a:p>
            <a:r>
              <a:rPr lang="en-US" sz="1300" b="1" dirty="0">
                <a:solidFill>
                  <a:srgbClr val="1E293B"/>
                </a:solidFill>
                <a:latin typeface="Calibri" pitchFamily="34" charset="0"/>
                <a:ea typeface="Calibri" pitchFamily="34" charset="-122"/>
                <a:cs typeface="Calibri" pitchFamily="34" charset="-120"/>
              </a:rPr>
              <a:t>Mobility  </a:t>
            </a:r>
            <a:r>
              <a:rPr lang="en-US" sz="1300" dirty="0">
                <a:solidFill>
                  <a:srgbClr val="1C7293"/>
                </a:solidFill>
                <a:latin typeface="Courier New" pitchFamily="34" charset="0"/>
                <a:ea typeface="Courier New" pitchFamily="34" charset="-122"/>
                <a:cs typeface="Courier New" pitchFamily="34" charset="-120"/>
              </a:rPr>
              <a:t>μ(vᵢ) = tL − tS</a:t>
            </a:r>
            <a:endParaRPr lang="en-US" sz="1300" dirty="0"/>
          </a:p>
        </p:txBody>
      </p:sp>
      <p:graphicFrame>
        <p:nvGraphicFramePr>
          <p:cNvPr id="26" name="Table 0"/>
          <p:cNvGraphicFramePr>
            <a:graphicFrameLocks noGrp="1"/>
          </p:cNvGraphicFramePr>
          <p:nvPr/>
        </p:nvGraphicFramePr>
        <p:xfrm>
          <a:off x="4572000" y="2868930"/>
          <a:ext cx="4069080" cy="2194560"/>
        </p:xfrm>
        <a:graphic>
          <a:graphicData uri="http://schemas.openxmlformats.org/drawingml/2006/table">
            <a:tbl>
              <a:tblPr/>
              <a:tblGrid>
                <a:gridCol w="105156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694944">
                  <a:extLst>
                    <a:ext uri="{9D8B030D-6E8A-4147-A177-3AD203B41FA5}">
                      <a16:colId xmlns:a16="http://schemas.microsoft.com/office/drawing/2014/main" val="20002"/>
                    </a:ext>
                  </a:extLst>
                </a:gridCol>
                <a:gridCol w="694944">
                  <a:extLst>
                    <a:ext uri="{9D8B030D-6E8A-4147-A177-3AD203B41FA5}">
                      <a16:colId xmlns:a16="http://schemas.microsoft.com/office/drawing/2014/main" val="20003"/>
                    </a:ext>
                  </a:extLst>
                </a:gridCol>
                <a:gridCol w="713232">
                  <a:extLst>
                    <a:ext uri="{9D8B030D-6E8A-4147-A177-3AD203B41FA5}">
                      <a16:colId xmlns:a16="http://schemas.microsoft.com/office/drawing/2014/main" val="20004"/>
                    </a:ext>
                  </a:extLst>
                </a:gridCol>
              </a:tblGrid>
              <a:tr h="365760">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Op</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C7293"/>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Type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C7293"/>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tS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C7293"/>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tL</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C7293"/>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μ</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C7293"/>
                    </a:solidFill>
                  </a:tcPr>
                </a:tc>
                <a:extLst>
                  <a:ext uri="{0D108BD9-81ED-4DB2-BD59-A6C34878D82A}">
                    <a16:rowId xmlns:a16="http://schemas.microsoft.com/office/drawing/2014/main" val="10000"/>
                  </a:ext>
                </a:extLst>
              </a:tr>
              <a:tr h="365760">
                <a:tc>
                  <a:txBody>
                    <a:bodyPr/>
                    <a:lstStyle/>
                    <a:p>
                      <a:pPr marL="0" indent="0" algn="ctr">
                        <a:buNone/>
                      </a:pPr>
                      <a:r>
                        <a:rPr lang="en-US" sz="1250" dirty="0">
                          <a:solidFill>
                            <a:srgbClr val="1E293B"/>
                          </a:solidFill>
                          <a:latin typeface="Calibri" pitchFamily="34" charset="0"/>
                          <a:ea typeface="Calibri" pitchFamily="34" charset="-122"/>
                          <a:cs typeface="Calibri" pitchFamily="34" charset="-120"/>
                        </a:rPr>
                        <a:t>v1</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E293B"/>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E293B"/>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E293B"/>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E293B"/>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lgn="ctr">
                        <a:buNone/>
                      </a:pPr>
                      <a:r>
                        <a:rPr lang="en-US" sz="1250" dirty="0">
                          <a:solidFill>
                            <a:srgbClr val="1E293B"/>
                          </a:solidFill>
                          <a:latin typeface="Calibri" pitchFamily="34" charset="0"/>
                          <a:ea typeface="Calibri" pitchFamily="34" charset="-122"/>
                          <a:cs typeface="Calibri" pitchFamily="34" charset="-120"/>
                        </a:rPr>
                        <a:t>v2</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6EEF3"/>
                    </a:solidFill>
                  </a:tcPr>
                </a:tc>
                <a:tc>
                  <a:txBody>
                    <a:bodyPr/>
                    <a:lstStyle/>
                    <a:p>
                      <a:pPr marL="0" indent="0" algn="ctr">
                        <a:buNone/>
                      </a:pPr>
                      <a:r>
                        <a:rPr lang="en-US" sz="1250" dirty="0">
                          <a:solidFill>
                            <a:srgbClr val="1E293B"/>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6EEF3"/>
                    </a:solidFill>
                  </a:tcPr>
                </a:tc>
                <a:tc>
                  <a:txBody>
                    <a:bodyPr/>
                    <a:lstStyle/>
                    <a:p>
                      <a:pPr marL="0" indent="0" algn="ctr">
                        <a:buNone/>
                      </a:pPr>
                      <a:r>
                        <a:rPr lang="en-US" sz="1250" dirty="0">
                          <a:solidFill>
                            <a:srgbClr val="1E293B"/>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6EEF3"/>
                    </a:solidFill>
                  </a:tcPr>
                </a:tc>
                <a:tc>
                  <a:txBody>
                    <a:bodyPr/>
                    <a:lstStyle/>
                    <a:p>
                      <a:pPr marL="0" indent="0" algn="ctr">
                        <a:buNone/>
                      </a:pPr>
                      <a:r>
                        <a:rPr lang="en-US" sz="1250" dirty="0">
                          <a:solidFill>
                            <a:srgbClr val="1E293B"/>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6EEF3"/>
                    </a:solidFill>
                  </a:tcPr>
                </a:tc>
                <a:tc>
                  <a:txBody>
                    <a:bodyPr/>
                    <a:lstStyle/>
                    <a:p>
                      <a:pPr marL="0" indent="0" algn="ctr">
                        <a:buNone/>
                      </a:pPr>
                      <a:r>
                        <a:rPr lang="en-US" sz="1250" dirty="0">
                          <a:solidFill>
                            <a:srgbClr val="1E293B"/>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6EEF3"/>
                    </a:solidFill>
                  </a:tcPr>
                </a:tc>
                <a:extLst>
                  <a:ext uri="{0D108BD9-81ED-4DB2-BD59-A6C34878D82A}">
                    <a16:rowId xmlns:a16="http://schemas.microsoft.com/office/drawing/2014/main" val="10002"/>
                  </a:ext>
                </a:extLst>
              </a:tr>
              <a:tr h="365760">
                <a:tc>
                  <a:txBody>
                    <a:bodyPr/>
                    <a:lstStyle/>
                    <a:p>
                      <a:pPr marL="0" indent="0" algn="ctr">
                        <a:buNone/>
                      </a:pPr>
                      <a:r>
                        <a:rPr lang="en-US" sz="1250" dirty="0">
                          <a:solidFill>
                            <a:srgbClr val="1E293B"/>
                          </a:solidFill>
                          <a:latin typeface="Calibri" pitchFamily="34" charset="0"/>
                          <a:ea typeface="Calibri" pitchFamily="34" charset="-122"/>
                          <a:cs typeface="Calibri" pitchFamily="34" charset="-120"/>
                        </a:rPr>
                        <a:t>v3</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E293B"/>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E293B"/>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E293B"/>
                          </a:solidFill>
                          <a:latin typeface="Calibri" pitchFamily="34" charset="0"/>
                          <a:ea typeface="Calibri" pitchFamily="34" charset="-122"/>
                          <a:cs typeface="Calibri" pitchFamily="34" charset="-120"/>
                        </a:rPr>
                        <a:t>3</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E293B"/>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lgn="ctr">
                        <a:buNone/>
                      </a:pPr>
                      <a:r>
                        <a:rPr lang="en-US" sz="1250" dirty="0">
                          <a:solidFill>
                            <a:srgbClr val="1E293B"/>
                          </a:solidFill>
                          <a:latin typeface="Calibri" pitchFamily="34" charset="0"/>
                          <a:ea typeface="Calibri" pitchFamily="34" charset="-122"/>
                          <a:cs typeface="Calibri" pitchFamily="34" charset="-120"/>
                        </a:rPr>
                        <a:t>v4</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6EEF3"/>
                    </a:solidFill>
                  </a:tcPr>
                </a:tc>
                <a:tc>
                  <a:txBody>
                    <a:bodyPr/>
                    <a:lstStyle/>
                    <a:p>
                      <a:pPr marL="0" indent="0" algn="ctr">
                        <a:buNone/>
                      </a:pPr>
                      <a:r>
                        <a:rPr lang="en-US" sz="1250" dirty="0">
                          <a:solidFill>
                            <a:srgbClr val="1E293B"/>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6EEF3"/>
                    </a:solidFill>
                  </a:tcPr>
                </a:tc>
                <a:tc>
                  <a:txBody>
                    <a:bodyPr/>
                    <a:lstStyle/>
                    <a:p>
                      <a:pPr marL="0" indent="0" algn="ctr">
                        <a:buNone/>
                      </a:pPr>
                      <a:r>
                        <a:rPr lang="en-US" sz="1250" dirty="0">
                          <a:solidFill>
                            <a:srgbClr val="1E293B"/>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6EEF3"/>
                    </a:solidFill>
                  </a:tcPr>
                </a:tc>
                <a:tc>
                  <a:txBody>
                    <a:bodyPr/>
                    <a:lstStyle/>
                    <a:p>
                      <a:pPr marL="0" indent="0" algn="ctr">
                        <a:buNone/>
                      </a:pPr>
                      <a:r>
                        <a:rPr lang="en-US" sz="1250" dirty="0">
                          <a:solidFill>
                            <a:srgbClr val="1E293B"/>
                          </a:solidFill>
                          <a:latin typeface="Calibri" pitchFamily="34" charset="0"/>
                          <a:ea typeface="Calibri" pitchFamily="34" charset="-122"/>
                          <a:cs typeface="Calibri" pitchFamily="34" charset="-120"/>
                        </a:rPr>
                        <a:t>3</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6EEF3"/>
                    </a:solidFill>
                  </a:tcPr>
                </a:tc>
                <a:tc>
                  <a:txBody>
                    <a:bodyPr/>
                    <a:lstStyle/>
                    <a:p>
                      <a:pPr marL="0" indent="0" algn="ctr">
                        <a:buNone/>
                      </a:pPr>
                      <a:r>
                        <a:rPr lang="en-US" sz="1250" dirty="0">
                          <a:solidFill>
                            <a:srgbClr val="1E293B"/>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6EEF3"/>
                    </a:solidFill>
                  </a:tcPr>
                </a:tc>
                <a:extLst>
                  <a:ext uri="{0D108BD9-81ED-4DB2-BD59-A6C34878D82A}">
                    <a16:rowId xmlns:a16="http://schemas.microsoft.com/office/drawing/2014/main" val="10004"/>
                  </a:ext>
                </a:extLst>
              </a:tr>
              <a:tr h="365760">
                <a:tc>
                  <a:txBody>
                    <a:bodyPr/>
                    <a:lstStyle/>
                    <a:p>
                      <a:pPr marL="0" indent="0" algn="ctr">
                        <a:buNone/>
                      </a:pPr>
                      <a:r>
                        <a:rPr lang="en-US" sz="1250" dirty="0">
                          <a:solidFill>
                            <a:srgbClr val="1E293B"/>
                          </a:solidFill>
                          <a:latin typeface="Calibri" pitchFamily="34" charset="0"/>
                          <a:ea typeface="Calibri" pitchFamily="34" charset="-122"/>
                          <a:cs typeface="Calibri" pitchFamily="34" charset="-120"/>
                        </a:rPr>
                        <a:t>v5</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E293B"/>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E293B"/>
                          </a:solidFill>
                          <a:latin typeface="Calibri" pitchFamily="34" charset="0"/>
                          <a:ea typeface="Calibri" pitchFamily="34" charset="-122"/>
                          <a:cs typeface="Calibri" pitchFamily="34" charset="-120"/>
                        </a:rPr>
                        <a:t>3</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E293B"/>
                          </a:solidFill>
                          <a:latin typeface="Calibri" pitchFamily="34" charset="0"/>
                          <a:ea typeface="Calibri" pitchFamily="34" charset="-122"/>
                          <a:cs typeface="Calibri" pitchFamily="34" charset="-120"/>
                        </a:rPr>
                        <a:t>4</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E293B"/>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27" name="Text 24"/>
          <p:cNvSpPr/>
          <p:nvPr/>
        </p:nvSpPr>
        <p:spPr>
          <a:xfrm>
            <a:off x="4572000" y="5200650"/>
            <a:ext cx="4114800" cy="640080"/>
          </a:xfrm>
          <a:prstGeom prst="rect">
            <a:avLst/>
          </a:prstGeom>
          <a:noFill/>
          <a:ln/>
        </p:spPr>
        <p:txBody>
          <a:bodyPr wrap="square" lIns="0" tIns="0" rIns="0" bIns="0" rtlCol="0" anchor="ctr"/>
          <a:lstStyle/>
          <a:p>
            <a:r>
              <a:rPr lang="en-US" sz="1200" i="1" dirty="0">
                <a:solidFill>
                  <a:srgbClr val="64748B"/>
                </a:solidFill>
                <a:latin typeface="Calibri" pitchFamily="34" charset="0"/>
                <a:ea typeface="Calibri" pitchFamily="34" charset="-122"/>
                <a:cs typeface="Calibri" pitchFamily="34" charset="-120"/>
              </a:rPr>
              <a:t>μ = 0 means the operation is on the critical path and cannot move; μ &gt; 0 is the slack FDS exploits. Here λ = 4 control steps.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457200" y="1241298"/>
            <a:ext cx="402336" cy="402336"/>
          </a:xfrm>
          <a:prstGeom prst="ellipse">
            <a:avLst/>
          </a:prstGeom>
          <a:solidFill>
            <a:srgbClr val="1C7293"/>
          </a:solidFill>
          <a:ln/>
        </p:spPr>
        <p:txBody>
          <a:bodyPr/>
          <a:lstStyle/>
          <a:p>
            <a:endParaRPr lang="de-DE"/>
          </a:p>
        </p:txBody>
      </p:sp>
      <p:sp>
        <p:nvSpPr>
          <p:cNvPr id="3" name="Text 1"/>
          <p:cNvSpPr/>
          <p:nvPr/>
        </p:nvSpPr>
        <p:spPr>
          <a:xfrm>
            <a:off x="457200" y="1241298"/>
            <a:ext cx="402336" cy="402336"/>
          </a:xfrm>
          <a:prstGeom prst="rect">
            <a:avLst/>
          </a:prstGeom>
          <a:noFill/>
          <a:ln/>
        </p:spPr>
        <p:txBody>
          <a:bodyPr wrap="square" lIns="0" tIns="0" rIns="0" bIns="0" rtlCol="0" anchor="ctr"/>
          <a:lstStyle/>
          <a:p>
            <a:pPr algn="ctr"/>
            <a:r>
              <a:rPr lang="en-US" b="1" dirty="0">
                <a:solidFill>
                  <a:srgbClr val="FFFFFF"/>
                </a:solidFill>
                <a:latin typeface="Calibri" pitchFamily="34" charset="0"/>
                <a:ea typeface="Calibri" pitchFamily="34" charset="-122"/>
                <a:cs typeface="Calibri" pitchFamily="34" charset="-120"/>
              </a:rPr>
              <a:t>4</a:t>
            </a:r>
            <a:endParaRPr lang="en-US" dirty="0"/>
          </a:p>
        </p:txBody>
      </p:sp>
      <p:sp>
        <p:nvSpPr>
          <p:cNvPr id="4" name="Text 2"/>
          <p:cNvSpPr/>
          <p:nvPr/>
        </p:nvSpPr>
        <p:spPr>
          <a:xfrm>
            <a:off x="969264" y="1268730"/>
            <a:ext cx="7680960" cy="292608"/>
          </a:xfrm>
          <a:prstGeom prst="rect">
            <a:avLst/>
          </a:prstGeom>
          <a:noFill/>
          <a:ln/>
        </p:spPr>
        <p:txBody>
          <a:bodyPr wrap="square" lIns="0" tIns="0" rIns="0" bIns="0" rtlCol="0" anchor="ctr"/>
          <a:lstStyle/>
          <a:p>
            <a:r>
              <a:rPr lang="en-US" sz="1100" b="1" kern="0" spc="200" dirty="0">
                <a:solidFill>
                  <a:srgbClr val="1C7293"/>
                </a:solidFill>
                <a:latin typeface="Calibri" pitchFamily="34" charset="0"/>
                <a:ea typeface="Calibri" pitchFamily="34" charset="-122"/>
                <a:cs typeface="Calibri" pitchFamily="34" charset="-120"/>
              </a:rPr>
              <a:t>STEP 2 — DISTRIBUTION GRAPH</a:t>
            </a:r>
            <a:endParaRPr lang="en-US" sz="1100" dirty="0"/>
          </a:p>
        </p:txBody>
      </p:sp>
      <p:sp>
        <p:nvSpPr>
          <p:cNvPr id="5" name="Text 3"/>
          <p:cNvSpPr/>
          <p:nvPr/>
        </p:nvSpPr>
        <p:spPr>
          <a:xfrm>
            <a:off x="457200" y="1698498"/>
            <a:ext cx="8229600" cy="566928"/>
          </a:xfrm>
          <a:prstGeom prst="rect">
            <a:avLst/>
          </a:prstGeom>
          <a:noFill/>
          <a:ln/>
        </p:spPr>
        <p:txBody>
          <a:bodyPr wrap="square" lIns="0" tIns="0" rIns="0" bIns="0" rtlCol="0" anchor="ctr"/>
          <a:lstStyle/>
          <a:p>
            <a:r>
              <a:rPr lang="en-US" sz="2700" b="1" dirty="0">
                <a:solidFill>
                  <a:srgbClr val="12273F"/>
                </a:solidFill>
                <a:latin typeface="Cambria" pitchFamily="34" charset="0"/>
                <a:ea typeface="Cambria" pitchFamily="34" charset="-122"/>
                <a:cs typeface="Cambria" pitchFamily="34" charset="-120"/>
              </a:rPr>
              <a:t>Expected demand on each resource per step</a:t>
            </a:r>
            <a:endParaRPr lang="en-US" sz="2700" dirty="0"/>
          </a:p>
        </p:txBody>
      </p:sp>
      <p:sp>
        <p:nvSpPr>
          <p:cNvPr id="6" name="Text 4"/>
          <p:cNvSpPr/>
          <p:nvPr/>
        </p:nvSpPr>
        <p:spPr>
          <a:xfrm>
            <a:off x="548640" y="2430018"/>
            <a:ext cx="8138160" cy="502920"/>
          </a:xfrm>
          <a:prstGeom prst="rect">
            <a:avLst/>
          </a:prstGeom>
          <a:noFill/>
          <a:ln/>
        </p:spPr>
        <p:txBody>
          <a:bodyPr wrap="square" lIns="0" tIns="0" rIns="0" bIns="0" rtlCol="0" anchor="ctr"/>
          <a:lstStyle/>
          <a:p>
            <a:r>
              <a:rPr lang="en-US" sz="1350" dirty="0">
                <a:solidFill>
                  <a:srgbClr val="1E293B"/>
                </a:solidFill>
                <a:latin typeface="Calibri" pitchFamily="34" charset="0"/>
                <a:ea typeface="Calibri" pitchFamily="34" charset="-122"/>
                <a:cs typeface="Calibri" pitchFamily="34" charset="-120"/>
              </a:rPr>
              <a:t>Treat an unscheduled op as uniformly spread over its frame: </a:t>
            </a:r>
            <a:r>
              <a:rPr lang="en-US" sz="1350" b="1" dirty="0">
                <a:solidFill>
                  <a:srgbClr val="1C7293"/>
                </a:solidFill>
                <a:latin typeface="Courier New" pitchFamily="34" charset="0"/>
                <a:ea typeface="Courier New" pitchFamily="34" charset="-122"/>
                <a:cs typeface="Courier New" pitchFamily="34" charset="-120"/>
              </a:rPr>
              <a:t>pᵢ(l) = 1 / (μ+1)</a:t>
            </a:r>
            <a:r>
              <a:rPr lang="en-US" sz="1350" dirty="0">
                <a:solidFill>
                  <a:srgbClr val="1E293B"/>
                </a:solidFill>
                <a:latin typeface="Calibri" pitchFamily="34" charset="0"/>
                <a:ea typeface="Calibri" pitchFamily="34" charset="-122"/>
                <a:cs typeface="Calibri" pitchFamily="34" charset="-120"/>
              </a:rPr>
              <a:t>.  Sum per type per step to get DGₖ(l).</a:t>
            </a:r>
            <a:endParaRPr lang="en-US" sz="1350" dirty="0"/>
          </a:p>
        </p:txBody>
      </p:sp>
      <p:graphicFrame>
        <p:nvGraphicFramePr>
          <p:cNvPr id="7" name="Chart 0"/>
          <p:cNvGraphicFramePr/>
          <p:nvPr/>
        </p:nvGraphicFramePr>
        <p:xfrm>
          <a:off x="640080" y="3006090"/>
          <a:ext cx="521208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8" name="Shape 5"/>
          <p:cNvSpPr/>
          <p:nvPr/>
        </p:nvSpPr>
        <p:spPr>
          <a:xfrm>
            <a:off x="6080760" y="3097530"/>
            <a:ext cx="2606040" cy="2514600"/>
          </a:xfrm>
          <a:prstGeom prst="roundRect">
            <a:avLst>
              <a:gd name="adj" fmla="val 2545"/>
            </a:avLst>
          </a:prstGeom>
          <a:solidFill>
            <a:srgbClr val="E6EEF3"/>
          </a:solidFill>
          <a:ln w="12700">
            <a:solidFill>
              <a:srgbClr val="1C7293"/>
            </a:solidFill>
            <a:prstDash val="solid"/>
          </a:ln>
          <a:effectLst>
            <a:outerShdw blurRad="114300" dist="38100" dir="5400000" algn="bl" rotWithShape="0">
              <a:srgbClr val="94A3B8">
                <a:alpha val="30000"/>
              </a:srgbClr>
            </a:outerShdw>
          </a:effectLst>
        </p:spPr>
        <p:txBody>
          <a:bodyPr/>
          <a:lstStyle/>
          <a:p>
            <a:endParaRPr lang="de-DE"/>
          </a:p>
        </p:txBody>
      </p:sp>
      <p:sp>
        <p:nvSpPr>
          <p:cNvPr id="9" name="Text 6"/>
          <p:cNvSpPr/>
          <p:nvPr/>
        </p:nvSpPr>
        <p:spPr>
          <a:xfrm>
            <a:off x="6263640" y="3252978"/>
            <a:ext cx="2286000" cy="2240280"/>
          </a:xfrm>
          <a:prstGeom prst="rect">
            <a:avLst/>
          </a:prstGeom>
          <a:noFill/>
          <a:ln/>
        </p:spPr>
        <p:txBody>
          <a:bodyPr wrap="square" lIns="0" tIns="0" rIns="0" bIns="0" rtlCol="0" anchor="t"/>
          <a:lstStyle/>
          <a:p>
            <a:pPr>
              <a:lnSpc>
                <a:spcPct val="105000"/>
              </a:lnSpc>
            </a:pPr>
            <a:r>
              <a:rPr lang="en-US" sz="1400" b="1" dirty="0">
                <a:solidFill>
                  <a:srgbClr val="1C7293"/>
                </a:solidFill>
                <a:latin typeface="Calibri" pitchFamily="34" charset="0"/>
                <a:ea typeface="Calibri" pitchFamily="34" charset="-122"/>
                <a:cs typeface="Calibri" pitchFamily="34" charset="-120"/>
              </a:rPr>
              <a:t>Reading it
</a:t>
            </a:r>
            <a:endParaRPr lang="en-US" sz="1400" dirty="0"/>
          </a:p>
          <a:p>
            <a:pPr>
              <a:lnSpc>
                <a:spcPct val="105000"/>
              </a:lnSpc>
            </a:pPr>
            <a:r>
              <a:rPr lang="en-US" sz="1250" dirty="0">
                <a:solidFill>
                  <a:srgbClr val="1E293B"/>
                </a:solidFill>
                <a:latin typeface="Calibri" pitchFamily="34" charset="0"/>
                <a:ea typeface="Calibri" pitchFamily="34" charset="-122"/>
                <a:cs typeface="Calibri" pitchFamily="34" charset="-120"/>
              </a:rPr>
              <a:t>All 3 multiplies could land in s1 — ASAP would need 3 multipliers. </a:t>
            </a:r>
            <a:endParaRPr lang="en-US" sz="1400" dirty="0"/>
          </a:p>
          <a:p>
            <a:pPr>
              <a:lnSpc>
                <a:spcPct val="105000"/>
              </a:lnSpc>
            </a:pPr>
            <a:endParaRPr lang="en-US" sz="1400" dirty="0"/>
          </a:p>
          <a:p>
            <a:pPr>
              <a:lnSpc>
                <a:spcPct val="105000"/>
              </a:lnSpc>
            </a:pPr>
            <a:r>
              <a:rPr lang="en-US" sz="1250" dirty="0">
                <a:solidFill>
                  <a:srgbClr val="1E293B"/>
                </a:solidFill>
                <a:latin typeface="Calibri" pitchFamily="34" charset="0"/>
                <a:ea typeface="Calibri" pitchFamily="34" charset="-122"/>
                <a:cs typeface="Calibri" pitchFamily="34" charset="-120"/>
              </a:rPr>
              <a:t>The multiplier peak (1.33) shows where the pressure is, and where FDS must relieve it.</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457200" y="1241298"/>
            <a:ext cx="402336" cy="402336"/>
          </a:xfrm>
          <a:prstGeom prst="ellipse">
            <a:avLst/>
          </a:prstGeom>
          <a:solidFill>
            <a:srgbClr val="1C7293"/>
          </a:solidFill>
          <a:ln/>
        </p:spPr>
        <p:txBody>
          <a:bodyPr/>
          <a:lstStyle/>
          <a:p>
            <a:endParaRPr lang="de-DE"/>
          </a:p>
        </p:txBody>
      </p:sp>
      <p:sp>
        <p:nvSpPr>
          <p:cNvPr id="3" name="Text 1"/>
          <p:cNvSpPr/>
          <p:nvPr/>
        </p:nvSpPr>
        <p:spPr>
          <a:xfrm>
            <a:off x="457200" y="1241298"/>
            <a:ext cx="402336" cy="402336"/>
          </a:xfrm>
          <a:prstGeom prst="rect">
            <a:avLst/>
          </a:prstGeom>
          <a:noFill/>
          <a:ln/>
        </p:spPr>
        <p:txBody>
          <a:bodyPr wrap="square" lIns="0" tIns="0" rIns="0" bIns="0" rtlCol="0" anchor="ctr"/>
          <a:lstStyle/>
          <a:p>
            <a:pPr algn="ctr"/>
            <a:r>
              <a:rPr lang="en-US" b="1" dirty="0">
                <a:solidFill>
                  <a:srgbClr val="FFFFFF"/>
                </a:solidFill>
                <a:latin typeface="Calibri" pitchFamily="34" charset="0"/>
                <a:ea typeface="Calibri" pitchFamily="34" charset="-122"/>
                <a:cs typeface="Calibri" pitchFamily="34" charset="-120"/>
              </a:rPr>
              <a:t>5</a:t>
            </a:r>
            <a:endParaRPr lang="en-US" dirty="0"/>
          </a:p>
        </p:txBody>
      </p:sp>
      <p:sp>
        <p:nvSpPr>
          <p:cNvPr id="4" name="Text 2"/>
          <p:cNvSpPr/>
          <p:nvPr/>
        </p:nvSpPr>
        <p:spPr>
          <a:xfrm>
            <a:off x="969264" y="1268730"/>
            <a:ext cx="7680960" cy="292608"/>
          </a:xfrm>
          <a:prstGeom prst="rect">
            <a:avLst/>
          </a:prstGeom>
          <a:noFill/>
          <a:ln/>
        </p:spPr>
        <p:txBody>
          <a:bodyPr wrap="square" lIns="0" tIns="0" rIns="0" bIns="0" rtlCol="0" anchor="ctr"/>
          <a:lstStyle/>
          <a:p>
            <a:r>
              <a:rPr lang="en-US" sz="1100" b="1" kern="0" spc="200" dirty="0">
                <a:solidFill>
                  <a:srgbClr val="1C7293"/>
                </a:solidFill>
                <a:latin typeface="Calibri" pitchFamily="34" charset="0"/>
                <a:ea typeface="Calibri" pitchFamily="34" charset="-122"/>
                <a:cs typeface="Calibri" pitchFamily="34" charset="-120"/>
              </a:rPr>
              <a:t>STEP 3 — FORCES</a:t>
            </a:r>
            <a:endParaRPr lang="en-US" sz="1100" dirty="0"/>
          </a:p>
        </p:txBody>
      </p:sp>
      <p:sp>
        <p:nvSpPr>
          <p:cNvPr id="5" name="Text 3"/>
          <p:cNvSpPr/>
          <p:nvPr/>
        </p:nvSpPr>
        <p:spPr>
          <a:xfrm>
            <a:off x="457200" y="1698498"/>
            <a:ext cx="8229600" cy="566928"/>
          </a:xfrm>
          <a:prstGeom prst="rect">
            <a:avLst/>
          </a:prstGeom>
          <a:noFill/>
          <a:ln/>
        </p:spPr>
        <p:txBody>
          <a:bodyPr wrap="square" lIns="0" tIns="0" rIns="0" bIns="0" rtlCol="0" anchor="ctr"/>
          <a:lstStyle/>
          <a:p>
            <a:r>
              <a:rPr lang="en-US" sz="2700" b="1" dirty="0">
                <a:solidFill>
                  <a:srgbClr val="12273F"/>
                </a:solidFill>
                <a:latin typeface="Cambria" pitchFamily="34" charset="0"/>
                <a:ea typeface="Cambria" pitchFamily="34" charset="-122"/>
                <a:cs typeface="Cambria" pitchFamily="34" charset="-120"/>
              </a:rPr>
              <a:t>Score every candidate placement</a:t>
            </a:r>
            <a:endParaRPr lang="en-US" sz="2700" dirty="0"/>
          </a:p>
        </p:txBody>
      </p:sp>
      <p:sp>
        <p:nvSpPr>
          <p:cNvPr id="6" name="Text 4"/>
          <p:cNvSpPr/>
          <p:nvPr/>
        </p:nvSpPr>
        <p:spPr>
          <a:xfrm>
            <a:off x="548640" y="2430018"/>
            <a:ext cx="8138160" cy="502920"/>
          </a:xfrm>
          <a:prstGeom prst="rect">
            <a:avLst/>
          </a:prstGeom>
          <a:noFill/>
          <a:ln/>
        </p:spPr>
        <p:txBody>
          <a:bodyPr wrap="square" lIns="0" tIns="0" rIns="0" bIns="0" rtlCol="0" anchor="ctr"/>
          <a:lstStyle/>
          <a:p>
            <a:r>
              <a:rPr lang="en-US" sz="1350" dirty="0">
                <a:solidFill>
                  <a:srgbClr val="1E293B"/>
                </a:solidFill>
                <a:latin typeface="Calibri" pitchFamily="34" charset="0"/>
                <a:ea typeface="Calibri" pitchFamily="34" charset="-122"/>
                <a:cs typeface="Calibri" pitchFamily="34" charset="-120"/>
              </a:rPr>
              <a:t>Self-force = DG-weighted change in the operation's own probability. Positive ⇒ pushes into a crowded step; negative ⇒ moves toward an idle one.</a:t>
            </a:r>
            <a:endParaRPr lang="en-US" sz="1350" dirty="0"/>
          </a:p>
        </p:txBody>
      </p:sp>
      <p:sp>
        <p:nvSpPr>
          <p:cNvPr id="7" name="Shape 5"/>
          <p:cNvSpPr/>
          <p:nvPr/>
        </p:nvSpPr>
        <p:spPr>
          <a:xfrm>
            <a:off x="640080" y="3097530"/>
            <a:ext cx="3886200" cy="1371600"/>
          </a:xfrm>
          <a:prstGeom prst="roundRect">
            <a:avLst>
              <a:gd name="adj" fmla="val 5333"/>
            </a:avLst>
          </a:prstGeom>
          <a:solidFill>
            <a:srgbClr val="FBEADC"/>
          </a:solidFill>
          <a:ln w="15875">
            <a:solidFill>
              <a:srgbClr val="E8833A"/>
            </a:solidFill>
            <a:prstDash val="solid"/>
          </a:ln>
          <a:effectLst>
            <a:outerShdw blurRad="114300" dist="38100" dir="5400000" algn="bl" rotWithShape="0">
              <a:srgbClr val="94A3B8">
                <a:alpha val="30000"/>
              </a:srgbClr>
            </a:outerShdw>
          </a:effectLst>
        </p:spPr>
        <p:txBody>
          <a:bodyPr/>
          <a:lstStyle/>
          <a:p>
            <a:endParaRPr lang="de-DE"/>
          </a:p>
        </p:txBody>
      </p:sp>
      <p:sp>
        <p:nvSpPr>
          <p:cNvPr id="8" name="Text 6"/>
          <p:cNvSpPr/>
          <p:nvPr/>
        </p:nvSpPr>
        <p:spPr>
          <a:xfrm>
            <a:off x="640080" y="3188970"/>
            <a:ext cx="1554480" cy="1188720"/>
          </a:xfrm>
          <a:prstGeom prst="rect">
            <a:avLst/>
          </a:prstGeom>
          <a:noFill/>
          <a:ln/>
        </p:spPr>
        <p:txBody>
          <a:bodyPr wrap="square" lIns="0" tIns="0" rIns="0" bIns="0" rtlCol="0" anchor="ctr"/>
          <a:lstStyle/>
          <a:p>
            <a:pPr algn="ctr"/>
            <a:r>
              <a:rPr lang="en-US" sz="3800" b="1" dirty="0">
                <a:solidFill>
                  <a:srgbClr val="E8833A"/>
                </a:solidFill>
                <a:latin typeface="Cambria" pitchFamily="34" charset="0"/>
                <a:ea typeface="Cambria" pitchFamily="34" charset="-122"/>
                <a:cs typeface="Cambria" pitchFamily="34" charset="-120"/>
              </a:rPr>
              <a:t>+0.33</a:t>
            </a:r>
            <a:endParaRPr lang="en-US" sz="3800" dirty="0"/>
          </a:p>
        </p:txBody>
      </p:sp>
      <p:sp>
        <p:nvSpPr>
          <p:cNvPr id="9" name="Text 7"/>
          <p:cNvSpPr/>
          <p:nvPr/>
        </p:nvSpPr>
        <p:spPr>
          <a:xfrm>
            <a:off x="2286000" y="3188970"/>
            <a:ext cx="2103120" cy="1188720"/>
          </a:xfrm>
          <a:prstGeom prst="rect">
            <a:avLst/>
          </a:prstGeom>
          <a:noFill/>
          <a:ln/>
        </p:spPr>
        <p:txBody>
          <a:bodyPr wrap="square" lIns="0" tIns="0" rIns="0" bIns="0" rtlCol="0" anchor="ctr"/>
          <a:lstStyle/>
          <a:p>
            <a:pPr>
              <a:lnSpc>
                <a:spcPct val="110000"/>
              </a:lnSpc>
            </a:pPr>
            <a:r>
              <a:rPr lang="en-US" sz="1350" b="1" dirty="0">
                <a:solidFill>
                  <a:srgbClr val="1E293B"/>
                </a:solidFill>
                <a:latin typeface="Calibri" pitchFamily="34" charset="0"/>
                <a:ea typeface="Calibri" pitchFamily="34" charset="-122"/>
                <a:cs typeface="Calibri" pitchFamily="34" charset="-120"/>
              </a:rPr>
              <a:t>place v3 → s1
</a:t>
            </a:r>
            <a:endParaRPr lang="en-US" sz="1350" dirty="0"/>
          </a:p>
          <a:p>
            <a:pPr>
              <a:lnSpc>
                <a:spcPct val="110000"/>
              </a:lnSpc>
            </a:pPr>
            <a:r>
              <a:rPr lang="en-US" sz="1200" dirty="0">
                <a:solidFill>
                  <a:srgbClr val="64748B"/>
                </a:solidFill>
                <a:latin typeface="Calibri" pitchFamily="34" charset="0"/>
                <a:ea typeface="Calibri" pitchFamily="34" charset="-122"/>
                <a:cs typeface="Calibri" pitchFamily="34" charset="-120"/>
              </a:rPr>
              <a:t>into the crowded step — bad</a:t>
            </a:r>
            <a:endParaRPr lang="en-US" sz="1350" dirty="0"/>
          </a:p>
        </p:txBody>
      </p:sp>
      <p:sp>
        <p:nvSpPr>
          <p:cNvPr id="10" name="Shape 8"/>
          <p:cNvSpPr/>
          <p:nvPr/>
        </p:nvSpPr>
        <p:spPr>
          <a:xfrm>
            <a:off x="4709160" y="3097530"/>
            <a:ext cx="3886200" cy="1371600"/>
          </a:xfrm>
          <a:prstGeom prst="roundRect">
            <a:avLst>
              <a:gd name="adj" fmla="val 5333"/>
            </a:avLst>
          </a:prstGeom>
          <a:solidFill>
            <a:srgbClr val="E6EEF3"/>
          </a:solidFill>
          <a:ln w="15875">
            <a:solidFill>
              <a:srgbClr val="1C7293"/>
            </a:solidFill>
            <a:prstDash val="solid"/>
          </a:ln>
          <a:effectLst>
            <a:outerShdw blurRad="114300" dist="38100" dir="5400000" algn="bl" rotWithShape="0">
              <a:srgbClr val="94A3B8">
                <a:alpha val="30000"/>
              </a:srgbClr>
            </a:outerShdw>
          </a:effectLst>
        </p:spPr>
        <p:txBody>
          <a:bodyPr/>
          <a:lstStyle/>
          <a:p>
            <a:endParaRPr lang="de-DE"/>
          </a:p>
        </p:txBody>
      </p:sp>
      <p:sp>
        <p:nvSpPr>
          <p:cNvPr id="11" name="Text 9"/>
          <p:cNvSpPr/>
          <p:nvPr/>
        </p:nvSpPr>
        <p:spPr>
          <a:xfrm>
            <a:off x="4709160" y="3188970"/>
            <a:ext cx="1554480" cy="1188720"/>
          </a:xfrm>
          <a:prstGeom prst="rect">
            <a:avLst/>
          </a:prstGeom>
          <a:noFill/>
          <a:ln/>
        </p:spPr>
        <p:txBody>
          <a:bodyPr wrap="square" lIns="0" tIns="0" rIns="0" bIns="0" rtlCol="0" anchor="ctr"/>
          <a:lstStyle/>
          <a:p>
            <a:pPr algn="ctr"/>
            <a:r>
              <a:rPr lang="en-US" sz="3800" b="1" dirty="0">
                <a:solidFill>
                  <a:srgbClr val="1C7293"/>
                </a:solidFill>
                <a:latin typeface="Cambria" pitchFamily="34" charset="0"/>
                <a:ea typeface="Cambria" pitchFamily="34" charset="-122"/>
                <a:cs typeface="Cambria" pitchFamily="34" charset="-120"/>
              </a:rPr>
              <a:t>−0.67</a:t>
            </a:r>
            <a:endParaRPr lang="en-US" sz="3800" dirty="0"/>
          </a:p>
        </p:txBody>
      </p:sp>
      <p:sp>
        <p:nvSpPr>
          <p:cNvPr id="12" name="Text 10"/>
          <p:cNvSpPr/>
          <p:nvPr/>
        </p:nvSpPr>
        <p:spPr>
          <a:xfrm>
            <a:off x="6355080" y="3188970"/>
            <a:ext cx="2103120" cy="1188720"/>
          </a:xfrm>
          <a:prstGeom prst="rect">
            <a:avLst/>
          </a:prstGeom>
          <a:noFill/>
          <a:ln/>
        </p:spPr>
        <p:txBody>
          <a:bodyPr wrap="square" lIns="0" tIns="0" rIns="0" bIns="0" rtlCol="0" anchor="ctr"/>
          <a:lstStyle/>
          <a:p>
            <a:pPr>
              <a:lnSpc>
                <a:spcPct val="110000"/>
              </a:lnSpc>
            </a:pPr>
            <a:r>
              <a:rPr lang="en-US" sz="1350" b="1" dirty="0">
                <a:solidFill>
                  <a:srgbClr val="1E293B"/>
                </a:solidFill>
                <a:latin typeface="Calibri" pitchFamily="34" charset="0"/>
                <a:ea typeface="Calibri" pitchFamily="34" charset="-122"/>
                <a:cs typeface="Calibri" pitchFamily="34" charset="-120"/>
              </a:rPr>
              <a:t>place v3 → s3
</a:t>
            </a:r>
            <a:endParaRPr lang="en-US" sz="1350" dirty="0"/>
          </a:p>
          <a:p>
            <a:pPr>
              <a:lnSpc>
                <a:spcPct val="110000"/>
              </a:lnSpc>
            </a:pPr>
            <a:r>
              <a:rPr lang="en-US" sz="1200" dirty="0">
                <a:solidFill>
                  <a:srgbClr val="64748B"/>
                </a:solidFill>
                <a:latin typeface="Calibri" pitchFamily="34" charset="0"/>
                <a:ea typeface="Calibri" pitchFamily="34" charset="-122"/>
                <a:cs typeface="Calibri" pitchFamily="34" charset="-120"/>
              </a:rPr>
              <a:t>into an idle step — good</a:t>
            </a:r>
            <a:endParaRPr lang="en-US" sz="1350" dirty="0"/>
          </a:p>
        </p:txBody>
      </p:sp>
      <p:sp>
        <p:nvSpPr>
          <p:cNvPr id="13" name="Text 11"/>
          <p:cNvSpPr/>
          <p:nvPr/>
        </p:nvSpPr>
        <p:spPr>
          <a:xfrm>
            <a:off x="640080" y="4743450"/>
            <a:ext cx="7955280" cy="822960"/>
          </a:xfrm>
          <a:prstGeom prst="rect">
            <a:avLst/>
          </a:prstGeom>
          <a:noFill/>
          <a:ln/>
        </p:spPr>
        <p:txBody>
          <a:bodyPr wrap="square" lIns="0" tIns="0" rIns="0" bIns="0" rtlCol="0" anchor="ctr"/>
          <a:lstStyle/>
          <a:p>
            <a:pPr>
              <a:lnSpc>
                <a:spcPct val="110000"/>
              </a:lnSpc>
            </a:pPr>
            <a:r>
              <a:rPr lang="en-US" sz="1300" b="1" dirty="0">
                <a:solidFill>
                  <a:srgbClr val="1E293B"/>
                </a:solidFill>
                <a:latin typeface="Calibri" pitchFamily="34" charset="0"/>
                <a:ea typeface="Calibri" pitchFamily="34" charset="-122"/>
                <a:cs typeface="Calibri" pitchFamily="34" charset="-120"/>
              </a:rPr>
              <a:t>Total force = self-force + predecessor/successor force.  </a:t>
            </a:r>
            <a:r>
              <a:rPr lang="en-US" sz="1300" dirty="0">
                <a:solidFill>
                  <a:srgbClr val="64748B"/>
                </a:solidFill>
                <a:latin typeface="Calibri" pitchFamily="34" charset="0"/>
                <a:ea typeface="Calibri" pitchFamily="34" charset="-122"/>
                <a:cs typeface="Calibri" pitchFamily="34" charset="-120"/>
              </a:rPr>
              <a:t>Fixing an operation shrinks its neighbours' frames, so the move is scored by its full effect on the schedule.</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457200" y="1241298"/>
            <a:ext cx="402336" cy="402336"/>
          </a:xfrm>
          <a:prstGeom prst="ellipse">
            <a:avLst/>
          </a:prstGeom>
          <a:solidFill>
            <a:srgbClr val="1C7293"/>
          </a:solidFill>
          <a:ln/>
        </p:spPr>
        <p:txBody>
          <a:bodyPr/>
          <a:lstStyle/>
          <a:p>
            <a:endParaRPr lang="de-DE"/>
          </a:p>
        </p:txBody>
      </p:sp>
      <p:sp>
        <p:nvSpPr>
          <p:cNvPr id="3" name="Text 1"/>
          <p:cNvSpPr/>
          <p:nvPr/>
        </p:nvSpPr>
        <p:spPr>
          <a:xfrm>
            <a:off x="457200" y="1241298"/>
            <a:ext cx="402336" cy="402336"/>
          </a:xfrm>
          <a:prstGeom prst="rect">
            <a:avLst/>
          </a:prstGeom>
          <a:noFill/>
          <a:ln/>
        </p:spPr>
        <p:txBody>
          <a:bodyPr wrap="square" lIns="0" tIns="0" rIns="0" bIns="0" rtlCol="0" anchor="ctr"/>
          <a:lstStyle/>
          <a:p>
            <a:pPr algn="ctr"/>
            <a:r>
              <a:rPr lang="en-US" b="1" dirty="0">
                <a:solidFill>
                  <a:srgbClr val="FFFFFF"/>
                </a:solidFill>
                <a:latin typeface="Calibri" pitchFamily="34" charset="0"/>
                <a:ea typeface="Calibri" pitchFamily="34" charset="-122"/>
                <a:cs typeface="Calibri" pitchFamily="34" charset="-120"/>
              </a:rPr>
              <a:t>6</a:t>
            </a:r>
            <a:endParaRPr lang="en-US" dirty="0"/>
          </a:p>
        </p:txBody>
      </p:sp>
      <p:sp>
        <p:nvSpPr>
          <p:cNvPr id="4" name="Text 2"/>
          <p:cNvSpPr/>
          <p:nvPr/>
        </p:nvSpPr>
        <p:spPr>
          <a:xfrm>
            <a:off x="969264" y="1268730"/>
            <a:ext cx="7680960" cy="292608"/>
          </a:xfrm>
          <a:prstGeom prst="rect">
            <a:avLst/>
          </a:prstGeom>
          <a:noFill/>
          <a:ln/>
        </p:spPr>
        <p:txBody>
          <a:bodyPr wrap="square" lIns="0" tIns="0" rIns="0" bIns="0" rtlCol="0" anchor="ctr"/>
          <a:lstStyle/>
          <a:p>
            <a:r>
              <a:rPr lang="en-US" sz="1100" b="1" kern="0" spc="200" dirty="0">
                <a:solidFill>
                  <a:srgbClr val="1C7293"/>
                </a:solidFill>
                <a:latin typeface="Calibri" pitchFamily="34" charset="0"/>
                <a:ea typeface="Calibri" pitchFamily="34" charset="-122"/>
                <a:cs typeface="Calibri" pitchFamily="34" charset="-120"/>
              </a:rPr>
              <a:t>THE ALGORITHM</a:t>
            </a:r>
            <a:endParaRPr lang="en-US" sz="1100" dirty="0"/>
          </a:p>
        </p:txBody>
      </p:sp>
      <p:sp>
        <p:nvSpPr>
          <p:cNvPr id="5" name="Text 3"/>
          <p:cNvSpPr/>
          <p:nvPr/>
        </p:nvSpPr>
        <p:spPr>
          <a:xfrm>
            <a:off x="457200" y="1698498"/>
            <a:ext cx="8229600" cy="566928"/>
          </a:xfrm>
          <a:prstGeom prst="rect">
            <a:avLst/>
          </a:prstGeom>
          <a:noFill/>
          <a:ln/>
        </p:spPr>
        <p:txBody>
          <a:bodyPr wrap="square" lIns="0" tIns="0" rIns="0" bIns="0" rtlCol="0" anchor="ctr"/>
          <a:lstStyle/>
          <a:p>
            <a:r>
              <a:rPr lang="en-US" sz="2700" b="1" dirty="0">
                <a:solidFill>
                  <a:srgbClr val="12273F"/>
                </a:solidFill>
                <a:latin typeface="Cambria" pitchFamily="34" charset="0"/>
                <a:ea typeface="Cambria" pitchFamily="34" charset="-122"/>
                <a:cs typeface="Cambria" pitchFamily="34" charset="-120"/>
              </a:rPr>
              <a:t>A constructive, globally-informed loop</a:t>
            </a:r>
            <a:endParaRPr lang="en-US" sz="2700" dirty="0"/>
          </a:p>
        </p:txBody>
      </p:sp>
      <p:sp>
        <p:nvSpPr>
          <p:cNvPr id="6" name="Shape 4"/>
          <p:cNvSpPr/>
          <p:nvPr/>
        </p:nvSpPr>
        <p:spPr>
          <a:xfrm>
            <a:off x="640080" y="2640330"/>
            <a:ext cx="548640" cy="548640"/>
          </a:xfrm>
          <a:prstGeom prst="ellipse">
            <a:avLst/>
          </a:prstGeom>
          <a:solidFill>
            <a:srgbClr val="1C7293"/>
          </a:solidFill>
          <a:ln/>
          <a:effectLst>
            <a:outerShdw blurRad="88900" dist="38100" dir="5400000" algn="bl" rotWithShape="0">
              <a:srgbClr val="8A9BB0">
                <a:alpha val="28000"/>
              </a:srgbClr>
            </a:outerShdw>
          </a:effectLst>
        </p:spPr>
        <p:txBody>
          <a:bodyPr/>
          <a:lstStyle/>
          <a:p>
            <a:endParaRPr lang="de-DE"/>
          </a:p>
        </p:txBody>
      </p:sp>
      <p:sp>
        <p:nvSpPr>
          <p:cNvPr id="7" name="Text 5"/>
          <p:cNvSpPr/>
          <p:nvPr/>
        </p:nvSpPr>
        <p:spPr>
          <a:xfrm>
            <a:off x="640080" y="2640330"/>
            <a:ext cx="548640" cy="548640"/>
          </a:xfrm>
          <a:prstGeom prst="rect">
            <a:avLst/>
          </a:prstGeom>
          <a:noFill/>
          <a:ln/>
        </p:spPr>
        <p:txBody>
          <a:bodyPr wrap="square" lIns="0" tIns="0" rIns="0" bIns="0" rtlCol="0" anchor="ctr"/>
          <a:lstStyle/>
          <a:p>
            <a:pPr algn="ctr"/>
            <a:r>
              <a:rPr lang="en-US" sz="1900" b="1" dirty="0">
                <a:solidFill>
                  <a:srgbClr val="FFFFFF"/>
                </a:solidFill>
                <a:latin typeface="Calibri" pitchFamily="34" charset="0"/>
                <a:ea typeface="Calibri" pitchFamily="34" charset="-122"/>
                <a:cs typeface="Calibri" pitchFamily="34" charset="-120"/>
              </a:rPr>
              <a:t>1</a:t>
            </a:r>
            <a:endParaRPr lang="en-US" sz="1900" dirty="0"/>
          </a:p>
        </p:txBody>
      </p:sp>
      <p:sp>
        <p:nvSpPr>
          <p:cNvPr id="8" name="Shape 6"/>
          <p:cNvSpPr/>
          <p:nvPr/>
        </p:nvSpPr>
        <p:spPr>
          <a:xfrm>
            <a:off x="914400" y="3188970"/>
            <a:ext cx="0" cy="201168"/>
          </a:xfrm>
          <a:prstGeom prst="line">
            <a:avLst/>
          </a:prstGeom>
          <a:noFill/>
          <a:ln w="19050">
            <a:solidFill>
              <a:srgbClr val="CBD5E1"/>
            </a:solidFill>
            <a:prstDash val="solid"/>
          </a:ln>
        </p:spPr>
        <p:txBody>
          <a:bodyPr/>
          <a:lstStyle/>
          <a:p>
            <a:endParaRPr lang="de-DE"/>
          </a:p>
        </p:txBody>
      </p:sp>
      <p:sp>
        <p:nvSpPr>
          <p:cNvPr id="9" name="Text 7"/>
          <p:cNvSpPr/>
          <p:nvPr/>
        </p:nvSpPr>
        <p:spPr>
          <a:xfrm>
            <a:off x="1417320" y="2622042"/>
            <a:ext cx="7223760" cy="585216"/>
          </a:xfrm>
          <a:prstGeom prst="rect">
            <a:avLst/>
          </a:prstGeom>
          <a:noFill/>
          <a:ln/>
        </p:spPr>
        <p:txBody>
          <a:bodyPr wrap="square" lIns="0" tIns="0" rIns="0" bIns="0" rtlCol="0" anchor="ctr"/>
          <a:lstStyle/>
          <a:p>
            <a:pPr>
              <a:lnSpc>
                <a:spcPct val="100000"/>
              </a:lnSpc>
            </a:pPr>
            <a:r>
              <a:rPr lang="en-US" sz="1550" b="1" dirty="0">
                <a:solidFill>
                  <a:srgbClr val="1E293B"/>
                </a:solidFill>
                <a:latin typeface="Calibri" pitchFamily="34" charset="0"/>
                <a:ea typeface="Calibri" pitchFamily="34" charset="-122"/>
                <a:cs typeface="Calibri" pitchFamily="34" charset="-120"/>
              </a:rPr>
              <a:t>Compute frames + DG   </a:t>
            </a:r>
            <a:r>
              <a:rPr lang="en-US" sz="1300" dirty="0">
                <a:solidFill>
                  <a:srgbClr val="64748B"/>
                </a:solidFill>
                <a:latin typeface="Calibri" pitchFamily="34" charset="0"/>
                <a:ea typeface="Calibri" pitchFamily="34" charset="-122"/>
                <a:cs typeface="Calibri" pitchFamily="34" charset="-120"/>
              </a:rPr>
              <a:t>Run ASAP/ALAP, build the distribution graph from current frames.</a:t>
            </a:r>
            <a:endParaRPr lang="en-US" sz="1550" dirty="0"/>
          </a:p>
        </p:txBody>
      </p:sp>
      <p:sp>
        <p:nvSpPr>
          <p:cNvPr id="10" name="Shape 8"/>
          <p:cNvSpPr/>
          <p:nvPr/>
        </p:nvSpPr>
        <p:spPr>
          <a:xfrm>
            <a:off x="640080" y="3390138"/>
            <a:ext cx="548640" cy="548640"/>
          </a:xfrm>
          <a:prstGeom prst="ellipse">
            <a:avLst/>
          </a:prstGeom>
          <a:solidFill>
            <a:srgbClr val="1C7293"/>
          </a:solidFill>
          <a:ln/>
          <a:effectLst>
            <a:outerShdw blurRad="88900" dist="38100" dir="5400000" algn="bl" rotWithShape="0">
              <a:srgbClr val="8A9BB0">
                <a:alpha val="28000"/>
              </a:srgbClr>
            </a:outerShdw>
          </a:effectLst>
        </p:spPr>
        <p:txBody>
          <a:bodyPr/>
          <a:lstStyle/>
          <a:p>
            <a:endParaRPr lang="de-DE"/>
          </a:p>
        </p:txBody>
      </p:sp>
      <p:sp>
        <p:nvSpPr>
          <p:cNvPr id="11" name="Text 9"/>
          <p:cNvSpPr/>
          <p:nvPr/>
        </p:nvSpPr>
        <p:spPr>
          <a:xfrm>
            <a:off x="640080" y="3390138"/>
            <a:ext cx="548640" cy="548640"/>
          </a:xfrm>
          <a:prstGeom prst="rect">
            <a:avLst/>
          </a:prstGeom>
          <a:noFill/>
          <a:ln/>
        </p:spPr>
        <p:txBody>
          <a:bodyPr wrap="square" lIns="0" tIns="0" rIns="0" bIns="0" rtlCol="0" anchor="ctr"/>
          <a:lstStyle/>
          <a:p>
            <a:pPr algn="ctr"/>
            <a:r>
              <a:rPr lang="en-US" sz="1900" b="1" dirty="0">
                <a:solidFill>
                  <a:srgbClr val="FFFFFF"/>
                </a:solidFill>
                <a:latin typeface="Calibri" pitchFamily="34" charset="0"/>
                <a:ea typeface="Calibri" pitchFamily="34" charset="-122"/>
                <a:cs typeface="Calibri" pitchFamily="34" charset="-120"/>
              </a:rPr>
              <a:t>2</a:t>
            </a:r>
            <a:endParaRPr lang="en-US" sz="1900" dirty="0"/>
          </a:p>
        </p:txBody>
      </p:sp>
      <p:sp>
        <p:nvSpPr>
          <p:cNvPr id="12" name="Shape 10"/>
          <p:cNvSpPr/>
          <p:nvPr/>
        </p:nvSpPr>
        <p:spPr>
          <a:xfrm>
            <a:off x="914400" y="3938778"/>
            <a:ext cx="0" cy="201168"/>
          </a:xfrm>
          <a:prstGeom prst="line">
            <a:avLst/>
          </a:prstGeom>
          <a:noFill/>
          <a:ln w="19050">
            <a:solidFill>
              <a:srgbClr val="CBD5E1"/>
            </a:solidFill>
            <a:prstDash val="solid"/>
          </a:ln>
        </p:spPr>
        <p:txBody>
          <a:bodyPr/>
          <a:lstStyle/>
          <a:p>
            <a:endParaRPr lang="de-DE"/>
          </a:p>
        </p:txBody>
      </p:sp>
      <p:sp>
        <p:nvSpPr>
          <p:cNvPr id="13" name="Text 11"/>
          <p:cNvSpPr/>
          <p:nvPr/>
        </p:nvSpPr>
        <p:spPr>
          <a:xfrm>
            <a:off x="1417320" y="3371850"/>
            <a:ext cx="7223760" cy="585216"/>
          </a:xfrm>
          <a:prstGeom prst="rect">
            <a:avLst/>
          </a:prstGeom>
          <a:noFill/>
          <a:ln/>
        </p:spPr>
        <p:txBody>
          <a:bodyPr wrap="square" lIns="0" tIns="0" rIns="0" bIns="0" rtlCol="0" anchor="ctr"/>
          <a:lstStyle/>
          <a:p>
            <a:pPr>
              <a:lnSpc>
                <a:spcPct val="100000"/>
              </a:lnSpc>
            </a:pPr>
            <a:r>
              <a:rPr lang="en-US" sz="1550" b="1" dirty="0">
                <a:solidFill>
                  <a:srgbClr val="1E293B"/>
                </a:solidFill>
                <a:latin typeface="Calibri" pitchFamily="34" charset="0"/>
                <a:ea typeface="Calibri" pitchFamily="34" charset="-122"/>
                <a:cs typeface="Calibri" pitchFamily="34" charset="-120"/>
              </a:rPr>
              <a:t>Evaluate all forces   </a:t>
            </a:r>
            <a:r>
              <a:rPr lang="en-US" sz="1300" dirty="0">
                <a:solidFill>
                  <a:srgbClr val="64748B"/>
                </a:solidFill>
                <a:latin typeface="Calibri" pitchFamily="34" charset="0"/>
                <a:ea typeface="Calibri" pitchFamily="34" charset="-122"/>
                <a:cs typeface="Calibri" pitchFamily="34" charset="-120"/>
              </a:rPr>
              <a:t>Total force for every unscheduled op in every step of its frame.</a:t>
            </a:r>
            <a:endParaRPr lang="en-US" sz="1550" dirty="0"/>
          </a:p>
        </p:txBody>
      </p:sp>
      <p:sp>
        <p:nvSpPr>
          <p:cNvPr id="14" name="Shape 12"/>
          <p:cNvSpPr/>
          <p:nvPr/>
        </p:nvSpPr>
        <p:spPr>
          <a:xfrm>
            <a:off x="640080" y="4139946"/>
            <a:ext cx="548640" cy="548640"/>
          </a:xfrm>
          <a:prstGeom prst="ellipse">
            <a:avLst/>
          </a:prstGeom>
          <a:solidFill>
            <a:srgbClr val="E8833A"/>
          </a:solidFill>
          <a:ln/>
          <a:effectLst>
            <a:outerShdw blurRad="88900" dist="38100" dir="5400000" algn="bl" rotWithShape="0">
              <a:srgbClr val="8A9BB0">
                <a:alpha val="28000"/>
              </a:srgbClr>
            </a:outerShdw>
          </a:effectLst>
        </p:spPr>
        <p:txBody>
          <a:bodyPr/>
          <a:lstStyle/>
          <a:p>
            <a:endParaRPr lang="de-DE"/>
          </a:p>
        </p:txBody>
      </p:sp>
      <p:sp>
        <p:nvSpPr>
          <p:cNvPr id="15" name="Text 13"/>
          <p:cNvSpPr/>
          <p:nvPr/>
        </p:nvSpPr>
        <p:spPr>
          <a:xfrm>
            <a:off x="640080" y="4139946"/>
            <a:ext cx="548640" cy="548640"/>
          </a:xfrm>
          <a:prstGeom prst="rect">
            <a:avLst/>
          </a:prstGeom>
          <a:noFill/>
          <a:ln/>
        </p:spPr>
        <p:txBody>
          <a:bodyPr wrap="square" lIns="0" tIns="0" rIns="0" bIns="0" rtlCol="0" anchor="ctr"/>
          <a:lstStyle/>
          <a:p>
            <a:pPr algn="ctr"/>
            <a:r>
              <a:rPr lang="en-US" sz="1900" b="1" dirty="0">
                <a:solidFill>
                  <a:srgbClr val="FFFFFF"/>
                </a:solidFill>
                <a:latin typeface="Calibri" pitchFamily="34" charset="0"/>
                <a:ea typeface="Calibri" pitchFamily="34" charset="-122"/>
                <a:cs typeface="Calibri" pitchFamily="34" charset="-120"/>
              </a:rPr>
              <a:t>3</a:t>
            </a:r>
            <a:endParaRPr lang="en-US" sz="1900" dirty="0"/>
          </a:p>
        </p:txBody>
      </p:sp>
      <p:sp>
        <p:nvSpPr>
          <p:cNvPr id="16" name="Shape 14"/>
          <p:cNvSpPr/>
          <p:nvPr/>
        </p:nvSpPr>
        <p:spPr>
          <a:xfrm>
            <a:off x="914400" y="4688586"/>
            <a:ext cx="0" cy="201168"/>
          </a:xfrm>
          <a:prstGeom prst="line">
            <a:avLst/>
          </a:prstGeom>
          <a:noFill/>
          <a:ln w="19050">
            <a:solidFill>
              <a:srgbClr val="CBD5E1"/>
            </a:solidFill>
            <a:prstDash val="solid"/>
          </a:ln>
        </p:spPr>
        <p:txBody>
          <a:bodyPr/>
          <a:lstStyle/>
          <a:p>
            <a:endParaRPr lang="de-DE"/>
          </a:p>
        </p:txBody>
      </p:sp>
      <p:sp>
        <p:nvSpPr>
          <p:cNvPr id="17" name="Text 15"/>
          <p:cNvSpPr/>
          <p:nvPr/>
        </p:nvSpPr>
        <p:spPr>
          <a:xfrm>
            <a:off x="1417320" y="4121658"/>
            <a:ext cx="7223760" cy="585216"/>
          </a:xfrm>
          <a:prstGeom prst="rect">
            <a:avLst/>
          </a:prstGeom>
          <a:noFill/>
          <a:ln/>
        </p:spPr>
        <p:txBody>
          <a:bodyPr wrap="square" lIns="0" tIns="0" rIns="0" bIns="0" rtlCol="0" anchor="ctr"/>
          <a:lstStyle/>
          <a:p>
            <a:pPr>
              <a:lnSpc>
                <a:spcPct val="100000"/>
              </a:lnSpc>
            </a:pPr>
            <a:r>
              <a:rPr lang="en-US" sz="1550" b="1" dirty="0">
                <a:solidFill>
                  <a:srgbClr val="1E293B"/>
                </a:solidFill>
                <a:latin typeface="Calibri" pitchFamily="34" charset="0"/>
                <a:ea typeface="Calibri" pitchFamily="34" charset="-122"/>
                <a:cs typeface="Calibri" pitchFamily="34" charset="-120"/>
              </a:rPr>
              <a:t>Commit lowest force   </a:t>
            </a:r>
            <a:r>
              <a:rPr lang="en-US" sz="1300" dirty="0">
                <a:solidFill>
                  <a:srgbClr val="64748B"/>
                </a:solidFill>
                <a:latin typeface="Calibri" pitchFamily="34" charset="0"/>
                <a:ea typeface="Calibri" pitchFamily="34" charset="-122"/>
                <a:cs typeface="Calibri" pitchFamily="34" charset="-120"/>
              </a:rPr>
              <a:t>Fix the single best (op, step) pair — irrevocably.</a:t>
            </a:r>
            <a:endParaRPr lang="en-US" sz="1550" dirty="0"/>
          </a:p>
        </p:txBody>
      </p:sp>
      <p:sp>
        <p:nvSpPr>
          <p:cNvPr id="18" name="Shape 16"/>
          <p:cNvSpPr/>
          <p:nvPr/>
        </p:nvSpPr>
        <p:spPr>
          <a:xfrm>
            <a:off x="640080" y="4889754"/>
            <a:ext cx="548640" cy="548640"/>
          </a:xfrm>
          <a:prstGeom prst="ellipse">
            <a:avLst/>
          </a:prstGeom>
          <a:solidFill>
            <a:srgbClr val="1C7293"/>
          </a:solidFill>
          <a:ln/>
          <a:effectLst>
            <a:outerShdw blurRad="88900" dist="38100" dir="5400000" algn="bl" rotWithShape="0">
              <a:srgbClr val="8A9BB0">
                <a:alpha val="28000"/>
              </a:srgbClr>
            </a:outerShdw>
          </a:effectLst>
        </p:spPr>
        <p:txBody>
          <a:bodyPr/>
          <a:lstStyle/>
          <a:p>
            <a:endParaRPr lang="de-DE"/>
          </a:p>
        </p:txBody>
      </p:sp>
      <p:sp>
        <p:nvSpPr>
          <p:cNvPr id="19" name="Text 17"/>
          <p:cNvSpPr/>
          <p:nvPr/>
        </p:nvSpPr>
        <p:spPr>
          <a:xfrm>
            <a:off x="640080" y="4889754"/>
            <a:ext cx="548640" cy="548640"/>
          </a:xfrm>
          <a:prstGeom prst="rect">
            <a:avLst/>
          </a:prstGeom>
          <a:noFill/>
          <a:ln/>
        </p:spPr>
        <p:txBody>
          <a:bodyPr wrap="square" lIns="0" tIns="0" rIns="0" bIns="0" rtlCol="0" anchor="ctr"/>
          <a:lstStyle/>
          <a:p>
            <a:pPr algn="ctr"/>
            <a:r>
              <a:rPr lang="en-US" sz="1900" b="1" dirty="0">
                <a:solidFill>
                  <a:srgbClr val="FFFFFF"/>
                </a:solidFill>
                <a:latin typeface="Calibri" pitchFamily="34" charset="0"/>
                <a:ea typeface="Calibri" pitchFamily="34" charset="-122"/>
                <a:cs typeface="Calibri" pitchFamily="34" charset="-120"/>
              </a:rPr>
              <a:t>4</a:t>
            </a:r>
            <a:endParaRPr lang="en-US" sz="1900" dirty="0"/>
          </a:p>
        </p:txBody>
      </p:sp>
      <p:sp>
        <p:nvSpPr>
          <p:cNvPr id="20" name="Text 18"/>
          <p:cNvSpPr/>
          <p:nvPr/>
        </p:nvSpPr>
        <p:spPr>
          <a:xfrm>
            <a:off x="1417320" y="4871466"/>
            <a:ext cx="7223760" cy="585216"/>
          </a:xfrm>
          <a:prstGeom prst="rect">
            <a:avLst/>
          </a:prstGeom>
          <a:noFill/>
          <a:ln/>
        </p:spPr>
        <p:txBody>
          <a:bodyPr wrap="square" lIns="0" tIns="0" rIns="0" bIns="0" rtlCol="0" anchor="ctr"/>
          <a:lstStyle/>
          <a:p>
            <a:pPr>
              <a:lnSpc>
                <a:spcPct val="100000"/>
              </a:lnSpc>
            </a:pPr>
            <a:r>
              <a:rPr lang="en-US" sz="1550" b="1" dirty="0">
                <a:solidFill>
                  <a:srgbClr val="1E293B"/>
                </a:solidFill>
                <a:latin typeface="Calibri" pitchFamily="34" charset="0"/>
                <a:ea typeface="Calibri" pitchFamily="34" charset="-122"/>
                <a:cs typeface="Calibri" pitchFamily="34" charset="-120"/>
              </a:rPr>
              <a:t>Repeat   </a:t>
            </a:r>
            <a:r>
              <a:rPr lang="en-US" sz="1300" dirty="0">
                <a:solidFill>
                  <a:srgbClr val="64748B"/>
                </a:solidFill>
                <a:latin typeface="Calibri" pitchFamily="34" charset="0"/>
                <a:ea typeface="Calibri" pitchFamily="34" charset="-122"/>
                <a:cs typeface="Calibri" pitchFamily="34" charset="-120"/>
              </a:rPr>
              <a:t>Tighten neighbours' frames; loop until all ops are scheduled.</a:t>
            </a:r>
            <a:endParaRPr lang="en-US" sz="1550" dirty="0"/>
          </a:p>
        </p:txBody>
      </p:sp>
      <p:sp>
        <p:nvSpPr>
          <p:cNvPr id="21" name="Text 19"/>
          <p:cNvSpPr/>
          <p:nvPr/>
        </p:nvSpPr>
        <p:spPr>
          <a:xfrm>
            <a:off x="640080" y="5593842"/>
            <a:ext cx="8046720" cy="320040"/>
          </a:xfrm>
          <a:prstGeom prst="rect">
            <a:avLst/>
          </a:prstGeom>
          <a:noFill/>
          <a:ln/>
        </p:spPr>
        <p:txBody>
          <a:bodyPr wrap="square" lIns="0" tIns="0" rIns="0" bIns="0" rtlCol="0" anchor="ctr"/>
          <a:lstStyle/>
          <a:p>
            <a:r>
              <a:rPr lang="en-US" sz="1200" i="1" dirty="0">
                <a:solidFill>
                  <a:srgbClr val="64748B"/>
                </a:solidFill>
                <a:latin typeface="Calibri" pitchFamily="34" charset="0"/>
                <a:ea typeface="Calibri" pitchFamily="34" charset="-122"/>
                <a:cs typeface="Calibri" pitchFamily="34" charset="-120"/>
              </a:rPr>
              <a:t>Greedy at the outer level — but each decision is informed by the global distribution, not just the current step.</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8927F3A-29FC-FF4B-756A-B9D5C26A654F}"/>
              </a:ext>
            </a:extLst>
          </p:cNvPr>
          <p:cNvSpPr>
            <a:spLocks noGrp="1"/>
          </p:cNvSpPr>
          <p:nvPr>
            <p:ph type="ftr" sz="quarter" idx="10"/>
          </p:nvPr>
        </p:nvSpPr>
        <p:spPr/>
        <p:txBody>
          <a:bodyPr/>
          <a:lstStyle/>
          <a:p>
            <a:pPr>
              <a:defRPr/>
            </a:pPr>
            <a:r>
              <a:rPr lang="de-DE"/>
              <a:t>Prof. Dr. Achim Rettberg – University of Applied Sciences Hamm-Lippstadt</a:t>
            </a:r>
            <a:endParaRPr lang="de-DE" dirty="0"/>
          </a:p>
        </p:txBody>
      </p:sp>
      <p:sp>
        <p:nvSpPr>
          <p:cNvPr id="3" name="Date Placeholder 2">
            <a:extLst>
              <a:ext uri="{FF2B5EF4-FFF2-40B4-BE49-F238E27FC236}">
                <a16:creationId xmlns:a16="http://schemas.microsoft.com/office/drawing/2014/main" id="{1467CE52-81A8-DC46-5C7A-C7B1B0CECDB4}"/>
              </a:ext>
            </a:extLst>
          </p:cNvPr>
          <p:cNvSpPr>
            <a:spLocks noGrp="1"/>
          </p:cNvSpPr>
          <p:nvPr>
            <p:ph type="dt" sz="half" idx="12"/>
          </p:nvPr>
        </p:nvSpPr>
        <p:spPr/>
        <p:txBody>
          <a:bodyPr/>
          <a:lstStyle/>
          <a:p>
            <a:pPr>
              <a:defRPr/>
            </a:pPr>
            <a:fld id="{8171E94B-46F9-304A-8F0C-ACC28ECEDCF5}" type="datetime1">
              <a:rPr lang="de-DE" smtClean="0"/>
              <a:t>14.06.2026</a:t>
            </a:fld>
            <a:endParaRPr lang="de-DE"/>
          </a:p>
        </p:txBody>
      </p:sp>
      <p:sp>
        <p:nvSpPr>
          <p:cNvPr id="4" name="Slide Number Placeholder 3">
            <a:extLst>
              <a:ext uri="{FF2B5EF4-FFF2-40B4-BE49-F238E27FC236}">
                <a16:creationId xmlns:a16="http://schemas.microsoft.com/office/drawing/2014/main" id="{19569E2D-3FB8-81F3-C256-D8D30561A1C0}"/>
              </a:ext>
            </a:extLst>
          </p:cNvPr>
          <p:cNvSpPr>
            <a:spLocks noGrp="1"/>
          </p:cNvSpPr>
          <p:nvPr>
            <p:ph type="sldNum" sz="quarter" idx="4"/>
          </p:nvPr>
        </p:nvSpPr>
        <p:spPr/>
        <p:txBody>
          <a:bodyPr/>
          <a:lstStyle/>
          <a:p>
            <a:pPr>
              <a:defRPr/>
            </a:pPr>
            <a:r>
              <a:rPr lang="de-DE"/>
              <a:t>&lt; </a:t>
            </a:r>
            <a:fld id="{1A61C92B-C297-4AC9-B551-2D8A658A0122}" type="slidenum">
              <a:rPr lang="de-DE" smtClean="0"/>
              <a:pPr>
                <a:defRPr/>
              </a:pPr>
              <a:t>8</a:t>
            </a:fld>
            <a:r>
              <a:rPr lang="de-DE"/>
              <a:t> &gt;</a:t>
            </a:r>
            <a:endParaRPr lang="de-DE" dirty="0"/>
          </a:p>
        </p:txBody>
      </p:sp>
      <p:sp>
        <p:nvSpPr>
          <p:cNvPr id="5" name="Shape 0">
            <a:extLst>
              <a:ext uri="{FF2B5EF4-FFF2-40B4-BE49-F238E27FC236}">
                <a16:creationId xmlns:a16="http://schemas.microsoft.com/office/drawing/2014/main" id="{F3147E79-83FF-FE9E-6A09-F9FBD9C32D63}"/>
              </a:ext>
            </a:extLst>
          </p:cNvPr>
          <p:cNvSpPr/>
          <p:nvPr/>
        </p:nvSpPr>
        <p:spPr>
          <a:xfrm>
            <a:off x="457200" y="384048"/>
            <a:ext cx="402336" cy="402336"/>
          </a:xfrm>
          <a:prstGeom prst="ellipse">
            <a:avLst/>
          </a:prstGeom>
          <a:solidFill>
            <a:srgbClr val="1C7293"/>
          </a:solidFill>
          <a:ln/>
        </p:spPr>
        <p:txBody>
          <a:bodyPr/>
          <a:lstStyle/>
          <a:p>
            <a:endParaRPr lang="de-DE"/>
          </a:p>
        </p:txBody>
      </p:sp>
      <p:sp>
        <p:nvSpPr>
          <p:cNvPr id="6" name="Text 1">
            <a:extLst>
              <a:ext uri="{FF2B5EF4-FFF2-40B4-BE49-F238E27FC236}">
                <a16:creationId xmlns:a16="http://schemas.microsoft.com/office/drawing/2014/main" id="{FB726480-5DB1-55B2-184C-4CFA2FDB8314}"/>
              </a:ext>
            </a:extLst>
          </p:cNvPr>
          <p:cNvSpPr/>
          <p:nvPr/>
        </p:nvSpPr>
        <p:spPr>
          <a:xfrm>
            <a:off x="457200" y="384048"/>
            <a:ext cx="402336"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7</a:t>
            </a:r>
            <a:endParaRPr lang="en-US" sz="1600" dirty="0"/>
          </a:p>
        </p:txBody>
      </p:sp>
      <p:sp>
        <p:nvSpPr>
          <p:cNvPr id="7" name="Text 2">
            <a:extLst>
              <a:ext uri="{FF2B5EF4-FFF2-40B4-BE49-F238E27FC236}">
                <a16:creationId xmlns:a16="http://schemas.microsoft.com/office/drawing/2014/main" id="{772427F9-9BDB-5B7F-B204-4027B2615F0B}"/>
              </a:ext>
            </a:extLst>
          </p:cNvPr>
          <p:cNvSpPr/>
          <p:nvPr/>
        </p:nvSpPr>
        <p:spPr>
          <a:xfrm>
            <a:off x="969264" y="411480"/>
            <a:ext cx="7680960" cy="292608"/>
          </a:xfrm>
          <a:prstGeom prst="rect">
            <a:avLst/>
          </a:prstGeom>
          <a:noFill/>
          <a:ln/>
        </p:spPr>
        <p:txBody>
          <a:bodyPr wrap="square" lIns="0" tIns="0" rIns="0" bIns="0" rtlCol="0" anchor="ctr"/>
          <a:lstStyle/>
          <a:p>
            <a:pPr marL="0" indent="0">
              <a:buNone/>
            </a:pPr>
            <a:r>
              <a:rPr lang="en-US" sz="1100" b="1" kern="0" spc="200" dirty="0">
                <a:solidFill>
                  <a:srgbClr val="1C7293"/>
                </a:solidFill>
                <a:latin typeface="Calibri" pitchFamily="34" charset="0"/>
                <a:ea typeface="Calibri" pitchFamily="34" charset="-122"/>
                <a:cs typeface="Calibri" pitchFamily="34" charset="-120"/>
              </a:rPr>
              <a:t>WORKED EXAMPLE — RESULT</a:t>
            </a:r>
            <a:endParaRPr lang="en-US" sz="1100" dirty="0"/>
          </a:p>
        </p:txBody>
      </p:sp>
      <p:sp>
        <p:nvSpPr>
          <p:cNvPr id="8" name="Text 3">
            <a:extLst>
              <a:ext uri="{FF2B5EF4-FFF2-40B4-BE49-F238E27FC236}">
                <a16:creationId xmlns:a16="http://schemas.microsoft.com/office/drawing/2014/main" id="{B581B02D-7105-F209-2C32-A01FE4A06249}"/>
              </a:ext>
            </a:extLst>
          </p:cNvPr>
          <p:cNvSpPr/>
          <p:nvPr/>
        </p:nvSpPr>
        <p:spPr>
          <a:xfrm>
            <a:off x="457200" y="841248"/>
            <a:ext cx="8229600" cy="566928"/>
          </a:xfrm>
          <a:prstGeom prst="rect">
            <a:avLst/>
          </a:prstGeom>
          <a:noFill/>
          <a:ln/>
        </p:spPr>
        <p:txBody>
          <a:bodyPr wrap="square" lIns="0" tIns="0" rIns="0" bIns="0" rtlCol="0" anchor="ctr"/>
          <a:lstStyle/>
          <a:p>
            <a:pPr marL="0" indent="0">
              <a:buNone/>
            </a:pPr>
            <a:r>
              <a:rPr lang="en-US" sz="2700" b="1" dirty="0">
                <a:solidFill>
                  <a:srgbClr val="12273F"/>
                </a:solidFill>
                <a:latin typeface="Cambria" pitchFamily="34" charset="0"/>
                <a:ea typeface="Cambria" pitchFamily="34" charset="-122"/>
                <a:cs typeface="Cambria" pitchFamily="34" charset="-120"/>
              </a:rPr>
              <a:t>The peak collapses, the latency holds</a:t>
            </a:r>
            <a:endParaRPr lang="en-US" sz="2700" dirty="0"/>
          </a:p>
        </p:txBody>
      </p:sp>
      <p:graphicFrame>
        <p:nvGraphicFramePr>
          <p:cNvPr id="9" name="Chart 0">
            <a:extLst>
              <a:ext uri="{FF2B5EF4-FFF2-40B4-BE49-F238E27FC236}">
                <a16:creationId xmlns:a16="http://schemas.microsoft.com/office/drawing/2014/main" id="{5D52304A-73E4-330C-A283-226885ADD35B}"/>
              </a:ext>
            </a:extLst>
          </p:cNvPr>
          <p:cNvGraphicFramePr/>
          <p:nvPr/>
        </p:nvGraphicFramePr>
        <p:xfrm>
          <a:off x="640080" y="1828800"/>
          <a:ext cx="5029200" cy="2971800"/>
        </p:xfrm>
        <a:graphic>
          <a:graphicData uri="http://schemas.openxmlformats.org/drawingml/2006/chart">
            <c:chart xmlns:c="http://schemas.openxmlformats.org/drawingml/2006/chart" xmlns:r="http://schemas.openxmlformats.org/officeDocument/2006/relationships" r:id="rId2"/>
          </a:graphicData>
        </a:graphic>
      </p:graphicFrame>
      <p:sp>
        <p:nvSpPr>
          <p:cNvPr id="10" name="Shape 4">
            <a:extLst>
              <a:ext uri="{FF2B5EF4-FFF2-40B4-BE49-F238E27FC236}">
                <a16:creationId xmlns:a16="http://schemas.microsoft.com/office/drawing/2014/main" id="{3DADD44C-7D0F-5801-2541-761EFB227DDD}"/>
              </a:ext>
            </a:extLst>
          </p:cNvPr>
          <p:cNvSpPr/>
          <p:nvPr/>
        </p:nvSpPr>
        <p:spPr>
          <a:xfrm>
            <a:off x="5943600" y="1828800"/>
            <a:ext cx="2743200" cy="1417320"/>
          </a:xfrm>
          <a:prstGeom prst="roundRect">
            <a:avLst>
              <a:gd name="adj" fmla="val 5161"/>
            </a:avLst>
          </a:prstGeom>
          <a:solidFill>
            <a:srgbClr val="12273F"/>
          </a:solidFill>
          <a:ln/>
          <a:effectLst>
            <a:outerShdw blurRad="114300" dist="38100" dir="5400000" algn="bl" rotWithShape="0">
              <a:srgbClr val="94A3B8">
                <a:alpha val="30000"/>
              </a:srgbClr>
            </a:outerShdw>
          </a:effectLst>
        </p:spPr>
        <p:txBody>
          <a:bodyPr/>
          <a:lstStyle/>
          <a:p>
            <a:endParaRPr lang="de-DE"/>
          </a:p>
        </p:txBody>
      </p:sp>
      <p:sp>
        <p:nvSpPr>
          <p:cNvPr id="11" name="Text 5">
            <a:extLst>
              <a:ext uri="{FF2B5EF4-FFF2-40B4-BE49-F238E27FC236}">
                <a16:creationId xmlns:a16="http://schemas.microsoft.com/office/drawing/2014/main" id="{8BD675E4-568D-A7EE-FB64-AEF1305C39A5}"/>
              </a:ext>
            </a:extLst>
          </p:cNvPr>
          <p:cNvSpPr/>
          <p:nvPr/>
        </p:nvSpPr>
        <p:spPr>
          <a:xfrm>
            <a:off x="5943600" y="1920240"/>
            <a:ext cx="2743200" cy="1234440"/>
          </a:xfrm>
          <a:prstGeom prst="rect">
            <a:avLst/>
          </a:prstGeom>
          <a:noFill/>
          <a:ln/>
        </p:spPr>
        <p:txBody>
          <a:bodyPr wrap="square" lIns="0" tIns="0" rIns="0" bIns="0" rtlCol="0" anchor="ctr"/>
          <a:lstStyle/>
          <a:p>
            <a:pPr marL="0" indent="0" algn="ctr">
              <a:buNone/>
            </a:pPr>
            <a:r>
              <a:rPr lang="en-US" sz="4000" b="1" dirty="0">
                <a:solidFill>
                  <a:srgbClr val="FFFFFF"/>
                </a:solidFill>
                <a:latin typeface="Cambria" pitchFamily="34" charset="0"/>
                <a:ea typeface="Cambria" pitchFamily="34" charset="-122"/>
                <a:cs typeface="Cambria" pitchFamily="34" charset="-120"/>
              </a:rPr>
              <a:t>3 → 1</a:t>
            </a:r>
            <a:endParaRPr lang="en-US" sz="4000" dirty="0"/>
          </a:p>
          <a:p>
            <a:pPr marL="0" indent="0" algn="ctr">
              <a:buNone/>
            </a:pPr>
            <a:r>
              <a:rPr lang="en-US" sz="1250" dirty="0">
                <a:solidFill>
                  <a:srgbClr val="9FC1D6"/>
                </a:solidFill>
                <a:latin typeface="Cambria" pitchFamily="34" charset="0"/>
                <a:ea typeface="Cambria" pitchFamily="34" charset="-122"/>
                <a:cs typeface="Cambria" pitchFamily="34" charset="-120"/>
              </a:rPr>
              <a:t>multipliers, same λ = 4</a:t>
            </a:r>
            <a:endParaRPr lang="en-US" sz="4000" dirty="0"/>
          </a:p>
        </p:txBody>
      </p:sp>
      <p:sp>
        <p:nvSpPr>
          <p:cNvPr id="12" name="Shape 6">
            <a:extLst>
              <a:ext uri="{FF2B5EF4-FFF2-40B4-BE49-F238E27FC236}">
                <a16:creationId xmlns:a16="http://schemas.microsoft.com/office/drawing/2014/main" id="{934CFDE2-1FA8-9BA5-3B45-B5761A7F76C0}"/>
              </a:ext>
            </a:extLst>
          </p:cNvPr>
          <p:cNvSpPr/>
          <p:nvPr/>
        </p:nvSpPr>
        <p:spPr>
          <a:xfrm>
            <a:off x="5943600" y="3429000"/>
            <a:ext cx="2743200" cy="1371600"/>
          </a:xfrm>
          <a:prstGeom prst="roundRect">
            <a:avLst>
              <a:gd name="adj" fmla="val 4667"/>
            </a:avLst>
          </a:prstGeom>
          <a:solidFill>
            <a:srgbClr val="E6EEF3"/>
          </a:solidFill>
          <a:ln w="12700">
            <a:solidFill>
              <a:srgbClr val="1C7293"/>
            </a:solidFill>
            <a:prstDash val="solid"/>
          </a:ln>
          <a:effectLst>
            <a:outerShdw blurRad="114300" dist="38100" dir="5400000" algn="bl" rotWithShape="0">
              <a:srgbClr val="94A3B8">
                <a:alpha val="30000"/>
              </a:srgbClr>
            </a:outerShdw>
          </a:effectLst>
        </p:spPr>
        <p:txBody>
          <a:bodyPr/>
          <a:lstStyle/>
          <a:p>
            <a:endParaRPr lang="de-DE"/>
          </a:p>
        </p:txBody>
      </p:sp>
      <p:sp>
        <p:nvSpPr>
          <p:cNvPr id="13" name="Text 7">
            <a:extLst>
              <a:ext uri="{FF2B5EF4-FFF2-40B4-BE49-F238E27FC236}">
                <a16:creationId xmlns:a16="http://schemas.microsoft.com/office/drawing/2014/main" id="{16DFD06C-C462-52C7-85F1-86C49FE4E835}"/>
              </a:ext>
            </a:extLst>
          </p:cNvPr>
          <p:cNvSpPr/>
          <p:nvPr/>
        </p:nvSpPr>
        <p:spPr>
          <a:xfrm>
            <a:off x="6126480" y="3566160"/>
            <a:ext cx="2423160" cy="1143000"/>
          </a:xfrm>
          <a:prstGeom prst="rect">
            <a:avLst/>
          </a:prstGeom>
          <a:noFill/>
          <a:ln/>
        </p:spPr>
        <p:txBody>
          <a:bodyPr wrap="square" lIns="0" tIns="0" rIns="0" bIns="0" rtlCol="0" anchor="ctr"/>
          <a:lstStyle/>
          <a:p>
            <a:pPr marL="0" indent="0">
              <a:lnSpc>
                <a:spcPct val="115000"/>
              </a:lnSpc>
              <a:buNone/>
            </a:pPr>
            <a:r>
              <a:rPr lang="en-US" sz="1300" b="1" dirty="0">
                <a:solidFill>
                  <a:srgbClr val="1C7293"/>
                </a:solidFill>
                <a:latin typeface="Calibri" pitchFamily="34" charset="0"/>
                <a:ea typeface="Calibri" pitchFamily="34" charset="-122"/>
                <a:cs typeface="Calibri" pitchFamily="34" charset="-120"/>
              </a:rPr>
              <a:t>FDS schedule
</a:t>
            </a:r>
            <a:endParaRPr lang="en-US" sz="1300" dirty="0"/>
          </a:p>
          <a:p>
            <a:pPr marL="0" indent="0">
              <a:lnSpc>
                <a:spcPct val="115000"/>
              </a:lnSpc>
              <a:buNone/>
            </a:pPr>
            <a:r>
              <a:rPr lang="en-US" sz="1250" dirty="0">
                <a:solidFill>
                  <a:srgbClr val="1E293B"/>
                </a:solidFill>
                <a:latin typeface="Courier New" pitchFamily="34" charset="0"/>
                <a:ea typeface="Courier New" pitchFamily="34" charset="-122"/>
                <a:cs typeface="Courier New" pitchFamily="34" charset="-120"/>
              </a:rPr>
              <a:t>s1: v2×   s2: v1×</a:t>
            </a:r>
            <a:endParaRPr lang="en-US" sz="1300" dirty="0"/>
          </a:p>
          <a:p>
            <a:pPr marL="0" indent="0">
              <a:lnSpc>
                <a:spcPct val="115000"/>
              </a:lnSpc>
              <a:buNone/>
            </a:pPr>
            <a:r>
              <a:rPr lang="en-US" sz="1250" dirty="0">
                <a:solidFill>
                  <a:srgbClr val="1E293B"/>
                </a:solidFill>
                <a:latin typeface="Courier New" pitchFamily="34" charset="0"/>
                <a:ea typeface="Courier New" pitchFamily="34" charset="-122"/>
                <a:cs typeface="Courier New" pitchFamily="34" charset="-120"/>
              </a:rPr>
              <a:t>s3: v3× , v4+   s4: v5+</a:t>
            </a:r>
            <a:endParaRPr lang="en-US" sz="1300" dirty="0"/>
          </a:p>
        </p:txBody>
      </p:sp>
    </p:spTree>
    <p:extLst>
      <p:ext uri="{BB962C8B-B14F-4D97-AF65-F5344CB8AC3E}">
        <p14:creationId xmlns:p14="http://schemas.microsoft.com/office/powerpoint/2010/main" val="37181317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457200" y="1241298"/>
            <a:ext cx="402336" cy="402336"/>
          </a:xfrm>
          <a:prstGeom prst="ellipse">
            <a:avLst/>
          </a:prstGeom>
          <a:solidFill>
            <a:srgbClr val="1C7293"/>
          </a:solidFill>
          <a:ln/>
        </p:spPr>
        <p:txBody>
          <a:bodyPr/>
          <a:lstStyle/>
          <a:p>
            <a:endParaRPr lang="de-DE"/>
          </a:p>
        </p:txBody>
      </p:sp>
      <p:sp>
        <p:nvSpPr>
          <p:cNvPr id="3" name="Text 1"/>
          <p:cNvSpPr/>
          <p:nvPr/>
        </p:nvSpPr>
        <p:spPr>
          <a:xfrm>
            <a:off x="457200" y="1241298"/>
            <a:ext cx="402336" cy="402336"/>
          </a:xfrm>
          <a:prstGeom prst="rect">
            <a:avLst/>
          </a:prstGeom>
          <a:noFill/>
          <a:ln/>
        </p:spPr>
        <p:txBody>
          <a:bodyPr wrap="square" lIns="0" tIns="0" rIns="0" bIns="0" rtlCol="0" anchor="ctr"/>
          <a:lstStyle/>
          <a:p>
            <a:pPr algn="ctr"/>
            <a:r>
              <a:rPr lang="en-US" b="1" dirty="0">
                <a:solidFill>
                  <a:srgbClr val="FFFFFF"/>
                </a:solidFill>
                <a:latin typeface="Calibri" pitchFamily="34" charset="0"/>
                <a:ea typeface="Calibri" pitchFamily="34" charset="-122"/>
                <a:cs typeface="Calibri" pitchFamily="34" charset="-120"/>
              </a:rPr>
              <a:t>8</a:t>
            </a:r>
            <a:endParaRPr lang="en-US" dirty="0"/>
          </a:p>
        </p:txBody>
      </p:sp>
      <p:sp>
        <p:nvSpPr>
          <p:cNvPr id="4" name="Text 2"/>
          <p:cNvSpPr/>
          <p:nvPr/>
        </p:nvSpPr>
        <p:spPr>
          <a:xfrm>
            <a:off x="969264" y="1268730"/>
            <a:ext cx="7680960" cy="292608"/>
          </a:xfrm>
          <a:prstGeom prst="rect">
            <a:avLst/>
          </a:prstGeom>
          <a:noFill/>
          <a:ln/>
        </p:spPr>
        <p:txBody>
          <a:bodyPr wrap="square" lIns="0" tIns="0" rIns="0" bIns="0" rtlCol="0" anchor="ctr"/>
          <a:lstStyle/>
          <a:p>
            <a:r>
              <a:rPr lang="en-US" sz="1100" b="1" kern="0" spc="200" dirty="0">
                <a:solidFill>
                  <a:srgbClr val="1C7293"/>
                </a:solidFill>
                <a:latin typeface="Calibri" pitchFamily="34" charset="0"/>
                <a:ea typeface="Calibri" pitchFamily="34" charset="-122"/>
                <a:cs typeface="Calibri" pitchFamily="34" charset="-120"/>
              </a:rPr>
              <a:t>IMPLEMENTATION IN C++</a:t>
            </a:r>
            <a:endParaRPr lang="en-US" sz="1100" dirty="0"/>
          </a:p>
        </p:txBody>
      </p:sp>
      <p:sp>
        <p:nvSpPr>
          <p:cNvPr id="5" name="Text 3"/>
          <p:cNvSpPr/>
          <p:nvPr/>
        </p:nvSpPr>
        <p:spPr>
          <a:xfrm>
            <a:off x="457200" y="1698498"/>
            <a:ext cx="8229600" cy="566928"/>
          </a:xfrm>
          <a:prstGeom prst="rect">
            <a:avLst/>
          </a:prstGeom>
          <a:noFill/>
          <a:ln/>
        </p:spPr>
        <p:txBody>
          <a:bodyPr wrap="square" lIns="0" tIns="0" rIns="0" bIns="0" rtlCol="0" anchor="ctr"/>
          <a:lstStyle/>
          <a:p>
            <a:r>
              <a:rPr lang="en-US" sz="2700" b="1" dirty="0">
                <a:solidFill>
                  <a:srgbClr val="12273F"/>
                </a:solidFill>
                <a:latin typeface="Cambria" pitchFamily="34" charset="0"/>
                <a:ea typeface="Cambria" pitchFamily="34" charset="-122"/>
                <a:cs typeface="Cambria" pitchFamily="34" charset="-120"/>
              </a:rPr>
              <a:t>The main feature: total-force evaluation</a:t>
            </a:r>
            <a:endParaRPr lang="en-US" sz="2700" dirty="0"/>
          </a:p>
        </p:txBody>
      </p:sp>
      <p:sp>
        <p:nvSpPr>
          <p:cNvPr id="6" name="Shape 4"/>
          <p:cNvSpPr/>
          <p:nvPr/>
        </p:nvSpPr>
        <p:spPr>
          <a:xfrm>
            <a:off x="548640" y="2457450"/>
            <a:ext cx="5074920" cy="3200400"/>
          </a:xfrm>
          <a:prstGeom prst="roundRect">
            <a:avLst>
              <a:gd name="adj" fmla="val 1429"/>
            </a:avLst>
          </a:prstGeom>
          <a:solidFill>
            <a:srgbClr val="12273F"/>
          </a:solidFill>
          <a:ln/>
          <a:effectLst>
            <a:outerShdw blurRad="114300" dist="38100" dir="5400000" algn="bl" rotWithShape="0">
              <a:srgbClr val="94A3B8">
                <a:alpha val="30000"/>
              </a:srgbClr>
            </a:outerShdw>
          </a:effectLst>
        </p:spPr>
        <p:txBody>
          <a:bodyPr/>
          <a:lstStyle/>
          <a:p>
            <a:endParaRPr lang="de-DE"/>
          </a:p>
        </p:txBody>
      </p:sp>
      <p:sp>
        <p:nvSpPr>
          <p:cNvPr id="7" name="Text 5"/>
          <p:cNvSpPr/>
          <p:nvPr/>
        </p:nvSpPr>
        <p:spPr>
          <a:xfrm>
            <a:off x="713232" y="2612898"/>
            <a:ext cx="4800600" cy="2926080"/>
          </a:xfrm>
          <a:prstGeom prst="rect">
            <a:avLst/>
          </a:prstGeom>
          <a:noFill/>
          <a:ln/>
        </p:spPr>
        <p:txBody>
          <a:bodyPr wrap="square" lIns="0" tIns="0" rIns="0" bIns="0" rtlCol="0" anchor="t"/>
          <a:lstStyle/>
          <a:p>
            <a:pPr>
              <a:lnSpc>
                <a:spcPct val="104000"/>
              </a:lnSpc>
            </a:pPr>
            <a:r>
              <a:rPr lang="en-US" sz="1050" dirty="0">
                <a:solidFill>
                  <a:srgbClr val="E2E8F0"/>
                </a:solidFill>
                <a:latin typeface="Courier New" pitchFamily="34" charset="0"/>
                <a:ea typeface="Courier New" pitchFamily="34" charset="-122"/>
                <a:cs typeface="Courier New" pitchFamily="34" charset="-120"/>
              </a:rPr>
              <a:t>double force(const Problem&amp; p,</a:t>
            </a:r>
            <a:endParaRPr lang="en-US" sz="1050" dirty="0"/>
          </a:p>
          <a:p>
            <a:pPr>
              <a:lnSpc>
                <a:spcPct val="104000"/>
              </a:lnSpc>
            </a:pPr>
            <a:r>
              <a:rPr lang="en-US" sz="1050" dirty="0">
                <a:solidFill>
                  <a:srgbClr val="E2E8F0"/>
                </a:solidFill>
                <a:latin typeface="Courier New" pitchFamily="34" charset="0"/>
                <a:ea typeface="Courier New" pitchFamily="34" charset="-122"/>
                <a:cs typeface="Courier New" pitchFamily="34" charset="-120"/>
              </a:rPr>
              <a:t>             const vector&lt;int&gt;&amp; fixed,</a:t>
            </a:r>
            <a:endParaRPr lang="en-US" sz="1050" dirty="0"/>
          </a:p>
          <a:p>
            <a:pPr>
              <a:lnSpc>
                <a:spcPct val="104000"/>
              </a:lnSpc>
            </a:pPr>
            <a:r>
              <a:rPr lang="en-US" sz="1050" dirty="0">
                <a:solidFill>
                  <a:srgbClr val="E2E8F0"/>
                </a:solidFill>
                <a:latin typeface="Courier New" pitchFamily="34" charset="0"/>
                <a:ea typeface="Courier New" pitchFamily="34" charset="-122"/>
                <a:cs typeface="Courier New" pitchFamily="34" charset="-120"/>
              </a:rPr>
              <a:t>             int op, int step) {</a:t>
            </a:r>
            <a:endParaRPr lang="en-US" sz="1050" dirty="0"/>
          </a:p>
          <a:p>
            <a:pPr>
              <a:lnSpc>
                <a:spcPct val="104000"/>
              </a:lnSpc>
            </a:pPr>
            <a:r>
              <a:rPr lang="en-US" sz="1050" dirty="0">
                <a:solidFill>
                  <a:srgbClr val="E2E8F0"/>
                </a:solidFill>
                <a:latin typeface="Courier New" pitchFamily="34" charset="0"/>
                <a:ea typeface="Courier New" pitchFamily="34" charset="-122"/>
                <a:cs typeface="Courier New" pitchFamily="34" charset="-120"/>
              </a:rPr>
              <a:t>  Frames before = compute_frames(p, fixed);</a:t>
            </a:r>
            <a:endParaRPr lang="en-US" sz="1050" dirty="0"/>
          </a:p>
          <a:p>
            <a:pPr>
              <a:lnSpc>
                <a:spcPct val="104000"/>
              </a:lnSpc>
            </a:pPr>
            <a:r>
              <a:rPr lang="en-US" sz="1050" dirty="0">
                <a:solidFill>
                  <a:srgbClr val="E2E8F0"/>
                </a:solidFill>
                <a:latin typeface="Courier New" pitchFamily="34" charset="0"/>
                <a:ea typeface="Courier New" pitchFamily="34" charset="-122"/>
                <a:cs typeface="Courier New" pitchFamily="34" charset="-120"/>
              </a:rPr>
              <a:t>  auto dg = distribution_graph(p, before);</a:t>
            </a:r>
            <a:endParaRPr lang="en-US" sz="1050" dirty="0"/>
          </a:p>
          <a:p>
            <a:pPr>
              <a:lnSpc>
                <a:spcPct val="104000"/>
              </a:lnSpc>
            </a:pPr>
            <a:endParaRPr lang="en-US" sz="1050" dirty="0"/>
          </a:p>
          <a:p>
            <a:pPr>
              <a:lnSpc>
                <a:spcPct val="104000"/>
              </a:lnSpc>
            </a:pPr>
            <a:r>
              <a:rPr lang="en-US" sz="1050" dirty="0">
                <a:solidFill>
                  <a:srgbClr val="E2E8F0"/>
                </a:solidFill>
                <a:latin typeface="Courier New" pitchFamily="34" charset="0"/>
                <a:ea typeface="Courier New" pitchFamily="34" charset="-122"/>
                <a:cs typeface="Courier New" pitchFamily="34" charset="-120"/>
              </a:rPr>
              <a:t>  vector&lt;int&gt; trial = fixed;  trial[op] = step;</a:t>
            </a:r>
            <a:endParaRPr lang="en-US" sz="1050" dirty="0"/>
          </a:p>
          <a:p>
            <a:pPr>
              <a:lnSpc>
                <a:spcPct val="104000"/>
              </a:lnSpc>
            </a:pPr>
            <a:r>
              <a:rPr lang="en-US" sz="1050" dirty="0">
                <a:solidFill>
                  <a:srgbClr val="E2E8F0"/>
                </a:solidFill>
                <a:latin typeface="Courier New" pitchFamily="34" charset="0"/>
                <a:ea typeface="Courier New" pitchFamily="34" charset="-122"/>
                <a:cs typeface="Courier New" pitchFamily="34" charset="-120"/>
              </a:rPr>
              <a:t>  Frames after = compute_frames(p, trial);</a:t>
            </a:r>
            <a:endParaRPr lang="en-US" sz="1050" dirty="0"/>
          </a:p>
          <a:p>
            <a:pPr>
              <a:lnSpc>
                <a:spcPct val="104000"/>
              </a:lnSpc>
            </a:pPr>
            <a:endParaRPr lang="en-US" sz="1050" dirty="0"/>
          </a:p>
          <a:p>
            <a:pPr>
              <a:lnSpc>
                <a:spcPct val="104000"/>
              </a:lnSpc>
            </a:pPr>
            <a:r>
              <a:rPr lang="en-US" sz="1050" dirty="0">
                <a:solidFill>
                  <a:srgbClr val="E2E8F0"/>
                </a:solidFill>
                <a:latin typeface="Courier New" pitchFamily="34" charset="0"/>
                <a:ea typeface="Courier New" pitchFamily="34" charset="-122"/>
                <a:cs typeface="Courier New" pitchFamily="34" charset="-120"/>
              </a:rPr>
              <a:t>  double f = 0.0;</a:t>
            </a:r>
            <a:endParaRPr lang="en-US" sz="1050" dirty="0"/>
          </a:p>
          <a:p>
            <a:pPr>
              <a:lnSpc>
                <a:spcPct val="104000"/>
              </a:lnSpc>
            </a:pPr>
            <a:r>
              <a:rPr lang="en-US" sz="1050" dirty="0">
                <a:solidFill>
                  <a:srgbClr val="9FC1D6"/>
                </a:solidFill>
                <a:latin typeface="Courier New" pitchFamily="34" charset="0"/>
                <a:ea typeface="Courier New" pitchFamily="34" charset="-122"/>
                <a:cs typeface="Courier New" pitchFamily="34" charset="-120"/>
              </a:rPr>
              <a:t>  // sum over every op whose frame moved</a:t>
            </a:r>
            <a:endParaRPr lang="en-US" sz="1050" dirty="0"/>
          </a:p>
          <a:p>
            <a:pPr>
              <a:lnSpc>
                <a:spcPct val="104000"/>
              </a:lnSpc>
            </a:pPr>
            <a:r>
              <a:rPr lang="en-US" sz="1050" dirty="0">
                <a:solidFill>
                  <a:srgbClr val="E2E8F0"/>
                </a:solidFill>
                <a:latin typeface="Courier New" pitchFamily="34" charset="0"/>
                <a:ea typeface="Courier New" pitchFamily="34" charset="-122"/>
                <a:cs typeface="Courier New" pitchFamily="34" charset="-120"/>
              </a:rPr>
              <a:t>  for (each unscheduled u, and op)</a:t>
            </a:r>
            <a:endParaRPr lang="en-US" sz="1050" dirty="0"/>
          </a:p>
          <a:p>
            <a:pPr>
              <a:lnSpc>
                <a:spcPct val="104000"/>
              </a:lnSpc>
            </a:pPr>
            <a:r>
              <a:rPr lang="en-US" sz="1050" dirty="0">
                <a:solidFill>
                  <a:srgbClr val="E2E8F0"/>
                </a:solidFill>
                <a:latin typeface="Courier New" pitchFamily="34" charset="0"/>
                <a:ea typeface="Courier New" pitchFamily="34" charset="-122"/>
                <a:cs typeface="Courier New" pitchFamily="34" charset="-120"/>
              </a:rPr>
              <a:t>    for (int s = 1; s &lt;= L; ++s)</a:t>
            </a:r>
            <a:endParaRPr lang="en-US" sz="1050" dirty="0"/>
          </a:p>
          <a:p>
            <a:pPr>
              <a:lnSpc>
                <a:spcPct val="104000"/>
              </a:lnSpc>
            </a:pPr>
            <a:r>
              <a:rPr lang="en-US" sz="1050" dirty="0">
                <a:solidFill>
                  <a:srgbClr val="E2E8F0"/>
                </a:solidFill>
                <a:latin typeface="Courier New" pitchFamily="34" charset="0"/>
                <a:ea typeface="Courier New" pitchFamily="34" charset="-122"/>
                <a:cs typeface="Courier New" pitchFamily="34" charset="-120"/>
              </a:rPr>
              <a:t>      f += dg[type(u)][s]</a:t>
            </a:r>
            <a:endParaRPr lang="en-US" sz="1050" dirty="0"/>
          </a:p>
          <a:p>
            <a:pPr>
              <a:lnSpc>
                <a:spcPct val="104000"/>
              </a:lnSpc>
            </a:pPr>
            <a:r>
              <a:rPr lang="en-US" sz="1050" dirty="0">
                <a:solidFill>
                  <a:srgbClr val="E2E8F0"/>
                </a:solidFill>
                <a:latin typeface="Courier New" pitchFamily="34" charset="0"/>
                <a:ea typeface="Courier New" pitchFamily="34" charset="-122"/>
                <a:cs typeface="Courier New" pitchFamily="34" charset="-120"/>
              </a:rPr>
              <a:t>         * (P_after(u,s) - P_before(u,s));</a:t>
            </a:r>
            <a:endParaRPr lang="en-US" sz="1050" dirty="0"/>
          </a:p>
          <a:p>
            <a:pPr>
              <a:lnSpc>
                <a:spcPct val="104000"/>
              </a:lnSpc>
            </a:pPr>
            <a:r>
              <a:rPr lang="en-US" sz="1050" dirty="0">
                <a:solidFill>
                  <a:srgbClr val="9FC1D6"/>
                </a:solidFill>
                <a:latin typeface="Courier New" pitchFamily="34" charset="0"/>
                <a:ea typeface="Courier New" pitchFamily="34" charset="-122"/>
                <a:cs typeface="Courier New" pitchFamily="34" charset="-120"/>
              </a:rPr>
              <a:t>  return f;   // self + pred/succ force</a:t>
            </a:r>
            <a:endParaRPr lang="en-US" sz="1050" dirty="0"/>
          </a:p>
          <a:p>
            <a:pPr>
              <a:lnSpc>
                <a:spcPct val="104000"/>
              </a:lnSpc>
            </a:pPr>
            <a:r>
              <a:rPr lang="en-US" sz="1050" dirty="0">
                <a:solidFill>
                  <a:srgbClr val="E2E8F0"/>
                </a:solidFill>
                <a:latin typeface="Courier New" pitchFamily="34" charset="0"/>
                <a:ea typeface="Courier New" pitchFamily="34" charset="-122"/>
                <a:cs typeface="Courier New" pitchFamily="34" charset="-120"/>
              </a:rPr>
              <a:t>}</a:t>
            </a:r>
            <a:endParaRPr lang="en-US" sz="1050" dirty="0"/>
          </a:p>
        </p:txBody>
      </p:sp>
      <p:sp>
        <p:nvSpPr>
          <p:cNvPr id="8" name="Shape 6"/>
          <p:cNvSpPr/>
          <p:nvPr/>
        </p:nvSpPr>
        <p:spPr>
          <a:xfrm>
            <a:off x="5897880" y="2594610"/>
            <a:ext cx="146304" cy="146304"/>
          </a:xfrm>
          <a:prstGeom prst="ellipse">
            <a:avLst/>
          </a:prstGeom>
          <a:solidFill>
            <a:srgbClr val="1C7293"/>
          </a:solidFill>
          <a:ln/>
        </p:spPr>
        <p:txBody>
          <a:bodyPr/>
          <a:lstStyle/>
          <a:p>
            <a:endParaRPr lang="de-DE"/>
          </a:p>
        </p:txBody>
      </p:sp>
      <p:sp>
        <p:nvSpPr>
          <p:cNvPr id="9" name="Text 7"/>
          <p:cNvSpPr/>
          <p:nvPr/>
        </p:nvSpPr>
        <p:spPr>
          <a:xfrm>
            <a:off x="6144768" y="2494026"/>
            <a:ext cx="2542032" cy="548640"/>
          </a:xfrm>
          <a:prstGeom prst="rect">
            <a:avLst/>
          </a:prstGeom>
          <a:noFill/>
          <a:ln/>
        </p:spPr>
        <p:txBody>
          <a:bodyPr wrap="square" lIns="0" tIns="0" rIns="0" bIns="0" rtlCol="0" anchor="t"/>
          <a:lstStyle/>
          <a:p>
            <a:pPr>
              <a:lnSpc>
                <a:spcPct val="105000"/>
              </a:lnSpc>
            </a:pPr>
            <a:r>
              <a:rPr lang="en-US" sz="1250" dirty="0">
                <a:solidFill>
                  <a:srgbClr val="1E293B"/>
                </a:solidFill>
                <a:latin typeface="Calibri" pitchFamily="34" charset="0"/>
                <a:ea typeface="Calibri" pitchFamily="34" charset="-122"/>
                <a:cs typeface="Calibri" pitchFamily="34" charset="-120"/>
              </a:rPr>
              <a:t>Single C++ file, standard library only</a:t>
            </a:r>
            <a:endParaRPr lang="en-US" sz="1250" dirty="0"/>
          </a:p>
        </p:txBody>
      </p:sp>
      <p:sp>
        <p:nvSpPr>
          <p:cNvPr id="10" name="Shape 8"/>
          <p:cNvSpPr/>
          <p:nvPr/>
        </p:nvSpPr>
        <p:spPr>
          <a:xfrm>
            <a:off x="5897880" y="3307842"/>
            <a:ext cx="146304" cy="146304"/>
          </a:xfrm>
          <a:prstGeom prst="ellipse">
            <a:avLst/>
          </a:prstGeom>
          <a:solidFill>
            <a:srgbClr val="1C7293"/>
          </a:solidFill>
          <a:ln/>
        </p:spPr>
        <p:txBody>
          <a:bodyPr/>
          <a:lstStyle/>
          <a:p>
            <a:endParaRPr lang="de-DE"/>
          </a:p>
        </p:txBody>
      </p:sp>
      <p:sp>
        <p:nvSpPr>
          <p:cNvPr id="11" name="Text 9"/>
          <p:cNvSpPr/>
          <p:nvPr/>
        </p:nvSpPr>
        <p:spPr>
          <a:xfrm>
            <a:off x="6144768" y="3207258"/>
            <a:ext cx="2542032" cy="548640"/>
          </a:xfrm>
          <a:prstGeom prst="rect">
            <a:avLst/>
          </a:prstGeom>
          <a:noFill/>
          <a:ln/>
        </p:spPr>
        <p:txBody>
          <a:bodyPr wrap="square" lIns="0" tIns="0" rIns="0" bIns="0" rtlCol="0" anchor="t"/>
          <a:lstStyle/>
          <a:p>
            <a:pPr>
              <a:lnSpc>
                <a:spcPct val="105000"/>
              </a:lnSpc>
            </a:pPr>
            <a:r>
              <a:rPr lang="en-US" sz="1250" dirty="0">
                <a:solidFill>
                  <a:srgbClr val="1E293B"/>
                </a:solidFill>
                <a:latin typeface="Calibri" pitchFamily="34" charset="0"/>
                <a:ea typeface="Calibri" pitchFamily="34" charset="-122"/>
                <a:cs typeface="Calibri" pitchFamily="34" charset="-120"/>
              </a:rPr>
              <a:t>Pins a candidate, recomputes all frames</a:t>
            </a:r>
            <a:endParaRPr lang="en-US" sz="1250" dirty="0"/>
          </a:p>
        </p:txBody>
      </p:sp>
      <p:sp>
        <p:nvSpPr>
          <p:cNvPr id="12" name="Shape 10"/>
          <p:cNvSpPr/>
          <p:nvPr/>
        </p:nvSpPr>
        <p:spPr>
          <a:xfrm>
            <a:off x="5897880" y="4021074"/>
            <a:ext cx="146304" cy="146304"/>
          </a:xfrm>
          <a:prstGeom prst="ellipse">
            <a:avLst/>
          </a:prstGeom>
          <a:solidFill>
            <a:srgbClr val="E8833A"/>
          </a:solidFill>
          <a:ln/>
        </p:spPr>
        <p:txBody>
          <a:bodyPr/>
          <a:lstStyle/>
          <a:p>
            <a:endParaRPr lang="de-DE"/>
          </a:p>
        </p:txBody>
      </p:sp>
      <p:sp>
        <p:nvSpPr>
          <p:cNvPr id="13" name="Text 11"/>
          <p:cNvSpPr/>
          <p:nvPr/>
        </p:nvSpPr>
        <p:spPr>
          <a:xfrm>
            <a:off x="6144768" y="3920490"/>
            <a:ext cx="2542032" cy="548640"/>
          </a:xfrm>
          <a:prstGeom prst="rect">
            <a:avLst/>
          </a:prstGeom>
          <a:noFill/>
          <a:ln/>
        </p:spPr>
        <p:txBody>
          <a:bodyPr wrap="square" lIns="0" tIns="0" rIns="0" bIns="0" rtlCol="0" anchor="t"/>
          <a:lstStyle/>
          <a:p>
            <a:pPr>
              <a:lnSpc>
                <a:spcPct val="105000"/>
              </a:lnSpc>
            </a:pPr>
            <a:r>
              <a:rPr lang="en-US" sz="1250" dirty="0">
                <a:solidFill>
                  <a:srgbClr val="1E293B"/>
                </a:solidFill>
                <a:latin typeface="Calibri" pitchFamily="34" charset="0"/>
                <a:ea typeface="Calibri" pitchFamily="34" charset="-122"/>
                <a:cs typeface="Calibri" pitchFamily="34" charset="-120"/>
              </a:rPr>
              <a:t>Self + predecessor/successor force fall out of one recomputation</a:t>
            </a:r>
            <a:endParaRPr lang="en-US" sz="1250" dirty="0"/>
          </a:p>
        </p:txBody>
      </p:sp>
      <p:sp>
        <p:nvSpPr>
          <p:cNvPr id="14" name="Shape 12"/>
          <p:cNvSpPr/>
          <p:nvPr/>
        </p:nvSpPr>
        <p:spPr>
          <a:xfrm>
            <a:off x="5897880" y="4743450"/>
            <a:ext cx="2788920" cy="914400"/>
          </a:xfrm>
          <a:prstGeom prst="roundRect">
            <a:avLst>
              <a:gd name="adj" fmla="val 7000"/>
            </a:avLst>
          </a:prstGeom>
          <a:solidFill>
            <a:srgbClr val="FBEADC"/>
          </a:solidFill>
          <a:ln w="12700">
            <a:solidFill>
              <a:srgbClr val="E8833A"/>
            </a:solidFill>
            <a:prstDash val="solid"/>
          </a:ln>
          <a:effectLst>
            <a:outerShdw blurRad="114300" dist="38100" dir="5400000" algn="bl" rotWithShape="0">
              <a:srgbClr val="94A3B8">
                <a:alpha val="30000"/>
              </a:srgbClr>
            </a:outerShdw>
          </a:effectLst>
        </p:spPr>
        <p:txBody>
          <a:bodyPr/>
          <a:lstStyle/>
          <a:p>
            <a:endParaRPr lang="de-DE"/>
          </a:p>
        </p:txBody>
      </p:sp>
      <p:sp>
        <p:nvSpPr>
          <p:cNvPr id="15" name="Text 13"/>
          <p:cNvSpPr/>
          <p:nvPr/>
        </p:nvSpPr>
        <p:spPr>
          <a:xfrm>
            <a:off x="6053328" y="4844034"/>
            <a:ext cx="2514600" cy="777240"/>
          </a:xfrm>
          <a:prstGeom prst="rect">
            <a:avLst/>
          </a:prstGeom>
          <a:noFill/>
          <a:ln/>
        </p:spPr>
        <p:txBody>
          <a:bodyPr wrap="square" lIns="0" tIns="0" rIns="0" bIns="0" rtlCol="0" anchor="ctr"/>
          <a:lstStyle/>
          <a:p>
            <a:pPr>
              <a:lnSpc>
                <a:spcPct val="105000"/>
              </a:lnSpc>
            </a:pPr>
            <a:r>
              <a:rPr lang="en-US" sz="1250" b="1" dirty="0">
                <a:solidFill>
                  <a:srgbClr val="E8833A"/>
                </a:solidFill>
                <a:latin typeface="Calibri" pitchFamily="34" charset="0"/>
                <a:ea typeface="Calibri" pitchFamily="34" charset="-122"/>
                <a:cs typeface="Calibri" pitchFamily="34" charset="-120"/>
              </a:rPr>
              <a:t>Verified run
</a:t>
            </a:r>
            <a:endParaRPr lang="en-US" sz="1250" dirty="0"/>
          </a:p>
          <a:p>
            <a:pPr>
              <a:lnSpc>
                <a:spcPct val="105000"/>
              </a:lnSpc>
            </a:pPr>
            <a:r>
              <a:rPr lang="en-US" sz="1150" dirty="0">
                <a:solidFill>
                  <a:srgbClr val="1E293B"/>
                </a:solidFill>
                <a:latin typeface="Calibri" pitchFamily="34" charset="0"/>
                <a:ea typeface="Calibri" pitchFamily="34" charset="-122"/>
                <a:cs typeface="Calibri" pitchFamily="34" charset="-120"/>
              </a:rPr>
              <a:t>first commit v3→s3, force −0.917; multiplier peak 3 → 1</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457200" y="1241298"/>
            <a:ext cx="402336" cy="402336"/>
          </a:xfrm>
          <a:prstGeom prst="ellipse">
            <a:avLst/>
          </a:prstGeom>
          <a:solidFill>
            <a:srgbClr val="1C7293"/>
          </a:solidFill>
          <a:ln/>
        </p:spPr>
        <p:txBody>
          <a:bodyPr/>
          <a:lstStyle/>
          <a:p>
            <a:endParaRPr lang="de-DE"/>
          </a:p>
        </p:txBody>
      </p:sp>
      <p:sp>
        <p:nvSpPr>
          <p:cNvPr id="3" name="Text 1"/>
          <p:cNvSpPr/>
          <p:nvPr/>
        </p:nvSpPr>
        <p:spPr>
          <a:xfrm>
            <a:off x="457200" y="1241298"/>
            <a:ext cx="402336" cy="402336"/>
          </a:xfrm>
          <a:prstGeom prst="rect">
            <a:avLst/>
          </a:prstGeom>
          <a:noFill/>
          <a:ln/>
        </p:spPr>
        <p:txBody>
          <a:bodyPr wrap="square" lIns="0" tIns="0" rIns="0" bIns="0" rtlCol="0" anchor="ctr"/>
          <a:lstStyle/>
          <a:p>
            <a:pPr algn="ctr"/>
            <a:r>
              <a:rPr lang="en-US" b="1" dirty="0">
                <a:solidFill>
                  <a:srgbClr val="FFFFFF"/>
                </a:solidFill>
                <a:latin typeface="Calibri" pitchFamily="34" charset="0"/>
                <a:ea typeface="Calibri" pitchFamily="34" charset="-122"/>
                <a:cs typeface="Calibri" pitchFamily="34" charset="-120"/>
              </a:rPr>
              <a:t>9</a:t>
            </a:r>
            <a:endParaRPr lang="en-US" dirty="0"/>
          </a:p>
        </p:txBody>
      </p:sp>
      <p:sp>
        <p:nvSpPr>
          <p:cNvPr id="4" name="Text 2"/>
          <p:cNvSpPr/>
          <p:nvPr/>
        </p:nvSpPr>
        <p:spPr>
          <a:xfrm>
            <a:off x="969264" y="1268730"/>
            <a:ext cx="7680960" cy="292608"/>
          </a:xfrm>
          <a:prstGeom prst="rect">
            <a:avLst/>
          </a:prstGeom>
          <a:noFill/>
          <a:ln/>
        </p:spPr>
        <p:txBody>
          <a:bodyPr wrap="square" lIns="0" tIns="0" rIns="0" bIns="0" rtlCol="0" anchor="ctr"/>
          <a:lstStyle/>
          <a:p>
            <a:r>
              <a:rPr lang="en-US" sz="1100" b="1" kern="0" spc="200" dirty="0">
                <a:solidFill>
                  <a:srgbClr val="1C7293"/>
                </a:solidFill>
                <a:latin typeface="Calibri" pitchFamily="34" charset="0"/>
                <a:ea typeface="Calibri" pitchFamily="34" charset="-122"/>
                <a:cs typeface="Calibri" pitchFamily="34" charset="-120"/>
              </a:rPr>
              <a:t>FROM SCHEDULE TO RTL NETLIST</a:t>
            </a:r>
            <a:endParaRPr lang="en-US" sz="1100" dirty="0"/>
          </a:p>
        </p:txBody>
      </p:sp>
      <p:sp>
        <p:nvSpPr>
          <p:cNvPr id="5" name="Text 3"/>
          <p:cNvSpPr/>
          <p:nvPr/>
        </p:nvSpPr>
        <p:spPr>
          <a:xfrm>
            <a:off x="457200" y="1698498"/>
            <a:ext cx="8229600" cy="566928"/>
          </a:xfrm>
          <a:prstGeom prst="rect">
            <a:avLst/>
          </a:prstGeom>
          <a:noFill/>
          <a:ln/>
        </p:spPr>
        <p:txBody>
          <a:bodyPr wrap="square" lIns="0" tIns="0" rIns="0" bIns="0" rtlCol="0" anchor="ctr"/>
          <a:lstStyle/>
          <a:p>
            <a:r>
              <a:rPr lang="en-US" sz="2700" b="1" dirty="0">
                <a:solidFill>
                  <a:srgbClr val="12273F"/>
                </a:solidFill>
                <a:latin typeface="Cambria" pitchFamily="34" charset="0"/>
                <a:ea typeface="Cambria" pitchFamily="34" charset="-122"/>
                <a:cs typeface="Cambria" pitchFamily="34" charset="-120"/>
              </a:rPr>
              <a:t>The output is a netlist of VHDL entities</a:t>
            </a:r>
            <a:endParaRPr lang="en-US" sz="2700" dirty="0"/>
          </a:p>
        </p:txBody>
      </p:sp>
      <p:sp>
        <p:nvSpPr>
          <p:cNvPr id="6" name="Shape 4"/>
          <p:cNvSpPr/>
          <p:nvPr/>
        </p:nvSpPr>
        <p:spPr>
          <a:xfrm>
            <a:off x="685800" y="2640330"/>
            <a:ext cx="3383280" cy="640080"/>
          </a:xfrm>
          <a:prstGeom prst="roundRect">
            <a:avLst>
              <a:gd name="adj" fmla="val 8571"/>
            </a:avLst>
          </a:prstGeom>
          <a:solidFill>
            <a:srgbClr val="12273F"/>
          </a:solidFill>
          <a:ln/>
          <a:effectLst>
            <a:outerShdw blurRad="114300" dist="38100" dir="5400000" algn="bl" rotWithShape="0">
              <a:srgbClr val="94A3B8">
                <a:alpha val="30000"/>
              </a:srgbClr>
            </a:outerShdw>
          </a:effectLst>
        </p:spPr>
        <p:txBody>
          <a:bodyPr/>
          <a:lstStyle/>
          <a:p>
            <a:endParaRPr lang="de-DE"/>
          </a:p>
        </p:txBody>
      </p:sp>
      <p:sp>
        <p:nvSpPr>
          <p:cNvPr id="7" name="Text 5"/>
          <p:cNvSpPr/>
          <p:nvPr/>
        </p:nvSpPr>
        <p:spPr>
          <a:xfrm>
            <a:off x="685800" y="2640330"/>
            <a:ext cx="3383280" cy="640080"/>
          </a:xfrm>
          <a:prstGeom prst="rect">
            <a:avLst/>
          </a:prstGeom>
          <a:noFill/>
          <a:ln/>
        </p:spPr>
        <p:txBody>
          <a:bodyPr wrap="square" lIns="0" tIns="0" rIns="0" bIns="0" rtlCol="0" anchor="ctr"/>
          <a:lstStyle/>
          <a:p>
            <a:pPr algn="ctr"/>
            <a:r>
              <a:rPr lang="en-US" sz="1250" b="1" dirty="0">
                <a:solidFill>
                  <a:srgbClr val="FFFFFF"/>
                </a:solidFill>
                <a:latin typeface="Calibri" pitchFamily="34" charset="0"/>
                <a:ea typeface="Calibri" pitchFamily="34" charset="-122"/>
                <a:cs typeface="Calibri" pitchFamily="34" charset="-120"/>
              </a:rPr>
              <a:t>FSM controller — states S1…S4</a:t>
            </a:r>
            <a:endParaRPr lang="en-US" sz="1250" dirty="0"/>
          </a:p>
        </p:txBody>
      </p:sp>
      <p:sp>
        <p:nvSpPr>
          <p:cNvPr id="8" name="Shape 6"/>
          <p:cNvSpPr/>
          <p:nvPr/>
        </p:nvSpPr>
        <p:spPr>
          <a:xfrm>
            <a:off x="685800" y="3737610"/>
            <a:ext cx="1005840" cy="868680"/>
          </a:xfrm>
          <a:prstGeom prst="roundRect">
            <a:avLst>
              <a:gd name="adj" fmla="val 6316"/>
            </a:avLst>
          </a:prstGeom>
          <a:solidFill>
            <a:srgbClr val="E6EEF3"/>
          </a:solidFill>
          <a:ln w="15875">
            <a:solidFill>
              <a:srgbClr val="1C7293"/>
            </a:solidFill>
            <a:prstDash val="solid"/>
          </a:ln>
          <a:effectLst>
            <a:outerShdw blurRad="114300" dist="38100" dir="5400000" algn="bl" rotWithShape="0">
              <a:srgbClr val="94A3B8">
                <a:alpha val="30000"/>
              </a:srgbClr>
            </a:outerShdw>
          </a:effectLst>
        </p:spPr>
        <p:txBody>
          <a:bodyPr/>
          <a:lstStyle/>
          <a:p>
            <a:endParaRPr lang="de-DE"/>
          </a:p>
        </p:txBody>
      </p:sp>
      <p:sp>
        <p:nvSpPr>
          <p:cNvPr id="9" name="Text 7"/>
          <p:cNvSpPr/>
          <p:nvPr/>
        </p:nvSpPr>
        <p:spPr>
          <a:xfrm>
            <a:off x="685800" y="3737610"/>
            <a:ext cx="1005840" cy="868680"/>
          </a:xfrm>
          <a:prstGeom prst="rect">
            <a:avLst/>
          </a:prstGeom>
          <a:noFill/>
          <a:ln/>
        </p:spPr>
        <p:txBody>
          <a:bodyPr wrap="square" lIns="12700" tIns="12700" rIns="12700" bIns="12700" rtlCol="0" anchor="ctr"/>
          <a:lstStyle/>
          <a:p>
            <a:pPr algn="ctr"/>
            <a:r>
              <a:rPr lang="en-US" sz="1050" b="1" dirty="0">
                <a:solidFill>
                  <a:srgbClr val="1E293B"/>
                </a:solidFill>
                <a:latin typeface="Calibri" pitchFamily="34" charset="0"/>
                <a:ea typeface="Calibri" pitchFamily="34" charset="-122"/>
                <a:cs typeface="Calibri" pitchFamily="34" charset="-120"/>
              </a:rPr>
              <a:t>Multiplier</a:t>
            </a:r>
            <a:endParaRPr lang="en-US" sz="1050" dirty="0"/>
          </a:p>
          <a:p>
            <a:pPr algn="ctr"/>
            <a:r>
              <a:rPr lang="en-US" sz="1050" b="1" dirty="0">
                <a:solidFill>
                  <a:srgbClr val="1E293B"/>
                </a:solidFill>
                <a:latin typeface="Calibri" pitchFamily="34" charset="0"/>
                <a:ea typeface="Calibri" pitchFamily="34" charset="-122"/>
                <a:cs typeface="Calibri" pitchFamily="34" charset="-120"/>
              </a:rPr>
              <a:t>(mul_unit)</a:t>
            </a:r>
            <a:endParaRPr lang="en-US" sz="1050" dirty="0"/>
          </a:p>
        </p:txBody>
      </p:sp>
      <p:sp>
        <p:nvSpPr>
          <p:cNvPr id="10" name="Shape 8"/>
          <p:cNvSpPr/>
          <p:nvPr/>
        </p:nvSpPr>
        <p:spPr>
          <a:xfrm>
            <a:off x="1188720" y="3307842"/>
            <a:ext cx="0" cy="402336"/>
          </a:xfrm>
          <a:prstGeom prst="line">
            <a:avLst/>
          </a:prstGeom>
          <a:noFill/>
          <a:ln w="19050">
            <a:solidFill>
              <a:srgbClr val="64748B"/>
            </a:solidFill>
            <a:prstDash val="solid"/>
            <a:tailEnd type="triangle"/>
          </a:ln>
        </p:spPr>
        <p:txBody>
          <a:bodyPr/>
          <a:lstStyle/>
          <a:p>
            <a:endParaRPr lang="de-DE"/>
          </a:p>
        </p:txBody>
      </p:sp>
      <p:sp>
        <p:nvSpPr>
          <p:cNvPr id="11" name="Shape 9"/>
          <p:cNvSpPr/>
          <p:nvPr/>
        </p:nvSpPr>
        <p:spPr>
          <a:xfrm>
            <a:off x="1828800" y="3737610"/>
            <a:ext cx="1005840" cy="868680"/>
          </a:xfrm>
          <a:prstGeom prst="roundRect">
            <a:avLst>
              <a:gd name="adj" fmla="val 6316"/>
            </a:avLst>
          </a:prstGeom>
          <a:solidFill>
            <a:srgbClr val="E6EEF3"/>
          </a:solidFill>
          <a:ln w="15875">
            <a:solidFill>
              <a:srgbClr val="E8833A"/>
            </a:solidFill>
            <a:prstDash val="solid"/>
          </a:ln>
          <a:effectLst>
            <a:outerShdw blurRad="114300" dist="38100" dir="5400000" algn="bl" rotWithShape="0">
              <a:srgbClr val="94A3B8">
                <a:alpha val="30000"/>
              </a:srgbClr>
            </a:outerShdw>
          </a:effectLst>
        </p:spPr>
        <p:txBody>
          <a:bodyPr/>
          <a:lstStyle/>
          <a:p>
            <a:endParaRPr lang="de-DE"/>
          </a:p>
        </p:txBody>
      </p:sp>
      <p:sp>
        <p:nvSpPr>
          <p:cNvPr id="12" name="Text 10"/>
          <p:cNvSpPr/>
          <p:nvPr/>
        </p:nvSpPr>
        <p:spPr>
          <a:xfrm>
            <a:off x="1828800" y="3737610"/>
            <a:ext cx="1005840" cy="868680"/>
          </a:xfrm>
          <a:prstGeom prst="rect">
            <a:avLst/>
          </a:prstGeom>
          <a:noFill/>
          <a:ln/>
        </p:spPr>
        <p:txBody>
          <a:bodyPr wrap="square" lIns="12700" tIns="12700" rIns="12700" bIns="12700" rtlCol="0" anchor="ctr"/>
          <a:lstStyle/>
          <a:p>
            <a:pPr algn="ctr"/>
            <a:r>
              <a:rPr lang="en-US" sz="1050" b="1" dirty="0">
                <a:solidFill>
                  <a:srgbClr val="1E293B"/>
                </a:solidFill>
                <a:latin typeface="Calibri" pitchFamily="34" charset="0"/>
                <a:ea typeface="Calibri" pitchFamily="34" charset="-122"/>
                <a:cs typeface="Calibri" pitchFamily="34" charset="-120"/>
              </a:rPr>
              <a:t>Adder/ALU</a:t>
            </a:r>
            <a:endParaRPr lang="en-US" sz="1050" dirty="0"/>
          </a:p>
          <a:p>
            <a:pPr algn="ctr"/>
            <a:r>
              <a:rPr lang="en-US" sz="1050" b="1" dirty="0">
                <a:solidFill>
                  <a:srgbClr val="1E293B"/>
                </a:solidFill>
                <a:latin typeface="Calibri" pitchFamily="34" charset="0"/>
                <a:ea typeface="Calibri" pitchFamily="34" charset="-122"/>
                <a:cs typeface="Calibri" pitchFamily="34" charset="-120"/>
              </a:rPr>
              <a:t>(add_unit)</a:t>
            </a:r>
            <a:endParaRPr lang="en-US" sz="1050" dirty="0"/>
          </a:p>
        </p:txBody>
      </p:sp>
      <p:sp>
        <p:nvSpPr>
          <p:cNvPr id="13" name="Shape 11"/>
          <p:cNvSpPr/>
          <p:nvPr/>
        </p:nvSpPr>
        <p:spPr>
          <a:xfrm>
            <a:off x="2331720" y="3307842"/>
            <a:ext cx="0" cy="402336"/>
          </a:xfrm>
          <a:prstGeom prst="line">
            <a:avLst/>
          </a:prstGeom>
          <a:noFill/>
          <a:ln w="19050">
            <a:solidFill>
              <a:srgbClr val="64748B"/>
            </a:solidFill>
            <a:prstDash val="solid"/>
            <a:tailEnd type="triangle"/>
          </a:ln>
        </p:spPr>
        <p:txBody>
          <a:bodyPr/>
          <a:lstStyle/>
          <a:p>
            <a:endParaRPr lang="de-DE"/>
          </a:p>
        </p:txBody>
      </p:sp>
      <p:sp>
        <p:nvSpPr>
          <p:cNvPr id="14" name="Shape 12"/>
          <p:cNvSpPr/>
          <p:nvPr/>
        </p:nvSpPr>
        <p:spPr>
          <a:xfrm>
            <a:off x="2971800" y="3737610"/>
            <a:ext cx="1005840" cy="868680"/>
          </a:xfrm>
          <a:prstGeom prst="roundRect">
            <a:avLst>
              <a:gd name="adj" fmla="val 6316"/>
            </a:avLst>
          </a:prstGeom>
          <a:solidFill>
            <a:srgbClr val="E6EEF3"/>
          </a:solidFill>
          <a:ln w="15875">
            <a:solidFill>
              <a:srgbClr val="1C7293"/>
            </a:solidFill>
            <a:prstDash val="solid"/>
          </a:ln>
          <a:effectLst>
            <a:outerShdw blurRad="114300" dist="38100" dir="5400000" algn="bl" rotWithShape="0">
              <a:srgbClr val="94A3B8">
                <a:alpha val="30000"/>
              </a:srgbClr>
            </a:outerShdw>
          </a:effectLst>
        </p:spPr>
        <p:txBody>
          <a:bodyPr/>
          <a:lstStyle/>
          <a:p>
            <a:endParaRPr lang="de-DE"/>
          </a:p>
        </p:txBody>
      </p:sp>
      <p:sp>
        <p:nvSpPr>
          <p:cNvPr id="15" name="Text 13"/>
          <p:cNvSpPr/>
          <p:nvPr/>
        </p:nvSpPr>
        <p:spPr>
          <a:xfrm>
            <a:off x="2971800" y="3737610"/>
            <a:ext cx="1005840" cy="868680"/>
          </a:xfrm>
          <a:prstGeom prst="rect">
            <a:avLst/>
          </a:prstGeom>
          <a:noFill/>
          <a:ln/>
        </p:spPr>
        <p:txBody>
          <a:bodyPr wrap="square" lIns="12700" tIns="12700" rIns="12700" bIns="12700" rtlCol="0" anchor="ctr"/>
          <a:lstStyle/>
          <a:p>
            <a:pPr algn="ctr"/>
            <a:r>
              <a:rPr lang="en-US" sz="1050" b="1" dirty="0">
                <a:solidFill>
                  <a:srgbClr val="1E293B"/>
                </a:solidFill>
                <a:latin typeface="Calibri" pitchFamily="34" charset="0"/>
                <a:ea typeface="Calibri" pitchFamily="34" charset="-122"/>
                <a:cs typeface="Calibri" pitchFamily="34" charset="-120"/>
              </a:rPr>
              <a:t>Registers</a:t>
            </a:r>
            <a:endParaRPr lang="en-US" sz="1050" dirty="0"/>
          </a:p>
          <a:p>
            <a:pPr algn="ctr"/>
            <a:r>
              <a:rPr lang="en-US" sz="1050" b="1" dirty="0">
                <a:solidFill>
                  <a:srgbClr val="1E293B"/>
                </a:solidFill>
                <a:latin typeface="Calibri" pitchFamily="34" charset="0"/>
                <a:ea typeface="Calibri" pitchFamily="34" charset="-122"/>
                <a:cs typeface="Calibri" pitchFamily="34" charset="-120"/>
              </a:rPr>
              <a:t>r_v1…r_v4</a:t>
            </a:r>
            <a:endParaRPr lang="en-US" sz="1050" dirty="0"/>
          </a:p>
        </p:txBody>
      </p:sp>
      <p:sp>
        <p:nvSpPr>
          <p:cNvPr id="16" name="Shape 14"/>
          <p:cNvSpPr/>
          <p:nvPr/>
        </p:nvSpPr>
        <p:spPr>
          <a:xfrm>
            <a:off x="3474720" y="3307842"/>
            <a:ext cx="0" cy="402336"/>
          </a:xfrm>
          <a:prstGeom prst="line">
            <a:avLst/>
          </a:prstGeom>
          <a:noFill/>
          <a:ln w="19050">
            <a:solidFill>
              <a:srgbClr val="64748B"/>
            </a:solidFill>
            <a:prstDash val="solid"/>
            <a:tailEnd type="triangle"/>
          </a:ln>
        </p:spPr>
        <p:txBody>
          <a:bodyPr/>
          <a:lstStyle/>
          <a:p>
            <a:endParaRPr lang="de-DE"/>
          </a:p>
        </p:txBody>
      </p:sp>
      <p:sp>
        <p:nvSpPr>
          <p:cNvPr id="17" name="Text 15"/>
          <p:cNvSpPr/>
          <p:nvPr/>
        </p:nvSpPr>
        <p:spPr>
          <a:xfrm>
            <a:off x="685800" y="4743450"/>
            <a:ext cx="3383280" cy="548640"/>
          </a:xfrm>
          <a:prstGeom prst="rect">
            <a:avLst/>
          </a:prstGeom>
          <a:noFill/>
          <a:ln/>
        </p:spPr>
        <p:txBody>
          <a:bodyPr wrap="square" lIns="0" tIns="0" rIns="0" bIns="0" rtlCol="0" anchor="ctr"/>
          <a:lstStyle/>
          <a:p>
            <a:pPr algn="ctr"/>
            <a:r>
              <a:rPr lang="en-US" sz="1100" i="1" dirty="0">
                <a:solidFill>
                  <a:srgbClr val="64748B"/>
                </a:solidFill>
                <a:latin typeface="Calibri" pitchFamily="34" charset="0"/>
                <a:ea typeface="Calibri" pitchFamily="34" charset="-122"/>
                <a:cs typeface="Calibri" pitchFamily="34" charset="-120"/>
              </a:rPr>
              <a:t>one functional unit = one VHDL entity, shared across steps</a:t>
            </a:r>
            <a:endParaRPr lang="en-US" sz="1100" dirty="0"/>
          </a:p>
        </p:txBody>
      </p:sp>
      <p:graphicFrame>
        <p:nvGraphicFramePr>
          <p:cNvPr id="18" name="Table 0"/>
          <p:cNvGraphicFramePr>
            <a:graphicFrameLocks noGrp="1"/>
          </p:cNvGraphicFramePr>
          <p:nvPr/>
        </p:nvGraphicFramePr>
        <p:xfrm>
          <a:off x="4526280" y="2823210"/>
          <a:ext cx="4160520" cy="2103120"/>
        </p:xfrm>
        <a:graphic>
          <a:graphicData uri="http://schemas.openxmlformats.org/drawingml/2006/table">
            <a:tbl>
              <a:tblPr/>
              <a:tblGrid>
                <a:gridCol w="96012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tblGrid>
              <a:tr h="420624">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State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C7293"/>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Operation(s)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C7293"/>
                    </a:solidFill>
                  </a:tcPr>
                </a:tc>
                <a:extLst>
                  <a:ext uri="{0D108BD9-81ED-4DB2-BD59-A6C34878D82A}">
                    <a16:rowId xmlns:a16="http://schemas.microsoft.com/office/drawing/2014/main" val="10000"/>
                  </a:ext>
                </a:extLst>
              </a:tr>
              <a:tr h="420624">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S1</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v2 = c × 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0624">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S2</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6EEF3"/>
                    </a:solidFill>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v1 = a × b</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6EEF3"/>
                    </a:solidFill>
                  </a:tcPr>
                </a:tc>
                <a:extLst>
                  <a:ext uri="{0D108BD9-81ED-4DB2-BD59-A6C34878D82A}">
                    <a16:rowId xmlns:a16="http://schemas.microsoft.com/office/drawing/2014/main" val="10002"/>
                  </a:ext>
                </a:extLst>
              </a:tr>
              <a:tr h="420624">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S3</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v3 = e × f   ∥   v4 = v1 + v2</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0624">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S4</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6EEF3"/>
                    </a:solidFill>
                  </a:tcPr>
                </a:tc>
                <a:tc>
                  <a:txBody>
                    <a:bodyPr/>
                    <a:lstStyle/>
                    <a:p>
                      <a:pPr marL="0" indent="0" algn="ctr">
                        <a:buNone/>
                      </a:pPr>
                      <a:r>
                        <a:rPr lang="en-US" sz="1200" dirty="0">
                          <a:solidFill>
                            <a:srgbClr val="1E293B"/>
                          </a:solidFill>
                          <a:latin typeface="Calibri" pitchFamily="34" charset="0"/>
                          <a:ea typeface="Calibri" pitchFamily="34" charset="-122"/>
                          <a:cs typeface="Calibri" pitchFamily="34" charset="-120"/>
                        </a:rPr>
                        <a:t>v5 = v3 + v4</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6EEF3"/>
                    </a:solidFill>
                  </a:tcPr>
                </a:tc>
                <a:extLst>
                  <a:ext uri="{0D108BD9-81ED-4DB2-BD59-A6C34878D82A}">
                    <a16:rowId xmlns:a16="http://schemas.microsoft.com/office/drawing/2014/main" val="10004"/>
                  </a:ext>
                </a:extLst>
              </a:tr>
            </a:tbl>
          </a:graphicData>
        </a:graphic>
      </p:graphicFrame>
      <p:sp>
        <p:nvSpPr>
          <p:cNvPr id="19" name="Text 16"/>
          <p:cNvSpPr/>
          <p:nvPr/>
        </p:nvSpPr>
        <p:spPr>
          <a:xfrm>
            <a:off x="4526280" y="5017770"/>
            <a:ext cx="4160520" cy="640080"/>
          </a:xfrm>
          <a:prstGeom prst="rect">
            <a:avLst/>
          </a:prstGeom>
          <a:noFill/>
          <a:ln/>
        </p:spPr>
        <p:txBody>
          <a:bodyPr wrap="square" lIns="0" tIns="0" rIns="0" bIns="0" rtlCol="0" anchor="ctr"/>
          <a:lstStyle/>
          <a:p>
            <a:r>
              <a:rPr lang="en-US" sz="1150" i="1" dirty="0">
                <a:solidFill>
                  <a:srgbClr val="64748B"/>
                </a:solidFill>
                <a:latin typeface="Calibri" pitchFamily="34" charset="0"/>
                <a:ea typeface="Calibri" pitchFamily="34" charset="-122"/>
                <a:cs typeface="Calibri" pitchFamily="34" charset="-120"/>
              </a:rPr>
              <a:t>S3 runs the multiplier and the adder in parallel — distinct resource types, no conflict. Against ASAP's three multipliers, FDS yields a netlist with one.</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457200" y="1241298"/>
            <a:ext cx="402336" cy="402336"/>
          </a:xfrm>
          <a:prstGeom prst="ellipse">
            <a:avLst/>
          </a:prstGeom>
          <a:solidFill>
            <a:srgbClr val="1C7293"/>
          </a:solidFill>
          <a:ln/>
        </p:spPr>
        <p:txBody>
          <a:bodyPr/>
          <a:lstStyle/>
          <a:p>
            <a:endParaRPr lang="de-DE"/>
          </a:p>
        </p:txBody>
      </p:sp>
      <p:sp>
        <p:nvSpPr>
          <p:cNvPr id="3" name="Text 1"/>
          <p:cNvSpPr/>
          <p:nvPr/>
        </p:nvSpPr>
        <p:spPr>
          <a:xfrm>
            <a:off x="457200" y="1241298"/>
            <a:ext cx="402336" cy="402336"/>
          </a:xfrm>
          <a:prstGeom prst="rect">
            <a:avLst/>
          </a:prstGeom>
          <a:noFill/>
          <a:ln/>
        </p:spPr>
        <p:txBody>
          <a:bodyPr wrap="square" lIns="0" tIns="0" rIns="0" bIns="0" rtlCol="0" anchor="ctr"/>
          <a:lstStyle/>
          <a:p>
            <a:pPr algn="ctr"/>
            <a:r>
              <a:rPr lang="en-US" b="1" dirty="0">
                <a:solidFill>
                  <a:srgbClr val="FFFFFF"/>
                </a:solidFill>
                <a:latin typeface="Calibri" pitchFamily="34" charset="0"/>
                <a:ea typeface="Calibri" pitchFamily="34" charset="-122"/>
                <a:cs typeface="Calibri" pitchFamily="34" charset="-120"/>
              </a:rPr>
              <a:t>10</a:t>
            </a:r>
            <a:endParaRPr lang="en-US" dirty="0"/>
          </a:p>
        </p:txBody>
      </p:sp>
      <p:sp>
        <p:nvSpPr>
          <p:cNvPr id="4" name="Text 2"/>
          <p:cNvSpPr/>
          <p:nvPr/>
        </p:nvSpPr>
        <p:spPr>
          <a:xfrm>
            <a:off x="969264" y="1268730"/>
            <a:ext cx="7680960" cy="292608"/>
          </a:xfrm>
          <a:prstGeom prst="rect">
            <a:avLst/>
          </a:prstGeom>
          <a:noFill/>
          <a:ln/>
        </p:spPr>
        <p:txBody>
          <a:bodyPr wrap="square" lIns="0" tIns="0" rIns="0" bIns="0" rtlCol="0" anchor="ctr"/>
          <a:lstStyle/>
          <a:p>
            <a:r>
              <a:rPr lang="en-US" sz="1100" b="1" kern="0" spc="200" dirty="0">
                <a:solidFill>
                  <a:srgbClr val="1C7293"/>
                </a:solidFill>
                <a:latin typeface="Calibri" pitchFamily="34" charset="0"/>
                <a:ea typeface="Calibri" pitchFamily="34" charset="-122"/>
                <a:cs typeface="Calibri" pitchFamily="34" charset="-120"/>
              </a:rPr>
              <a:t>FDS IN THE SCHEDULING LANDSCAPE</a:t>
            </a:r>
            <a:endParaRPr lang="en-US" sz="1100" dirty="0"/>
          </a:p>
        </p:txBody>
      </p:sp>
      <p:sp>
        <p:nvSpPr>
          <p:cNvPr id="5" name="Text 3"/>
          <p:cNvSpPr/>
          <p:nvPr/>
        </p:nvSpPr>
        <p:spPr>
          <a:xfrm>
            <a:off x="457200" y="1698498"/>
            <a:ext cx="8229600" cy="566928"/>
          </a:xfrm>
          <a:prstGeom prst="rect">
            <a:avLst/>
          </a:prstGeom>
          <a:noFill/>
          <a:ln/>
        </p:spPr>
        <p:txBody>
          <a:bodyPr wrap="square" lIns="0" tIns="0" rIns="0" bIns="0" rtlCol="0" anchor="ctr"/>
          <a:lstStyle/>
          <a:p>
            <a:r>
              <a:rPr lang="en-US" sz="2700" b="1" dirty="0">
                <a:solidFill>
                  <a:srgbClr val="12273F"/>
                </a:solidFill>
                <a:latin typeface="Cambria" pitchFamily="34" charset="0"/>
                <a:ea typeface="Cambria" pitchFamily="34" charset="-122"/>
                <a:cs typeface="Cambria" pitchFamily="34" charset="-120"/>
              </a:rPr>
              <a:t>Four methods, three tradeoff axes</a:t>
            </a:r>
            <a:endParaRPr lang="en-US" sz="2700" dirty="0"/>
          </a:p>
        </p:txBody>
      </p:sp>
      <p:graphicFrame>
        <p:nvGraphicFramePr>
          <p:cNvPr id="12" name="Table 0"/>
          <p:cNvGraphicFramePr>
            <a:graphicFrameLocks noGrp="1"/>
          </p:cNvGraphicFramePr>
          <p:nvPr/>
        </p:nvGraphicFramePr>
        <p:xfrm>
          <a:off x="457200" y="2548890"/>
          <a:ext cx="8229600" cy="2578608"/>
        </p:xfrm>
        <a:graphic>
          <a:graphicData uri="http://schemas.openxmlformats.org/drawingml/2006/table">
            <a:tbl>
              <a:tblPr/>
              <a:tblGrid>
                <a:gridCol w="1554480">
                  <a:extLst>
                    <a:ext uri="{9D8B030D-6E8A-4147-A177-3AD203B41FA5}">
                      <a16:colId xmlns:a16="http://schemas.microsoft.com/office/drawing/2014/main" val="20000"/>
                    </a:ext>
                  </a:extLst>
                </a:gridCol>
                <a:gridCol w="242316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50876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tblGrid>
              <a:tr h="457200">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Method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2273F"/>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Problem solved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2273F"/>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Optimality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2273F"/>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Decision scope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2273F"/>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Cost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2273F"/>
                    </a:solidFill>
                  </a:tcPr>
                </a:tc>
                <a:extLst>
                  <a:ext uri="{0D108BD9-81ED-4DB2-BD59-A6C34878D82A}">
                    <a16:rowId xmlns:a16="http://schemas.microsoft.com/office/drawing/2014/main" val="10000"/>
                  </a:ext>
                </a:extLst>
              </a:tr>
              <a:tr h="530352">
                <a:tc>
                  <a:txBody>
                    <a:bodyPr/>
                    <a:lstStyle/>
                    <a:p>
                      <a:pPr marL="0" indent="0">
                        <a:buNone/>
                      </a:pPr>
                      <a:r>
                        <a:rPr lang="en-US" sz="1150" b="1" dirty="0">
                          <a:solidFill>
                            <a:srgbClr val="1E293B"/>
                          </a:solidFill>
                          <a:latin typeface="Calibri" pitchFamily="34" charset="0"/>
                          <a:ea typeface="Calibri" pitchFamily="34" charset="-122"/>
                          <a:cs typeface="Calibri" pitchFamily="34" charset="-120"/>
                        </a:rPr>
                        <a:t>ASAP / ALAP</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1E293B"/>
                          </a:solidFill>
                          <a:latin typeface="Calibri" pitchFamily="34" charset="0"/>
                          <a:ea typeface="Calibri" pitchFamily="34" charset="-122"/>
                          <a:cs typeface="Calibri" pitchFamily="34" charset="-120"/>
                        </a:rPr>
                        <a:t>Unconstrained, min latency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1E293B"/>
                          </a:solidFill>
                          <a:latin typeface="Calibri" pitchFamily="34" charset="0"/>
                          <a:ea typeface="Calibri" pitchFamily="34" charset="-122"/>
                          <a:cs typeface="Calibri" pitchFamily="34" charset="-120"/>
                        </a:rPr>
                        <a:t>Bounds only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1E293B"/>
                          </a:solidFill>
                          <a:latin typeface="Calibri" pitchFamily="34" charset="0"/>
                          <a:ea typeface="Calibri" pitchFamily="34" charset="-122"/>
                          <a:cs typeface="Calibri" pitchFamily="34" charset="-120"/>
                        </a:rPr>
                        <a:t>Per operation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1E293B"/>
                          </a:solidFill>
                          <a:latin typeface="Calibri" pitchFamily="34" charset="0"/>
                          <a:ea typeface="Calibri" pitchFamily="34" charset="-122"/>
                          <a:cs typeface="Calibri" pitchFamily="34" charset="-120"/>
                        </a:rPr>
                        <a:t>Very low</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0352">
                <a:tc>
                  <a:txBody>
                    <a:bodyPr/>
                    <a:lstStyle/>
                    <a:p>
                      <a:pPr marL="0" indent="0">
                        <a:buNone/>
                      </a:pPr>
                      <a:r>
                        <a:rPr lang="en-US" sz="1150" b="1" dirty="0">
                          <a:solidFill>
                            <a:srgbClr val="1E293B"/>
                          </a:solidFill>
                          <a:latin typeface="Calibri" pitchFamily="34" charset="0"/>
                          <a:ea typeface="Calibri" pitchFamily="34" charset="-122"/>
                          <a:cs typeface="Calibri" pitchFamily="34" charset="-120"/>
                        </a:rPr>
                        <a:t>List scheduling</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1150" dirty="0">
                          <a:solidFill>
                            <a:srgbClr val="1E293B"/>
                          </a:solidFill>
                          <a:latin typeface="Calibri" pitchFamily="34" charset="0"/>
                          <a:ea typeface="Calibri" pitchFamily="34" charset="-122"/>
                          <a:cs typeface="Calibri" pitchFamily="34" charset="-120"/>
                        </a:rPr>
                        <a:t>Resource-constr., min latency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1150" dirty="0">
                          <a:solidFill>
                            <a:srgbClr val="1E293B"/>
                          </a:solidFill>
                          <a:latin typeface="Calibri" pitchFamily="34" charset="0"/>
                          <a:ea typeface="Calibri" pitchFamily="34" charset="-122"/>
                          <a:cs typeface="Calibri" pitchFamily="34" charset="-120"/>
                        </a:rPr>
                        <a:t>Heuristic, greedy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1150" dirty="0">
                          <a:solidFill>
                            <a:srgbClr val="1E293B"/>
                          </a:solidFill>
                          <a:latin typeface="Calibri" pitchFamily="34" charset="0"/>
                          <a:ea typeface="Calibri" pitchFamily="34" charset="-122"/>
                          <a:cs typeface="Calibri" pitchFamily="34" charset="-120"/>
                        </a:rPr>
                        <a:t>Local, one step</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c>
                  <a:txBody>
                    <a:bodyPr/>
                    <a:lstStyle/>
                    <a:p>
                      <a:pPr marL="0" indent="0">
                        <a:buNone/>
                      </a:pPr>
                      <a:r>
                        <a:rPr lang="en-US" sz="1150" dirty="0">
                          <a:solidFill>
                            <a:srgbClr val="1E293B"/>
                          </a:solidFill>
                          <a:latin typeface="Calibri" pitchFamily="34" charset="0"/>
                          <a:ea typeface="Calibri" pitchFamily="34" charset="-122"/>
                          <a:cs typeface="Calibri" pitchFamily="34" charset="-120"/>
                        </a:rPr>
                        <a:t>Low</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extLst>
                  <a:ext uri="{0D108BD9-81ED-4DB2-BD59-A6C34878D82A}">
                    <a16:rowId xmlns:a16="http://schemas.microsoft.com/office/drawing/2014/main" val="10002"/>
                  </a:ext>
                </a:extLst>
              </a:tr>
              <a:tr h="530352">
                <a:tc>
                  <a:txBody>
                    <a:bodyPr/>
                    <a:lstStyle/>
                    <a:p>
                      <a:pPr marL="0" indent="0">
                        <a:buNone/>
                      </a:pPr>
                      <a:r>
                        <a:rPr lang="en-US" sz="1150" b="1" dirty="0">
                          <a:solidFill>
                            <a:srgbClr val="1E293B"/>
                          </a:solidFill>
                          <a:latin typeface="Calibri" pitchFamily="34" charset="0"/>
                          <a:ea typeface="Calibri" pitchFamily="34" charset="-122"/>
                          <a:cs typeface="Calibri" pitchFamily="34" charset="-120"/>
                        </a:rPr>
                        <a:t>ILP</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1E293B"/>
                          </a:solidFill>
                          <a:latin typeface="Calibri" pitchFamily="34" charset="0"/>
                          <a:ea typeface="Calibri" pitchFamily="34" charset="-122"/>
                          <a:cs typeface="Calibri" pitchFamily="34" charset="-120"/>
                        </a:rPr>
                        <a:t>Either, exact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1E293B"/>
                          </a:solidFill>
                          <a:latin typeface="Calibri" pitchFamily="34" charset="0"/>
                          <a:ea typeface="Calibri" pitchFamily="34" charset="-122"/>
                          <a:cs typeface="Calibri" pitchFamily="34" charset="-120"/>
                        </a:rPr>
                        <a:t>Optimal</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1E293B"/>
                          </a:solidFill>
                          <a:latin typeface="Calibri" pitchFamily="34" charset="0"/>
                          <a:ea typeface="Calibri" pitchFamily="34" charset="-122"/>
                          <a:cs typeface="Calibri" pitchFamily="34" charset="-120"/>
                        </a:rPr>
                        <a:t>Global, exhaustive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1E293B"/>
                          </a:solidFill>
                          <a:latin typeface="Calibri" pitchFamily="34" charset="0"/>
                          <a:ea typeface="Calibri" pitchFamily="34" charset="-122"/>
                          <a:cs typeface="Calibri" pitchFamily="34" charset="-120"/>
                        </a:rPr>
                        <a:t>Very high (exp.)</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30352">
                <a:tc>
                  <a:txBody>
                    <a:bodyPr/>
                    <a:lstStyle/>
                    <a:p>
                      <a:pPr marL="0" indent="0">
                        <a:buNone/>
                      </a:pPr>
                      <a:r>
                        <a:rPr lang="en-US" sz="1150" b="1" dirty="0">
                          <a:solidFill>
                            <a:srgbClr val="1E293B"/>
                          </a:solidFill>
                          <a:latin typeface="Calibri" pitchFamily="34" charset="0"/>
                          <a:ea typeface="Calibri" pitchFamily="34" charset="-122"/>
                          <a:cs typeface="Calibri" pitchFamily="34" charset="-120"/>
                        </a:rPr>
                        <a:t>Force-directed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BEADC"/>
                    </a:solidFill>
                  </a:tcPr>
                </a:tc>
                <a:tc>
                  <a:txBody>
                    <a:bodyPr/>
                    <a:lstStyle/>
                    <a:p>
                      <a:pPr marL="0" indent="0">
                        <a:buNone/>
                      </a:pPr>
                      <a:r>
                        <a:rPr lang="en-US" sz="1150" dirty="0">
                          <a:solidFill>
                            <a:srgbClr val="1E293B"/>
                          </a:solidFill>
                          <a:latin typeface="Calibri" pitchFamily="34" charset="0"/>
                          <a:ea typeface="Calibri" pitchFamily="34" charset="-122"/>
                          <a:cs typeface="Calibri" pitchFamily="34" charset="-120"/>
                        </a:rPr>
                        <a:t>Time-constr., min resources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BEADC"/>
                    </a:solidFill>
                  </a:tcPr>
                </a:tc>
                <a:tc>
                  <a:txBody>
                    <a:bodyPr/>
                    <a:lstStyle/>
                    <a:p>
                      <a:pPr marL="0" indent="0">
                        <a:buNone/>
                      </a:pPr>
                      <a:r>
                        <a:rPr lang="en-US" sz="1150" dirty="0">
                          <a:solidFill>
                            <a:srgbClr val="1E293B"/>
                          </a:solidFill>
                          <a:latin typeface="Calibri" pitchFamily="34" charset="0"/>
                          <a:ea typeface="Calibri" pitchFamily="34" charset="-122"/>
                          <a:cs typeface="Calibri" pitchFamily="34" charset="-120"/>
                        </a:rPr>
                        <a:t>Heuristic, near-optimal</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BEADC"/>
                    </a:solidFill>
                  </a:tcPr>
                </a:tc>
                <a:tc>
                  <a:txBody>
                    <a:bodyPr/>
                    <a:lstStyle/>
                    <a:p>
                      <a:pPr marL="0" indent="0">
                        <a:buNone/>
                      </a:pPr>
                      <a:r>
                        <a:rPr lang="en-US" sz="1150" dirty="0">
                          <a:solidFill>
                            <a:srgbClr val="1E293B"/>
                          </a:solidFill>
                          <a:latin typeface="Calibri" pitchFamily="34" charset="0"/>
                          <a:ea typeface="Calibri" pitchFamily="34" charset="-122"/>
                          <a:cs typeface="Calibri" pitchFamily="34" charset="-120"/>
                        </a:rPr>
                        <a:t>Global balancing</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BEADC"/>
                    </a:solidFill>
                  </a:tcPr>
                </a:tc>
                <a:tc>
                  <a:txBody>
                    <a:bodyPr/>
                    <a:lstStyle/>
                    <a:p>
                      <a:pPr marL="0" indent="0">
                        <a:buNone/>
                      </a:pPr>
                      <a:r>
                        <a:rPr lang="en-US" sz="1150" dirty="0">
                          <a:solidFill>
                            <a:srgbClr val="1E293B"/>
                          </a:solidFill>
                          <a:latin typeface="Calibri" pitchFamily="34" charset="0"/>
                          <a:ea typeface="Calibri" pitchFamily="34" charset="-122"/>
                          <a:cs typeface="Calibri" pitchFamily="34" charset="-120"/>
                        </a:rPr>
                        <a:t>Moderate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BEADC"/>
                    </a:solidFill>
                  </a:tcPr>
                </a:tc>
                <a:extLst>
                  <a:ext uri="{0D108BD9-81ED-4DB2-BD59-A6C34878D82A}">
                    <a16:rowId xmlns:a16="http://schemas.microsoft.com/office/drawing/2014/main" val="10004"/>
                  </a:ext>
                </a:extLst>
              </a:tr>
            </a:tbl>
          </a:graphicData>
        </a:graphic>
      </p:graphicFrame>
      <p:sp>
        <p:nvSpPr>
          <p:cNvPr id="7" name="Text 4"/>
          <p:cNvSpPr/>
          <p:nvPr/>
        </p:nvSpPr>
        <p:spPr>
          <a:xfrm>
            <a:off x="457200" y="5356098"/>
            <a:ext cx="8229600" cy="548640"/>
          </a:xfrm>
          <a:prstGeom prst="rect">
            <a:avLst/>
          </a:prstGeom>
          <a:noFill/>
          <a:ln/>
        </p:spPr>
        <p:txBody>
          <a:bodyPr wrap="square" lIns="0" tIns="0" rIns="0" bIns="0" rtlCol="0" anchor="ctr"/>
          <a:lstStyle/>
          <a:p>
            <a:pPr>
              <a:lnSpc>
                <a:spcPct val="105000"/>
              </a:lnSpc>
            </a:pPr>
            <a:r>
              <a:rPr lang="en-US" sz="1300" b="1" dirty="0">
                <a:solidFill>
                  <a:srgbClr val="E8833A"/>
                </a:solidFill>
                <a:latin typeface="Calibri" pitchFamily="34" charset="0"/>
                <a:ea typeface="Calibri" pitchFamily="34" charset="-122"/>
                <a:cs typeface="Calibri" pitchFamily="34" charset="-120"/>
              </a:rPr>
              <a:t>Why FDS:  </a:t>
            </a:r>
            <a:r>
              <a:rPr lang="en-US" sz="1300" dirty="0">
                <a:solidFill>
                  <a:srgbClr val="1E293B"/>
                </a:solidFill>
                <a:latin typeface="Calibri" pitchFamily="34" charset="0"/>
                <a:ea typeface="Calibri" pitchFamily="34" charset="-122"/>
                <a:cs typeface="Calibri" pitchFamily="34" charset="-120"/>
              </a:rPr>
              <a:t>when latency is fixed, resources are precious, and the graph is too large for ILP yet large enough that greedy peaks hurt.</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457200" y="1241298"/>
            <a:ext cx="402336" cy="402336"/>
          </a:xfrm>
          <a:prstGeom prst="ellipse">
            <a:avLst/>
          </a:prstGeom>
          <a:solidFill>
            <a:srgbClr val="1C7293"/>
          </a:solidFill>
          <a:ln/>
        </p:spPr>
        <p:txBody>
          <a:bodyPr/>
          <a:lstStyle/>
          <a:p>
            <a:endParaRPr lang="de-DE"/>
          </a:p>
        </p:txBody>
      </p:sp>
      <p:sp>
        <p:nvSpPr>
          <p:cNvPr id="3" name="Text 1"/>
          <p:cNvSpPr/>
          <p:nvPr/>
        </p:nvSpPr>
        <p:spPr>
          <a:xfrm>
            <a:off x="457200" y="1241298"/>
            <a:ext cx="402336" cy="402336"/>
          </a:xfrm>
          <a:prstGeom prst="rect">
            <a:avLst/>
          </a:prstGeom>
          <a:noFill/>
          <a:ln/>
        </p:spPr>
        <p:txBody>
          <a:bodyPr wrap="square" lIns="0" tIns="0" rIns="0" bIns="0" rtlCol="0" anchor="ctr"/>
          <a:lstStyle/>
          <a:p>
            <a:pPr algn="ctr"/>
            <a:r>
              <a:rPr lang="en-US" b="1" dirty="0">
                <a:solidFill>
                  <a:srgbClr val="FFFFFF"/>
                </a:solidFill>
                <a:latin typeface="Calibri" pitchFamily="34" charset="0"/>
                <a:ea typeface="Calibri" pitchFamily="34" charset="-122"/>
                <a:cs typeface="Calibri" pitchFamily="34" charset="-120"/>
              </a:rPr>
              <a:t>11</a:t>
            </a:r>
            <a:endParaRPr lang="en-US" dirty="0"/>
          </a:p>
        </p:txBody>
      </p:sp>
      <p:sp>
        <p:nvSpPr>
          <p:cNvPr id="4" name="Text 2"/>
          <p:cNvSpPr/>
          <p:nvPr/>
        </p:nvSpPr>
        <p:spPr>
          <a:xfrm>
            <a:off x="969264" y="1268730"/>
            <a:ext cx="7680960" cy="292608"/>
          </a:xfrm>
          <a:prstGeom prst="rect">
            <a:avLst/>
          </a:prstGeom>
          <a:noFill/>
          <a:ln/>
        </p:spPr>
        <p:txBody>
          <a:bodyPr wrap="square" lIns="0" tIns="0" rIns="0" bIns="0" rtlCol="0" anchor="ctr"/>
          <a:lstStyle/>
          <a:p>
            <a:r>
              <a:rPr lang="en-US" sz="1100" b="1" kern="0" spc="200" dirty="0">
                <a:solidFill>
                  <a:srgbClr val="1C7293"/>
                </a:solidFill>
                <a:latin typeface="Calibri" pitchFamily="34" charset="0"/>
                <a:ea typeface="Calibri" pitchFamily="34" charset="-122"/>
                <a:cs typeface="Calibri" pitchFamily="34" charset="-120"/>
              </a:rPr>
              <a:t>CRITICAL EVALUATION</a:t>
            </a:r>
            <a:endParaRPr lang="en-US" sz="1100" dirty="0"/>
          </a:p>
        </p:txBody>
      </p:sp>
      <p:sp>
        <p:nvSpPr>
          <p:cNvPr id="5" name="Text 3"/>
          <p:cNvSpPr/>
          <p:nvPr/>
        </p:nvSpPr>
        <p:spPr>
          <a:xfrm>
            <a:off x="457200" y="1698498"/>
            <a:ext cx="8229600" cy="566928"/>
          </a:xfrm>
          <a:prstGeom prst="rect">
            <a:avLst/>
          </a:prstGeom>
          <a:noFill/>
          <a:ln/>
        </p:spPr>
        <p:txBody>
          <a:bodyPr wrap="square" lIns="0" tIns="0" rIns="0" bIns="0" rtlCol="0" anchor="ctr"/>
          <a:lstStyle/>
          <a:p>
            <a:r>
              <a:rPr lang="en-US" sz="2700" b="1" dirty="0">
                <a:solidFill>
                  <a:srgbClr val="12273F"/>
                </a:solidFill>
                <a:latin typeface="Cambria" pitchFamily="34" charset="0"/>
                <a:ea typeface="Cambria" pitchFamily="34" charset="-122"/>
                <a:cs typeface="Cambria" pitchFamily="34" charset="-120"/>
              </a:rPr>
              <a:t>Strengths, limits, fit, and an extension</a:t>
            </a:r>
            <a:endParaRPr lang="en-US" sz="2700" dirty="0"/>
          </a:p>
        </p:txBody>
      </p:sp>
      <p:sp>
        <p:nvSpPr>
          <p:cNvPr id="6" name="Shape 4"/>
          <p:cNvSpPr/>
          <p:nvPr/>
        </p:nvSpPr>
        <p:spPr>
          <a:xfrm>
            <a:off x="502920" y="2548890"/>
            <a:ext cx="3931920" cy="1481328"/>
          </a:xfrm>
          <a:prstGeom prst="roundRect">
            <a:avLst>
              <a:gd name="adj" fmla="val 4321"/>
            </a:avLst>
          </a:prstGeom>
          <a:solidFill>
            <a:srgbClr val="FFFFFF"/>
          </a:solidFill>
          <a:ln w="12700">
            <a:solidFill>
              <a:srgbClr val="CBD5E1"/>
            </a:solidFill>
            <a:prstDash val="solid"/>
          </a:ln>
          <a:effectLst>
            <a:outerShdw blurRad="114300" dist="38100" dir="5400000" algn="bl" rotWithShape="0">
              <a:srgbClr val="94A3B8">
                <a:alpha val="30000"/>
              </a:srgbClr>
            </a:outerShdw>
          </a:effectLst>
        </p:spPr>
        <p:txBody>
          <a:bodyPr/>
          <a:lstStyle/>
          <a:p>
            <a:endParaRPr lang="de-DE"/>
          </a:p>
        </p:txBody>
      </p:sp>
      <p:pic>
        <p:nvPicPr>
          <p:cNvPr id="7" name="Image 0" descr="preencoded.png"/>
          <p:cNvPicPr>
            <a:picLocks noChangeAspect="1"/>
          </p:cNvPicPr>
          <p:nvPr/>
        </p:nvPicPr>
        <p:blipFill>
          <a:blip r:embed="rId3"/>
          <a:stretch>
            <a:fillRect/>
          </a:stretch>
        </p:blipFill>
        <p:spPr>
          <a:xfrm>
            <a:off x="667512" y="2713482"/>
            <a:ext cx="310896" cy="310896"/>
          </a:xfrm>
          <a:prstGeom prst="rect">
            <a:avLst/>
          </a:prstGeom>
        </p:spPr>
      </p:pic>
      <p:sp>
        <p:nvSpPr>
          <p:cNvPr id="8" name="Text 5"/>
          <p:cNvSpPr/>
          <p:nvPr/>
        </p:nvSpPr>
        <p:spPr>
          <a:xfrm>
            <a:off x="1069848" y="2695194"/>
            <a:ext cx="3246120" cy="347472"/>
          </a:xfrm>
          <a:prstGeom prst="rect">
            <a:avLst/>
          </a:prstGeom>
          <a:noFill/>
          <a:ln/>
        </p:spPr>
        <p:txBody>
          <a:bodyPr wrap="square" lIns="0" tIns="0" rIns="0" bIns="0" rtlCol="0" anchor="ctr"/>
          <a:lstStyle/>
          <a:p>
            <a:r>
              <a:rPr lang="en-US" sz="1450" b="1" dirty="0">
                <a:solidFill>
                  <a:srgbClr val="1C7293"/>
                </a:solidFill>
                <a:latin typeface="Calibri" pitchFamily="34" charset="0"/>
                <a:ea typeface="Calibri" pitchFamily="34" charset="-122"/>
                <a:cs typeface="Calibri" pitchFamily="34" charset="-120"/>
              </a:rPr>
              <a:t>Strengths</a:t>
            </a:r>
            <a:endParaRPr lang="en-US" sz="1450" dirty="0"/>
          </a:p>
        </p:txBody>
      </p:sp>
      <p:sp>
        <p:nvSpPr>
          <p:cNvPr id="9" name="Text 6"/>
          <p:cNvSpPr/>
          <p:nvPr/>
        </p:nvSpPr>
        <p:spPr>
          <a:xfrm>
            <a:off x="704088" y="3079242"/>
            <a:ext cx="3566160" cy="868680"/>
          </a:xfrm>
          <a:prstGeom prst="rect">
            <a:avLst/>
          </a:prstGeom>
          <a:noFill/>
          <a:ln/>
        </p:spPr>
        <p:txBody>
          <a:bodyPr wrap="square" lIns="0" tIns="0" rIns="0" bIns="0" rtlCol="0" anchor="t"/>
          <a:lstStyle/>
          <a:p>
            <a:pPr marL="152400" indent="-152400">
              <a:spcAft>
                <a:spcPts val="200"/>
              </a:spcAft>
              <a:buSzPct val="100000"/>
              <a:buChar char="•"/>
            </a:pPr>
            <a:r>
              <a:rPr lang="en-US" sz="1150" dirty="0">
                <a:solidFill>
                  <a:srgbClr val="1E293B"/>
                </a:solidFill>
                <a:latin typeface="Calibri" pitchFamily="34" charset="0"/>
                <a:ea typeface="Calibri" pitchFamily="34" charset="-122"/>
                <a:cs typeface="Calibri" pitchFamily="34" charset="-120"/>
              </a:rPr>
              <a:t>Principled, instance-specific cost; global view</a:t>
            </a:r>
            <a:endParaRPr lang="en-US" sz="1150" dirty="0"/>
          </a:p>
          <a:p>
            <a:pPr marL="152400" indent="-152400">
              <a:spcAft>
                <a:spcPts val="200"/>
              </a:spcAft>
              <a:buSzPct val="100000"/>
              <a:buChar char="•"/>
            </a:pPr>
            <a:r>
              <a:rPr lang="en-US" sz="1150" dirty="0">
                <a:solidFill>
                  <a:srgbClr val="1E293B"/>
                </a:solidFill>
                <a:latin typeface="Calibri" pitchFamily="34" charset="0"/>
                <a:ea typeface="Calibri" pitchFamily="34" charset="-122"/>
                <a:cs typeface="Calibri" pitchFamily="34" charset="-120"/>
              </a:rPr>
              <a:t>Extensible &amp; polynomial-time</a:t>
            </a:r>
            <a:endParaRPr lang="en-US" sz="1150" dirty="0"/>
          </a:p>
        </p:txBody>
      </p:sp>
      <p:sp>
        <p:nvSpPr>
          <p:cNvPr id="10" name="Shape 7"/>
          <p:cNvSpPr/>
          <p:nvPr/>
        </p:nvSpPr>
        <p:spPr>
          <a:xfrm>
            <a:off x="4709160" y="2548890"/>
            <a:ext cx="3931920" cy="1481328"/>
          </a:xfrm>
          <a:prstGeom prst="roundRect">
            <a:avLst>
              <a:gd name="adj" fmla="val 4321"/>
            </a:avLst>
          </a:prstGeom>
          <a:solidFill>
            <a:srgbClr val="FFFFFF"/>
          </a:solidFill>
          <a:ln w="12700">
            <a:solidFill>
              <a:srgbClr val="CBD5E1"/>
            </a:solidFill>
            <a:prstDash val="solid"/>
          </a:ln>
          <a:effectLst>
            <a:outerShdw blurRad="114300" dist="38100" dir="5400000" algn="bl" rotWithShape="0">
              <a:srgbClr val="94A3B8">
                <a:alpha val="30000"/>
              </a:srgbClr>
            </a:outerShdw>
          </a:effectLst>
        </p:spPr>
        <p:txBody>
          <a:bodyPr/>
          <a:lstStyle/>
          <a:p>
            <a:endParaRPr lang="de-DE"/>
          </a:p>
        </p:txBody>
      </p:sp>
      <p:pic>
        <p:nvPicPr>
          <p:cNvPr id="11" name="Image 1" descr="preencoded.png"/>
          <p:cNvPicPr>
            <a:picLocks noChangeAspect="1"/>
          </p:cNvPicPr>
          <p:nvPr/>
        </p:nvPicPr>
        <p:blipFill>
          <a:blip r:embed="rId4"/>
          <a:stretch>
            <a:fillRect/>
          </a:stretch>
        </p:blipFill>
        <p:spPr>
          <a:xfrm>
            <a:off x="4873752" y="2713482"/>
            <a:ext cx="310896" cy="310896"/>
          </a:xfrm>
          <a:prstGeom prst="rect">
            <a:avLst/>
          </a:prstGeom>
        </p:spPr>
      </p:pic>
      <p:sp>
        <p:nvSpPr>
          <p:cNvPr id="12" name="Text 8"/>
          <p:cNvSpPr/>
          <p:nvPr/>
        </p:nvSpPr>
        <p:spPr>
          <a:xfrm>
            <a:off x="5276088" y="2695194"/>
            <a:ext cx="3246120" cy="347472"/>
          </a:xfrm>
          <a:prstGeom prst="rect">
            <a:avLst/>
          </a:prstGeom>
          <a:noFill/>
          <a:ln/>
        </p:spPr>
        <p:txBody>
          <a:bodyPr wrap="square" lIns="0" tIns="0" rIns="0" bIns="0" rtlCol="0" anchor="ctr"/>
          <a:lstStyle/>
          <a:p>
            <a:r>
              <a:rPr lang="en-US" sz="1450" b="1" dirty="0">
                <a:solidFill>
                  <a:srgbClr val="E8833A"/>
                </a:solidFill>
                <a:latin typeface="Calibri" pitchFamily="34" charset="0"/>
                <a:ea typeface="Calibri" pitchFamily="34" charset="-122"/>
                <a:cs typeface="Calibri" pitchFamily="34" charset="-120"/>
              </a:rPr>
              <a:t>Limitations</a:t>
            </a:r>
            <a:endParaRPr lang="en-US" sz="1450" dirty="0"/>
          </a:p>
        </p:txBody>
      </p:sp>
      <p:sp>
        <p:nvSpPr>
          <p:cNvPr id="13" name="Text 9"/>
          <p:cNvSpPr/>
          <p:nvPr/>
        </p:nvSpPr>
        <p:spPr>
          <a:xfrm>
            <a:off x="4910328" y="3079242"/>
            <a:ext cx="3566160" cy="868680"/>
          </a:xfrm>
          <a:prstGeom prst="rect">
            <a:avLst/>
          </a:prstGeom>
          <a:noFill/>
          <a:ln/>
        </p:spPr>
        <p:txBody>
          <a:bodyPr wrap="square" lIns="0" tIns="0" rIns="0" bIns="0" rtlCol="0" anchor="t"/>
          <a:lstStyle/>
          <a:p>
            <a:pPr marL="152400" indent="-152400">
              <a:spcAft>
                <a:spcPts val="200"/>
              </a:spcAft>
              <a:buSzPct val="100000"/>
              <a:buChar char="•"/>
            </a:pPr>
            <a:r>
              <a:rPr lang="en-US" sz="1150" dirty="0">
                <a:solidFill>
                  <a:srgbClr val="1E293B"/>
                </a:solidFill>
                <a:latin typeface="Calibri" pitchFamily="34" charset="0"/>
                <a:ea typeface="Calibri" pitchFamily="34" charset="-122"/>
                <a:cs typeface="Calibri" pitchFamily="34" charset="-120"/>
              </a:rPr>
              <a:t>Per-decision recomputation; greedy, no backtracking</a:t>
            </a:r>
            <a:endParaRPr lang="en-US" sz="1150" dirty="0"/>
          </a:p>
          <a:p>
            <a:pPr marL="152400" indent="-152400">
              <a:spcAft>
                <a:spcPts val="200"/>
              </a:spcAft>
              <a:buSzPct val="100000"/>
              <a:buChar char="•"/>
            </a:pPr>
            <a:r>
              <a:rPr lang="en-US" sz="1150" dirty="0">
                <a:solidFill>
                  <a:srgbClr val="1E293B"/>
                </a:solidFill>
                <a:latin typeface="Calibri" pitchFamily="34" charset="0"/>
                <a:ea typeface="Calibri" pitchFamily="34" charset="-122"/>
                <a:cs typeface="Calibri" pitchFamily="34" charset="-120"/>
              </a:rPr>
              <a:t>Uniform-probability &amp; fixed-delay assumptions</a:t>
            </a:r>
            <a:endParaRPr lang="en-US" sz="1150" dirty="0"/>
          </a:p>
        </p:txBody>
      </p:sp>
      <p:sp>
        <p:nvSpPr>
          <p:cNvPr id="14" name="Shape 10"/>
          <p:cNvSpPr/>
          <p:nvPr/>
        </p:nvSpPr>
        <p:spPr>
          <a:xfrm>
            <a:off x="502920" y="4167378"/>
            <a:ext cx="3931920" cy="1481328"/>
          </a:xfrm>
          <a:prstGeom prst="roundRect">
            <a:avLst>
              <a:gd name="adj" fmla="val 4321"/>
            </a:avLst>
          </a:prstGeom>
          <a:solidFill>
            <a:srgbClr val="FFFFFF"/>
          </a:solidFill>
          <a:ln w="12700">
            <a:solidFill>
              <a:srgbClr val="CBD5E1"/>
            </a:solidFill>
            <a:prstDash val="solid"/>
          </a:ln>
          <a:effectLst>
            <a:outerShdw blurRad="114300" dist="38100" dir="5400000" algn="bl" rotWithShape="0">
              <a:srgbClr val="94A3B8">
                <a:alpha val="30000"/>
              </a:srgbClr>
            </a:outerShdw>
          </a:effectLst>
        </p:spPr>
        <p:txBody>
          <a:bodyPr/>
          <a:lstStyle/>
          <a:p>
            <a:endParaRPr lang="de-DE"/>
          </a:p>
        </p:txBody>
      </p:sp>
      <p:pic>
        <p:nvPicPr>
          <p:cNvPr id="15" name="Image 2" descr="preencoded.png"/>
          <p:cNvPicPr>
            <a:picLocks noChangeAspect="1"/>
          </p:cNvPicPr>
          <p:nvPr/>
        </p:nvPicPr>
        <p:blipFill>
          <a:blip r:embed="rId5"/>
          <a:stretch>
            <a:fillRect/>
          </a:stretch>
        </p:blipFill>
        <p:spPr>
          <a:xfrm>
            <a:off x="667512" y="4331970"/>
            <a:ext cx="310896" cy="310896"/>
          </a:xfrm>
          <a:prstGeom prst="rect">
            <a:avLst/>
          </a:prstGeom>
        </p:spPr>
      </p:pic>
      <p:sp>
        <p:nvSpPr>
          <p:cNvPr id="16" name="Text 11"/>
          <p:cNvSpPr/>
          <p:nvPr/>
        </p:nvSpPr>
        <p:spPr>
          <a:xfrm>
            <a:off x="1069848" y="4313682"/>
            <a:ext cx="3246120" cy="347472"/>
          </a:xfrm>
          <a:prstGeom prst="rect">
            <a:avLst/>
          </a:prstGeom>
          <a:noFill/>
          <a:ln/>
        </p:spPr>
        <p:txBody>
          <a:bodyPr wrap="square" lIns="0" tIns="0" rIns="0" bIns="0" rtlCol="0" anchor="ctr"/>
          <a:lstStyle/>
          <a:p>
            <a:r>
              <a:rPr lang="en-US" sz="1450" b="1" dirty="0">
                <a:solidFill>
                  <a:srgbClr val="1C7293"/>
                </a:solidFill>
                <a:latin typeface="Calibri" pitchFamily="34" charset="0"/>
                <a:ea typeface="Calibri" pitchFamily="34" charset="-122"/>
                <a:cs typeface="Calibri" pitchFamily="34" charset="-120"/>
              </a:rPr>
              <a:t>Where it fits</a:t>
            </a:r>
            <a:endParaRPr lang="en-US" sz="1450" dirty="0"/>
          </a:p>
        </p:txBody>
      </p:sp>
      <p:sp>
        <p:nvSpPr>
          <p:cNvPr id="17" name="Text 12"/>
          <p:cNvSpPr/>
          <p:nvPr/>
        </p:nvSpPr>
        <p:spPr>
          <a:xfrm>
            <a:off x="704088" y="4697730"/>
            <a:ext cx="3566160" cy="868680"/>
          </a:xfrm>
          <a:prstGeom prst="rect">
            <a:avLst/>
          </a:prstGeom>
          <a:noFill/>
          <a:ln/>
        </p:spPr>
        <p:txBody>
          <a:bodyPr wrap="square" lIns="0" tIns="0" rIns="0" bIns="0" rtlCol="0" anchor="t"/>
          <a:lstStyle/>
          <a:p>
            <a:pPr marL="152400" indent="-152400">
              <a:spcAft>
                <a:spcPts val="200"/>
              </a:spcAft>
              <a:buSzPct val="100000"/>
              <a:buChar char="•"/>
            </a:pPr>
            <a:r>
              <a:rPr lang="en-US" sz="1150" dirty="0">
                <a:solidFill>
                  <a:srgbClr val="1E293B"/>
                </a:solidFill>
                <a:latin typeface="Calibri" pitchFamily="34" charset="0"/>
                <a:ea typeface="Calibri" pitchFamily="34" charset="-122"/>
                <a:cs typeface="Calibri" pitchFamily="34" charset="-120"/>
              </a:rPr>
              <a:t>Fixed-rate DSP datapaths (FIR/IIR, transforms)</a:t>
            </a:r>
            <a:endParaRPr lang="en-US" sz="1150" dirty="0"/>
          </a:p>
          <a:p>
            <a:pPr marL="152400" indent="-152400">
              <a:spcAft>
                <a:spcPts val="200"/>
              </a:spcAft>
              <a:buSzPct val="100000"/>
              <a:buChar char="•"/>
            </a:pPr>
            <a:r>
              <a:rPr lang="en-US" sz="1150" dirty="0">
                <a:solidFill>
                  <a:srgbClr val="1E293B"/>
                </a:solidFill>
                <a:latin typeface="Calibri" pitchFamily="34" charset="0"/>
                <a:ea typeface="Calibri" pitchFamily="34" charset="-122"/>
                <a:cs typeface="Calibri" pitchFamily="34" charset="-120"/>
              </a:rPr>
              <a:t>Poor for control-dominated / very large graphs</a:t>
            </a:r>
            <a:endParaRPr lang="en-US" sz="1150" dirty="0"/>
          </a:p>
        </p:txBody>
      </p:sp>
      <p:sp>
        <p:nvSpPr>
          <p:cNvPr id="18" name="Shape 13"/>
          <p:cNvSpPr/>
          <p:nvPr/>
        </p:nvSpPr>
        <p:spPr>
          <a:xfrm>
            <a:off x="4709160" y="4167378"/>
            <a:ext cx="3931920" cy="1481328"/>
          </a:xfrm>
          <a:prstGeom prst="roundRect">
            <a:avLst>
              <a:gd name="adj" fmla="val 4321"/>
            </a:avLst>
          </a:prstGeom>
          <a:solidFill>
            <a:srgbClr val="FFFFFF"/>
          </a:solidFill>
          <a:ln w="12700">
            <a:solidFill>
              <a:srgbClr val="CBD5E1"/>
            </a:solidFill>
            <a:prstDash val="solid"/>
          </a:ln>
          <a:effectLst>
            <a:outerShdw blurRad="114300" dist="38100" dir="5400000" algn="bl" rotWithShape="0">
              <a:srgbClr val="94A3B8">
                <a:alpha val="30000"/>
              </a:srgbClr>
            </a:outerShdw>
          </a:effectLst>
        </p:spPr>
        <p:txBody>
          <a:bodyPr/>
          <a:lstStyle/>
          <a:p>
            <a:endParaRPr lang="de-DE"/>
          </a:p>
        </p:txBody>
      </p:sp>
      <p:pic>
        <p:nvPicPr>
          <p:cNvPr id="19" name="Image 3" descr="preencoded.png"/>
          <p:cNvPicPr>
            <a:picLocks noChangeAspect="1"/>
          </p:cNvPicPr>
          <p:nvPr/>
        </p:nvPicPr>
        <p:blipFill>
          <a:blip r:embed="rId6"/>
          <a:stretch>
            <a:fillRect/>
          </a:stretch>
        </p:blipFill>
        <p:spPr>
          <a:xfrm>
            <a:off x="4873752" y="4331970"/>
            <a:ext cx="310896" cy="310896"/>
          </a:xfrm>
          <a:prstGeom prst="rect">
            <a:avLst/>
          </a:prstGeom>
        </p:spPr>
      </p:pic>
      <p:sp>
        <p:nvSpPr>
          <p:cNvPr id="20" name="Text 14"/>
          <p:cNvSpPr/>
          <p:nvPr/>
        </p:nvSpPr>
        <p:spPr>
          <a:xfrm>
            <a:off x="5276088" y="4313682"/>
            <a:ext cx="3246120" cy="347472"/>
          </a:xfrm>
          <a:prstGeom prst="rect">
            <a:avLst/>
          </a:prstGeom>
          <a:noFill/>
          <a:ln/>
        </p:spPr>
        <p:txBody>
          <a:bodyPr wrap="square" lIns="0" tIns="0" rIns="0" bIns="0" rtlCol="0" anchor="ctr"/>
          <a:lstStyle/>
          <a:p>
            <a:r>
              <a:rPr lang="en-US" sz="1450" b="1" dirty="0">
                <a:solidFill>
                  <a:srgbClr val="E8833A"/>
                </a:solidFill>
                <a:latin typeface="Calibri" pitchFamily="34" charset="0"/>
                <a:ea typeface="Calibri" pitchFamily="34" charset="-122"/>
                <a:cs typeface="Calibri" pitchFamily="34" charset="-120"/>
              </a:rPr>
              <a:t>Extension (open)</a:t>
            </a:r>
            <a:endParaRPr lang="en-US" sz="1450" dirty="0"/>
          </a:p>
        </p:txBody>
      </p:sp>
      <p:sp>
        <p:nvSpPr>
          <p:cNvPr id="21" name="Text 15"/>
          <p:cNvSpPr/>
          <p:nvPr/>
        </p:nvSpPr>
        <p:spPr>
          <a:xfrm>
            <a:off x="4910328" y="4697730"/>
            <a:ext cx="3566160" cy="868680"/>
          </a:xfrm>
          <a:prstGeom prst="rect">
            <a:avLst/>
          </a:prstGeom>
          <a:noFill/>
          <a:ln/>
        </p:spPr>
        <p:txBody>
          <a:bodyPr wrap="square" lIns="0" tIns="0" rIns="0" bIns="0" rtlCol="0" anchor="t"/>
          <a:lstStyle/>
          <a:p>
            <a:pPr marL="152400" indent="-152400">
              <a:spcAft>
                <a:spcPts val="200"/>
              </a:spcAft>
              <a:buSzPct val="100000"/>
              <a:buChar char="•"/>
            </a:pPr>
            <a:r>
              <a:rPr lang="en-US" sz="1150" dirty="0">
                <a:solidFill>
                  <a:srgbClr val="1E293B"/>
                </a:solidFill>
                <a:latin typeface="Calibri" pitchFamily="34" charset="0"/>
                <a:ea typeface="Calibri" pitchFamily="34" charset="-122"/>
                <a:cs typeface="Calibri" pitchFamily="34" charset="-120"/>
              </a:rPr>
              <a:t>Force as priority in a list scheduler</a:t>
            </a:r>
            <a:endParaRPr lang="en-US" sz="1150" dirty="0"/>
          </a:p>
          <a:p>
            <a:pPr marL="152400" indent="-152400">
              <a:spcAft>
                <a:spcPts val="200"/>
              </a:spcAft>
              <a:buSzPct val="100000"/>
              <a:buChar char="•"/>
            </a:pPr>
            <a:r>
              <a:rPr lang="en-US" sz="1150" dirty="0">
                <a:solidFill>
                  <a:srgbClr val="1E293B"/>
                </a:solidFill>
                <a:latin typeface="Calibri" pitchFamily="34" charset="0"/>
                <a:ea typeface="Calibri" pitchFamily="34" charset="-122"/>
                <a:cs typeface="Calibri" pitchFamily="34" charset="-120"/>
              </a:rPr>
              <a:t>Conjecture: dependency-aware probability model</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2">
            <a:lumMod val="50000"/>
          </a:schemeClr>
        </a:solidFill>
        <a:effectLst/>
      </p:bgPr>
    </p:bg>
    <p:spTree>
      <p:nvGrpSpPr>
        <p:cNvPr id="1" name=""/>
        <p:cNvGrpSpPr/>
        <p:nvPr/>
      </p:nvGrpSpPr>
      <p:grpSpPr>
        <a:xfrm>
          <a:off x="0" y="0"/>
          <a:ext cx="0" cy="0"/>
          <a:chOff x="0" y="0"/>
          <a:chExt cx="0" cy="0"/>
        </a:xfrm>
      </p:grpSpPr>
      <p:sp>
        <p:nvSpPr>
          <p:cNvPr id="2" name="Text 0"/>
          <p:cNvSpPr/>
          <p:nvPr/>
        </p:nvSpPr>
        <p:spPr>
          <a:xfrm>
            <a:off x="548640" y="1360170"/>
            <a:ext cx="8229600" cy="640080"/>
          </a:xfrm>
          <a:prstGeom prst="rect">
            <a:avLst/>
          </a:prstGeom>
          <a:noFill/>
          <a:ln/>
        </p:spPr>
        <p:txBody>
          <a:bodyPr wrap="square" lIns="0" tIns="0" rIns="0" bIns="0" rtlCol="0" anchor="ctr"/>
          <a:lstStyle/>
          <a:p>
            <a:r>
              <a:rPr lang="en-US" sz="3200" b="1" dirty="0">
                <a:solidFill>
                  <a:srgbClr val="FFFFFF"/>
                </a:solidFill>
                <a:latin typeface="Cambria" pitchFamily="34" charset="0"/>
                <a:ea typeface="Cambria" pitchFamily="34" charset="-122"/>
                <a:cs typeface="Cambria" pitchFamily="34" charset="-120"/>
              </a:rPr>
              <a:t>Conclusion</a:t>
            </a:r>
            <a:endParaRPr lang="en-US" sz="3200" dirty="0"/>
          </a:p>
        </p:txBody>
      </p:sp>
      <p:sp>
        <p:nvSpPr>
          <p:cNvPr id="3" name="Shape 1"/>
          <p:cNvSpPr/>
          <p:nvPr/>
        </p:nvSpPr>
        <p:spPr>
          <a:xfrm>
            <a:off x="548640" y="2320290"/>
            <a:ext cx="8046720" cy="841248"/>
          </a:xfrm>
          <a:prstGeom prst="roundRect">
            <a:avLst>
              <a:gd name="adj" fmla="val 7609"/>
            </a:avLst>
          </a:prstGeom>
          <a:solidFill>
            <a:srgbClr val="1B3A5B"/>
          </a:solidFill>
          <a:ln/>
          <a:effectLst>
            <a:outerShdw blurRad="114300" dist="38100" dir="5400000" algn="bl" rotWithShape="0">
              <a:srgbClr val="94A3B8">
                <a:alpha val="30000"/>
              </a:srgbClr>
            </a:outerShdw>
          </a:effectLst>
        </p:spPr>
        <p:txBody>
          <a:bodyPr/>
          <a:lstStyle/>
          <a:p>
            <a:endParaRPr lang="de-DE"/>
          </a:p>
        </p:txBody>
      </p:sp>
      <p:pic>
        <p:nvPicPr>
          <p:cNvPr id="4" name="Image 0" descr="preencoded.png"/>
          <p:cNvPicPr>
            <a:picLocks noChangeAspect="1"/>
          </p:cNvPicPr>
          <p:nvPr/>
        </p:nvPicPr>
        <p:blipFill>
          <a:blip r:embed="rId3"/>
          <a:stretch>
            <a:fillRect/>
          </a:stretch>
        </p:blipFill>
        <p:spPr>
          <a:xfrm>
            <a:off x="777240" y="2558034"/>
            <a:ext cx="365760" cy="365760"/>
          </a:xfrm>
          <a:prstGeom prst="rect">
            <a:avLst/>
          </a:prstGeom>
        </p:spPr>
      </p:pic>
      <p:sp>
        <p:nvSpPr>
          <p:cNvPr id="5" name="Text 2"/>
          <p:cNvSpPr/>
          <p:nvPr/>
        </p:nvSpPr>
        <p:spPr>
          <a:xfrm>
            <a:off x="1371600" y="2320290"/>
            <a:ext cx="7040880" cy="841248"/>
          </a:xfrm>
          <a:prstGeom prst="rect">
            <a:avLst/>
          </a:prstGeom>
          <a:noFill/>
          <a:ln/>
        </p:spPr>
        <p:txBody>
          <a:bodyPr wrap="square" lIns="0" tIns="0" rIns="0" bIns="0" rtlCol="0" anchor="ctr"/>
          <a:lstStyle/>
          <a:p>
            <a:pPr>
              <a:lnSpc>
                <a:spcPct val="105000"/>
              </a:lnSpc>
            </a:pPr>
            <a:r>
              <a:rPr lang="en-US" sz="1550" b="1" dirty="0">
                <a:solidFill>
                  <a:srgbClr val="FFFFFF"/>
                </a:solidFill>
                <a:latin typeface="Calibri" pitchFamily="34" charset="0"/>
                <a:ea typeface="Calibri" pitchFamily="34" charset="-122"/>
                <a:cs typeface="Calibri" pitchFamily="34" charset="-120"/>
              </a:rPr>
              <a:t>A deliberate middle ground   </a:t>
            </a:r>
            <a:r>
              <a:rPr lang="en-US" sz="1250" dirty="0">
                <a:solidFill>
                  <a:srgbClr val="9FC1D6"/>
                </a:solidFill>
                <a:latin typeface="Calibri" pitchFamily="34" charset="0"/>
                <a:ea typeface="Calibri" pitchFamily="34" charset="-122"/>
                <a:cs typeface="Calibri" pitchFamily="34" charset="-120"/>
              </a:rPr>
              <a:t>Global balancing without the exponential cost of exact search.</a:t>
            </a:r>
            <a:endParaRPr lang="en-US" sz="1550" dirty="0"/>
          </a:p>
        </p:txBody>
      </p:sp>
      <p:sp>
        <p:nvSpPr>
          <p:cNvPr id="6" name="Shape 3"/>
          <p:cNvSpPr/>
          <p:nvPr/>
        </p:nvSpPr>
        <p:spPr>
          <a:xfrm>
            <a:off x="548640" y="3289554"/>
            <a:ext cx="8046720" cy="841248"/>
          </a:xfrm>
          <a:prstGeom prst="roundRect">
            <a:avLst>
              <a:gd name="adj" fmla="val 7609"/>
            </a:avLst>
          </a:prstGeom>
          <a:solidFill>
            <a:srgbClr val="1B3A5B"/>
          </a:solidFill>
          <a:ln/>
          <a:effectLst>
            <a:outerShdw blurRad="114300" dist="38100" dir="5400000" algn="bl" rotWithShape="0">
              <a:srgbClr val="94A3B8">
                <a:alpha val="30000"/>
              </a:srgbClr>
            </a:outerShdw>
          </a:effectLst>
        </p:spPr>
        <p:txBody>
          <a:bodyPr/>
          <a:lstStyle/>
          <a:p>
            <a:endParaRPr lang="de-DE"/>
          </a:p>
        </p:txBody>
      </p:sp>
      <p:pic>
        <p:nvPicPr>
          <p:cNvPr id="7" name="Image 1" descr="preencoded.png"/>
          <p:cNvPicPr>
            <a:picLocks noChangeAspect="1"/>
          </p:cNvPicPr>
          <p:nvPr/>
        </p:nvPicPr>
        <p:blipFill>
          <a:blip r:embed="rId4"/>
          <a:stretch>
            <a:fillRect/>
          </a:stretch>
        </p:blipFill>
        <p:spPr>
          <a:xfrm>
            <a:off x="777240" y="3527298"/>
            <a:ext cx="365760" cy="365760"/>
          </a:xfrm>
          <a:prstGeom prst="rect">
            <a:avLst/>
          </a:prstGeom>
        </p:spPr>
      </p:pic>
      <p:sp>
        <p:nvSpPr>
          <p:cNvPr id="8" name="Text 4"/>
          <p:cNvSpPr/>
          <p:nvPr/>
        </p:nvSpPr>
        <p:spPr>
          <a:xfrm>
            <a:off x="1371600" y="3289554"/>
            <a:ext cx="7040880" cy="841248"/>
          </a:xfrm>
          <a:prstGeom prst="rect">
            <a:avLst/>
          </a:prstGeom>
          <a:noFill/>
          <a:ln/>
        </p:spPr>
        <p:txBody>
          <a:bodyPr wrap="square" lIns="0" tIns="0" rIns="0" bIns="0" rtlCol="0" anchor="ctr"/>
          <a:lstStyle/>
          <a:p>
            <a:pPr>
              <a:lnSpc>
                <a:spcPct val="105000"/>
              </a:lnSpc>
            </a:pPr>
            <a:r>
              <a:rPr lang="en-US" sz="1550" b="1" dirty="0">
                <a:solidFill>
                  <a:srgbClr val="FFFFFF"/>
                </a:solidFill>
                <a:latin typeface="Calibri" pitchFamily="34" charset="0"/>
                <a:ea typeface="Calibri" pitchFamily="34" charset="-122"/>
                <a:cs typeface="Calibri" pitchFamily="34" charset="-120"/>
              </a:rPr>
              <a:t>One idea, carried through   </a:t>
            </a:r>
            <a:r>
              <a:rPr lang="en-US" sz="1250" dirty="0">
                <a:solidFill>
                  <a:srgbClr val="9FC1D6"/>
                </a:solidFill>
                <a:latin typeface="Calibri" pitchFamily="34" charset="0"/>
                <a:ea typeface="Calibri" pitchFamily="34" charset="-122"/>
                <a:cs typeface="Calibri" pitchFamily="34" charset="-120"/>
              </a:rPr>
              <a:t>Treat the distribution graph as springs and flatten the peaks.</a:t>
            </a:r>
            <a:endParaRPr lang="en-US" sz="1550" dirty="0"/>
          </a:p>
        </p:txBody>
      </p:sp>
      <p:sp>
        <p:nvSpPr>
          <p:cNvPr id="9" name="Shape 5"/>
          <p:cNvSpPr/>
          <p:nvPr/>
        </p:nvSpPr>
        <p:spPr>
          <a:xfrm>
            <a:off x="548640" y="4258818"/>
            <a:ext cx="8046720" cy="841248"/>
          </a:xfrm>
          <a:prstGeom prst="roundRect">
            <a:avLst>
              <a:gd name="adj" fmla="val 7609"/>
            </a:avLst>
          </a:prstGeom>
          <a:solidFill>
            <a:srgbClr val="1B3A5B"/>
          </a:solidFill>
          <a:ln/>
          <a:effectLst>
            <a:outerShdw blurRad="114300" dist="38100" dir="5400000" algn="bl" rotWithShape="0">
              <a:srgbClr val="94A3B8">
                <a:alpha val="30000"/>
              </a:srgbClr>
            </a:outerShdw>
          </a:effectLst>
        </p:spPr>
        <p:txBody>
          <a:bodyPr/>
          <a:lstStyle/>
          <a:p>
            <a:endParaRPr lang="de-DE"/>
          </a:p>
        </p:txBody>
      </p:sp>
      <p:pic>
        <p:nvPicPr>
          <p:cNvPr id="10" name="Image 2" descr="preencoded.png"/>
          <p:cNvPicPr>
            <a:picLocks noChangeAspect="1"/>
          </p:cNvPicPr>
          <p:nvPr/>
        </p:nvPicPr>
        <p:blipFill>
          <a:blip r:embed="rId5"/>
          <a:stretch>
            <a:fillRect/>
          </a:stretch>
        </p:blipFill>
        <p:spPr>
          <a:xfrm>
            <a:off x="777240" y="4496562"/>
            <a:ext cx="365760" cy="365760"/>
          </a:xfrm>
          <a:prstGeom prst="rect">
            <a:avLst/>
          </a:prstGeom>
        </p:spPr>
      </p:pic>
      <p:sp>
        <p:nvSpPr>
          <p:cNvPr id="11" name="Text 6"/>
          <p:cNvSpPr/>
          <p:nvPr/>
        </p:nvSpPr>
        <p:spPr>
          <a:xfrm>
            <a:off x="1371600" y="4258818"/>
            <a:ext cx="7040880" cy="841248"/>
          </a:xfrm>
          <a:prstGeom prst="rect">
            <a:avLst/>
          </a:prstGeom>
          <a:noFill/>
          <a:ln/>
        </p:spPr>
        <p:txBody>
          <a:bodyPr wrap="square" lIns="0" tIns="0" rIns="0" bIns="0" rtlCol="0" anchor="ctr"/>
          <a:lstStyle/>
          <a:p>
            <a:pPr>
              <a:lnSpc>
                <a:spcPct val="105000"/>
              </a:lnSpc>
            </a:pPr>
            <a:r>
              <a:rPr lang="en-US" sz="1550" b="1" dirty="0">
                <a:solidFill>
                  <a:srgbClr val="FFFFFF"/>
                </a:solidFill>
                <a:latin typeface="Calibri" pitchFamily="34" charset="0"/>
                <a:ea typeface="Calibri" pitchFamily="34" charset="-122"/>
                <a:cs typeface="Calibri" pitchFamily="34" charset="-120"/>
              </a:rPr>
              <a:t>Real resource savings   </a:t>
            </a:r>
            <a:r>
              <a:rPr lang="en-US" sz="1250" dirty="0">
                <a:solidFill>
                  <a:srgbClr val="9FC1D6"/>
                </a:solidFill>
                <a:latin typeface="Calibri" pitchFamily="34" charset="0"/>
                <a:ea typeface="Calibri" pitchFamily="34" charset="-122"/>
                <a:cs typeface="Calibri" pitchFamily="34" charset="-120"/>
              </a:rPr>
              <a:t>Example: 3 → 1 multiplier at the same latency, realised in VHDL.</a:t>
            </a:r>
            <a:endParaRPr lang="en-US" sz="1550" dirty="0"/>
          </a:p>
        </p:txBody>
      </p:sp>
      <p:sp>
        <p:nvSpPr>
          <p:cNvPr id="12" name="Text 7"/>
          <p:cNvSpPr/>
          <p:nvPr/>
        </p:nvSpPr>
        <p:spPr>
          <a:xfrm>
            <a:off x="548640" y="5447538"/>
            <a:ext cx="8046720" cy="365760"/>
          </a:xfrm>
          <a:prstGeom prst="rect">
            <a:avLst/>
          </a:prstGeom>
          <a:noFill/>
          <a:ln/>
        </p:spPr>
        <p:txBody>
          <a:bodyPr wrap="square" lIns="0" tIns="0" rIns="0" bIns="0" rtlCol="0" anchor="ctr"/>
          <a:lstStyle/>
          <a:p>
            <a:r>
              <a:rPr lang="en-US" sz="1100" i="1" dirty="0">
                <a:solidFill>
                  <a:srgbClr val="7C92AB"/>
                </a:solidFill>
                <a:latin typeface="Calibri" pitchFamily="34" charset="0"/>
                <a:ea typeface="Calibri" pitchFamily="34" charset="-122"/>
                <a:cs typeface="Calibri" pitchFamily="34" charset="-120"/>
              </a:rPr>
              <a:t>Key references: Paulin &amp; Knight, IEEE TCAD 1989 / DAC 1987  ·  De Micheli 1994  ·  Teich 1997</a:t>
            </a:r>
            <a:endParaRPr lang="en-US" sz="1100" dirty="0"/>
          </a:p>
        </p:txBody>
      </p:sp>
    </p:spTree>
  </p:cSld>
  <p:clrMapOvr>
    <a:masterClrMapping/>
  </p:clrMapOvr>
</p:sld>
</file>

<file path=ppt/theme/theme1.xml><?xml version="1.0" encoding="utf-8"?>
<a:theme xmlns:a="http://schemas.openxmlformats.org/drawingml/2006/main" name="1_STANDARD">
  <a:themeElements>
    <a:clrScheme name="STANDARD 1">
      <a:dk1>
        <a:srgbClr val="000000"/>
      </a:dk1>
      <a:lt1>
        <a:srgbClr val="FFFFFF"/>
      </a:lt1>
      <a:dk2>
        <a:srgbClr val="00197D"/>
      </a:dk2>
      <a:lt2>
        <a:srgbClr val="646464"/>
      </a:lt2>
      <a:accent1>
        <a:srgbClr val="0078F0"/>
      </a:accent1>
      <a:accent2>
        <a:srgbClr val="6EAA23"/>
      </a:accent2>
      <a:accent3>
        <a:srgbClr val="FFFFFF"/>
      </a:accent3>
      <a:accent4>
        <a:srgbClr val="000000"/>
      </a:accent4>
      <a:accent5>
        <a:srgbClr val="AABEF6"/>
      </a:accent5>
      <a:accent6>
        <a:srgbClr val="639A1F"/>
      </a:accent6>
      <a:hlink>
        <a:srgbClr val="00197D"/>
      </a:hlink>
      <a:folHlink>
        <a:srgbClr val="FF8700"/>
      </a:folHlink>
    </a:clrScheme>
    <a:fontScheme name="STANDARD">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0" tIns="0" rIns="0" bIns="0" numCol="1" anchor="t" anchorCtr="0" compatLnSpc="1">
        <a:prstTxWarp prst="textNoShape">
          <a:avLst/>
        </a:prstTxWarp>
      </a:bodyPr>
      <a:lstStyle>
        <a:defPPr marL="88900" marR="0" indent="-88900" algn="l" defTabSz="914400" rtl="0" eaLnBrk="1" fontAlgn="base" latinLnBrk="0" hangingPunct="1">
          <a:lnSpc>
            <a:spcPts val="1700"/>
          </a:lnSpc>
          <a:spcBef>
            <a:spcPct val="0"/>
          </a:spcBef>
          <a:spcAft>
            <a:spcPts val="300"/>
          </a:spcAft>
          <a:buClr>
            <a:schemeClr val="tx2"/>
          </a:buClr>
          <a:buSzPct val="70000"/>
          <a:buFont typeface="Arial" pitchFamily="34" charset="0"/>
          <a:buNone/>
          <a:tabLst/>
          <a:defRPr kumimoji="0" lang="de-DE" sz="1600" b="0" i="0" u="none" strike="noStrike" cap="none" normalizeH="0" baseline="0" smtClean="0">
            <a:ln>
              <a:noFill/>
            </a:ln>
            <a:solidFill>
              <a:schemeClr val="bg2"/>
            </a:solidFill>
            <a:effectLst/>
            <a:latin typeface="Arial" pitchFamily="34"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0" tIns="0" rIns="0" bIns="0" numCol="1" anchor="t" anchorCtr="0" compatLnSpc="1">
        <a:prstTxWarp prst="textNoShape">
          <a:avLst/>
        </a:prstTxWarp>
      </a:bodyPr>
      <a:lstStyle>
        <a:defPPr marL="88900" marR="0" indent="-88900" algn="l" defTabSz="914400" rtl="0" eaLnBrk="1" fontAlgn="base" latinLnBrk="0" hangingPunct="1">
          <a:lnSpc>
            <a:spcPts val="1700"/>
          </a:lnSpc>
          <a:spcBef>
            <a:spcPct val="0"/>
          </a:spcBef>
          <a:spcAft>
            <a:spcPts val="300"/>
          </a:spcAft>
          <a:buClr>
            <a:schemeClr val="tx2"/>
          </a:buClr>
          <a:buSzPct val="70000"/>
          <a:buFont typeface="Arial" pitchFamily="34" charset="0"/>
          <a:buNone/>
          <a:tabLst/>
          <a:defRPr kumimoji="0" lang="de-DE" sz="1600" b="0" i="0" u="none" strike="noStrike" cap="none" normalizeH="0" baseline="0" smtClean="0">
            <a:ln>
              <a:noFill/>
            </a:ln>
            <a:solidFill>
              <a:schemeClr val="bg2"/>
            </a:solidFill>
            <a:effectLst/>
            <a:latin typeface="Arial" pitchFamily="34" charset="0"/>
          </a:defRPr>
        </a:defPPr>
      </a:lstStyle>
    </a:lnDef>
  </a:objectDefaults>
  <a:extraClrSchemeLst>
    <a:extraClrScheme>
      <a:clrScheme name="STANDARD 1">
        <a:dk1>
          <a:srgbClr val="000000"/>
        </a:dk1>
        <a:lt1>
          <a:srgbClr val="FFFFFF"/>
        </a:lt1>
        <a:dk2>
          <a:srgbClr val="00197D"/>
        </a:dk2>
        <a:lt2>
          <a:srgbClr val="646464"/>
        </a:lt2>
        <a:accent1>
          <a:srgbClr val="0078F0"/>
        </a:accent1>
        <a:accent2>
          <a:srgbClr val="6EAA23"/>
        </a:accent2>
        <a:accent3>
          <a:srgbClr val="FFFFFF"/>
        </a:accent3>
        <a:accent4>
          <a:srgbClr val="000000"/>
        </a:accent4>
        <a:accent5>
          <a:srgbClr val="AABEF6"/>
        </a:accent5>
        <a:accent6>
          <a:srgbClr val="639A1F"/>
        </a:accent6>
        <a:hlink>
          <a:srgbClr val="00197D"/>
        </a:hlink>
        <a:folHlink>
          <a:srgbClr val="FF87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Larissa-Design">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Larissa-Design">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1796</Words>
  <Application>Microsoft Office PowerPoint</Application>
  <PresentationFormat>On-screen Show (4:3)</PresentationFormat>
  <Paragraphs>244</Paragraphs>
  <Slides>13</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Cambria</vt:lpstr>
      <vt:lpstr>Courier New</vt:lpstr>
      <vt:lpstr>Wingdings 3</vt:lpstr>
      <vt:lpstr>1_STANDARD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HSHL</dc:title>
  <dc:creator>Prof. Dr. Henkler, Stefan</dc:creator>
  <cp:lastModifiedBy>Jubair Salehin</cp:lastModifiedBy>
  <cp:revision>743</cp:revision>
  <cp:lastPrinted>2016-03-22T17:20:48Z</cp:lastPrinted>
  <dcterms:created xsi:type="dcterms:W3CDTF">2008-08-13T11:47:09Z</dcterms:created>
  <dcterms:modified xsi:type="dcterms:W3CDTF">2026-06-14T12:26:39Z</dcterms:modified>
</cp:coreProperties>
</file>